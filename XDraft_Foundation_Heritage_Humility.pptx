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0: WELCOME
• Stand center. Welcome everyone warmly.
• Open with the Serenity Prayer (ask everyone to stand).
• After the prayer, introduce yourself: first name, alcoholic, your home group name, and your service position.
TALKING POINTS:
• "Welcome to the District 22 Mini Conference here at Los Tres Patrillos in Greenville on this beautiful April 4th. We are part of NETA Area 65 — the North East Texas Area — one of 93 Areas in the AA General Service structure."
• "Today's theme is Foundation, Heritage, Humility — three words that capture the essence of what we'll explore together across 14 hours."
• "Foundation — This morning we'll discover why the home group is the bedrock of recovery."
• "Heritage — This afternoon we'll trace our Dallas AA lineage back to a single living room in 1943."
• "Humility — This evening we'll explore how anonymity keeps us spiritually grounded."
• "Everything we're going to explore today comes from AA Conference-approved literature."
• "This isn't a lecture — it's a workshop. I'm going to ask you to participate, share, discuss, and think."
QUICK ENGAGEMENT:
• "By show of hands: How many of you have a home group?" (Pause, acknowledge.)
• "Keep your hands up if you currently hold a service position in your home group." (Note the drop.)
• "The 2022 AA Membership Survey found that 89% of members have a home group. Let's explore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 OPENING &amp; OVERVIEW
Why this title "Survivors of the Same Shipwreck":
• "The title comes directly from page 17 of the Big Book. Let me read it to you:"
• READ SLOWLY: "We are people who normally would not mix. But there exists among us a fellowship, a friendliness, and an understanding which is indescribably wonderful. We are like the passengers of a great liner the moment after rescue from shipwreck when camaraderie, joyousness and democracy pervade the vessel from steerage to Captain's table."
• "Survivors of the Same Shipwreck — that's what we are. Not by choice, but by grace."
READ ALOUD: "Traditionally, most A.A. members through the years have found it important to belong to one group that they call their 'home group.'..." — P-16, page 15
Walk through three themes on screen:
1. History &amp; Origins — Where did the home group concept come from?
2. Spiritual &amp; Practical Benefits — Why does belonging matter?
3. Service &amp; Structure — How does the home group connect us to all of AA?
ACTIVITY: Opening Show of Hands (2 minutes)
• "How many of you have been to your home group's most recent business meeting?"
• "How many of you know who your GSR is?"
• "How many of you know what District 22 does?"
• "By the end of today, you'll understand why all three questions matter."
TRANSITION: "To understand why the home group matters so deeply, we need to go back to the beginning. Not to a committee meeting or a rulebook — but to a living room in Akron, Ohio."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 HISTORICAL EVOLUTION
Setting the Scene:
• "The term 'home group' does NOT appear in the Big Book. It doesn't appear in the Twelve and Twelve. It emerged organically from decades of fellowship practice."
1935–1939: The Smith Home
• "Picture this: 855 Ardmore Avenue, Akron, Ohio. Dr. Bob and Anne Smith's house. This was AA before AA had a name."
• "Meetings included quiet time, prayer, and Bible readings. Anne Smith led morning readings from the Book of James."
• "This was the prototype. Not a church basement with folding chairs — a home. A family."
May 1939: Cleveland
• READ: "Not too much emphasis on spiritual business at meetings. Have discussions after meetings of any business or questions arising. Plenty of fellowship all the time." — Dr. Bob and the Good Oldtimers, p. 167
1940: Akron Manual — earliest 'home group' language
1993–Present: Formal recognition through Grapevine publications
DISCUSSION: "The term 'home group' emerged organically from decades of practice, not from a rule book. What does this tell us about how AA works?"
TRANSITION: "So we know where the concept came from. But what actually makes a home group different from just going to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 WHAT MAKES A HOME GROUP
Key Concept:
• "This is the slide that draws a clear line between ATTENDING meetings and BELONGING to a home group."
READ: "Just as we are members of A.A. if we say we are, so are we members of a group if we say we are." — P-16, page 13
• "No application. No dues. No committee vote. You declare yourself a member. That's Tradition Three."
Three Elements — walk through each card:
1. Accountability: "At your home group, people NOTICE when you're not there. That's not surveillance — that's love."
2. Service: "This is where you learn that making coffee can save your life. Living Sober calls these services 'the sturdy backbone of our recovery.'"
3. Voting: "When you're a home group member, you get to VOTE — on format changes, spending, who your GSR is. Your voice matters."
SCENARIO: "The Floating Member"
• "A member has been sober 5 years. They attend 4–5 nights/week at different locations. They know people everywhere. But no home group. Never voted. Never held a service position. What are they missing?"
TABLE DISCUSSION (3 min): "Which of these three elements — accountability, service, or voting — has been most meaningful in YOUR recovery?"
TRANSITION: "Now that we know what makes a home group special, let's look at what it actually gives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4: BENEFITS OF BELONGING
Emotional Core: "This is the heart of the presentation. These quotes answer: Why does belonging matter?"
READ SLOWLY:
• "THE unity of Alcoholics Anonymous is the most cherished quality our Society has. Our lives, the lives of all to come, depend squarely upon it." — 12&amp;12, p. 129
• "Let that land. Our lives depend on it. Unity isn't a nice idea — it's a survival mechanism."
• READ: "The moment Twelfth Step work forms a group, a discovery is made — that most individuals cannot recover unless there is a group." — As Bill Sees It, p. 9
• READ the Big Book p. 17 passage: "We are people who normally would not mix..."
• "I love that metaphor. We're all survivors of the same shipwreck. The home group is the lifeboat where we found each other."
• READ: "Almost without exception, alcoholics are tortured by loneliness." — As Bill Sees It, p. 90
• (Pause. Let the room feel it.) "Raise your hand if you felt profoundly alone before you got sober."
• "The home group is the antidote to that loneliness. Not just meetings — belonging."
ACTIVITY: Pair &amp; Share (5 minutes)
• "Turn to the person next to you. Share: What has your home group given you that you could not have gotten by just attending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5: SPONSORSHIP CONNECTION
Key Point: P-15 explicitly connects home group and sponsorship.
READ: "Sponsorship is the bridge enabling the new person to meet other alcoholics — in a home group and other groups visited." — P-15
Guiding Newcomers (P-15, pp. 7-8, 12):
• "Encourages and helps the newcomer to attend a variety of AA meetings"
• "Introduces the newcomer to other members"
• "Urges the newcomer to join group activities as soon as possible"
Service Sponsorship (P-15, pp. 25-26):
• "The service sponsor begins by encouraging the member to become active in their home group"
• Service sponsors should be familiar with the Service Manual, 12&amp;12, Circles of Love and Service, and the Home Group pamphlet.
SCENARIO: Read "The Newcomer at the Door" scenario. Paint the picture vividly.
2ND SCENARIO: "The Service Sponsor" — A member with 3 years has worked the Steps but never held a service position beyond coffee maker. Their Step sponsor suggests finding a service sponsor. P-15 says service sponsorship begins in the home group.
QUICK SHARE (2 min): "How does your home group welcome newcomers? Is there a formal greeter?"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6: SERVICE POSITIONS
READ: "Helping others is the foundation stone of your recovery..." — Big Book, p. 97
What AA Group Members Do (P-16, pp. 18-19):
• Provide and maintain a meeting place
• Arrange programs for meetings
• Collect Seventh Tradition contributions
• Maintain Conference-approved literature
• Offer refreshments, assist alcoholics in finding meetings
• Answer calls for help, air and resolve group problems
Walk through each position in the table. Emphasize:
• These are TRUSTED SERVANT positions, not leadership titles
• Rotation is essential (Tradition Two)
• Even the newest member can make coffee or set up chairs
Additional positions: Grapevine Rep, Literature Rep, liaisons for Corrections, Treatment, PI, CPC, and Accessibilities.
READ: "In A.A., no one is 'above' or 'below' anyone else. There are no classes or strata or hierarchies." — Living Sober, p. 15
ENGAGEMENT: "What service position has had the biggest impact on YOUR sobriety? If you've never held one, what's stopping you?"
TRANSITION: "Now let's zoom out and see where your home group fits in AA's overall service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7: AA SERVICE STRUCTURE
The Inverted Triangle:
• "Most organizations have a pyramid: leaders at the top, members at the bottom. AA flips that completely."
• "In AA, the GROUPS hold ultimate authority. Everything flows upward from YOUR home group."
The GSR: Your Group's Voice
• READ: "The strength of our whole A.A. service structure starts with the group and with the GSR the group elects. We cannot emphasize too strongly the G.S.R.'s importance." — Bill W., AA Service Manual, p. S1
How Ideas Travel:
From Member to World:
1. Member brings idea to Home Group business meeting
2. Group supports it → GSR carries to District
3. District approves → DCM takes to Area Committee
4. Area Delegate → General Service Conference
5. Conference action flows back through the same path
DISCUSSION: "Does your home group have an active GSR? Does the GSR regularly report back from district? How does this connect you to AA as a whole?"
TRANSITION: "Your home group is governed by the Twelve Traditions. Let's look at the five that most directly shape home group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8: TWELVE TRADITIONS &amp; HOME GROUP</a:t>
            </a:r>
            <a:br/>
            <a:br/>
            <a:r>
              <a:t>Walk through each Tradition:</a:t>
            </a:r>
            <a:br/>
            <a:br/>
            <a:r>
              <a:t>Tradition 1 — Unity:</a:t>
            </a:r>
            <a:br/>
            <a:r>
              <a:t>• READ: "Each member of AA is but a small part of a great whole." — Long Form</a:t>
            </a:r>
            <a:br/>
            <a:r>
              <a:t>• "Without unity, the heart of AA would cease to beat." — 12&amp;12, p. 129</a:t>
            </a:r>
            <a:br/>
            <a:br/>
            <a:r>
              <a:t>Tradition 2 — Group Conscience:</a:t>
            </a:r>
            <a:br/>
            <a:r>
              <a:t>• "Harder still to accept was the now proven fact that the conscience of the group, when properly informed, was often wiser than any leader." — AA Comes of Age, p. 99</a:t>
            </a:r>
            <a:br/>
            <a:br/>
            <a:r>
              <a:t>Tradition 3 — Membership:</a:t>
            </a:r>
            <a:br/>
            <a:r>
              <a:t>• "You are an AA member if you say so. You can declare yourself in; nobody can keep you out."</a:t>
            </a:r>
            <a:br/>
            <a:br/>
            <a:r>
              <a:t>Tradition 4 — Autonomy:</a:t>
            </a:r>
            <a:br/>
            <a:r>
              <a:t>• "This allows each home group to develop its own character while maintaining connection to AA's principles."</a:t>
            </a:r>
            <a:br/>
            <a:br/>
            <a:r>
              <a:t>Tradition 5 — Primary Purpose:</a:t>
            </a:r>
            <a:br/>
            <a:r>
              <a:t>• READ: "Shoemaker, stick to thy last!... better do one thing supremely well than many badly." — 12&amp;12, p. 150</a:t>
            </a:r>
            <a:br/>
            <a:br/>
            <a:r>
              <a:t>GROUP ACTIVITY (5 min): "Which of these five Traditions has your home group struggled with most? Share with your table and identify one concrete example."</a:t>
            </a:r>
            <a:br/>
            <a:br/>
            <a:r>
              <a:t>--- ADDITIONAL TALKING POINTS (from interactive version) ---</a:t>
            </a:r>
            <a:br/>
            <a:br/>
            <a:r>
              <a:t>Click each tradition card on screen to expand. TRADITION 1 — UNITY: READ 12&amp;12 p.129. 'This isn't abstract. When your group is divided by personality conflicts, people stop coming. Newcomers don't feel welcome. The group dies. When a group dies, people die.' TRADITION 2 — GROUP CONSCIENCE: READ AA Comes of Age p.99. 'Even Bill W. submitted to group conscience. We'll see a powerful example next section.' TRADITION 3 — MEMBERSHIP: 'The only requirement is DESIRE. Not sobriety. Not belief in God. Not good behavior. Your home group cannot kick someone out for relapsing, being difficult, or having different beliefs. That's hard. And essential.' TRADITION 4 — AUTONOMY: 'That's why no two home groups are alike. Big Book meetings, speaker meetings, step studies, candlelight meetings — each reflects Tradition Four.' TRADITION 5 — PRIMARY PURPOSE: READ 12&amp;12 p.150. 'When your group drifts into therapy discussions, politics, or relationship advice, Tradition Five is the compass. We have ONE job.' GROUP ACTIVITY (5 min timer): 'Which Tradition has your home group STRUGGLED with most? Share at your table, identify one concrete example.' 2-3 tables report back. TRANSITION: 'Tradition Two introduced group conscience. Let's see how it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9: INFORMED GROUP CONSCIENCE
READ the full P-16 definition aloud — slowly.
Walk through essential elements:
1. Information Gathering — reading relevant Traditions, consulting literature
2. Full Discussion — all voices heard, minority opinions especially
3. Deliberation Time — groups work slowly on sensitive issues
4. Substantial Unanimity — typically two-thirds
STORY: When Bill W. Was Overruled
• READ: "Bill, haven't you often said right here that sometimes the good is the enemy of the best? You can't do this thing to us! So spoke the group conscience. The group was right and I was wrong... Here was the true voice. I listened and — thank God — I obeyed." — Bill W., AA Comes of Age, p. 101
PRACTICE SCENARIOS:
1. The Controversial Proposal — non-Conference-approved literature at meetings
2. The Dominant Personality — 20-year member speaks longest, newer members defer
DISCUSSION (3 min): "Has your home group ever had a group conscience vote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10: CHOOSING A HOME GROUP
• "Living Sober advises newcomers to try different meetings before settling (Chapter 29, pp. 75-81)."
Walk through three categories:
1. Practical: time, location, format, size
2. Fellowship: members you admire, potential sponsors, welcoming, diversity
3. Service: active GSR, business meetings, room to grow, connected
READ the Grapevine quote: "The home group is where recovery begins; it is where AA members grow up in sobriety by the time-honored process of trial and error, to discover that they can be loved, warts and all."
PERSONAL SHARING: If comfortable, share what drew you to your own home group.
TRANSITION: "Even the best home groups face challenges. Let's look at the most common ones and how the Traditions guide us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11: COMMON CHALLENGES</a:t>
            </a:r>
            <a:br/>
            <a:br/>
            <a:r>
              <a:t>Walk through each challenge:</a:t>
            </a:r>
            <a:br/>
            <a:r>
              <a:t>1. Dominant Personalities — "The 12&amp;12 teaches: group conscience, properly informed, proves wiser than any individual."</a:t>
            </a:r>
            <a:br/>
            <a:r>
              <a:t>2. Cliques — "P-16 reminds: We learn firsthand how to place principles before personalities."</a:t>
            </a:r>
            <a:br/>
            <a:r>
              <a:t>3. Outside Issues — "Stay focused on primary purpose."</a:t>
            </a:r>
            <a:br/>
            <a:r>
              <a:t>4. Financial — "Transparency and education are essential."</a:t>
            </a:r>
            <a:br/>
            <a:r>
              <a:t>5. Apathy — "Even making coffee is spiritually significant."</a:t>
            </a:r>
            <a:br/>
            <a:br/>
            <a:r>
              <a:t>SMALL GROUP ACTIVITY (7 min): "In small groups: Pick one challenge your home group currently faces. Using the Traditions as your guide, brainstorm one concrete action your group could take. Report back in 5 minutes."</a:t>
            </a:r>
            <a:br/>
            <a:br/>
            <a:r>
              <a:t>TRANSITION: "Before we close the morning session, let's sit with some of the key quotations that capture the essence of the home group."</a:t>
            </a:r>
            <a:br/>
            <a:br/>
            <a:r>
              <a:t>--- ADDITIONAL TALKING POINTS (from interactive version) ---</a:t>
            </a:r>
            <a:br/>
            <a:br/>
            <a:r>
              <a:t>FRAMING: 'Every home group struggles. That's not failure — it's life. A group that never faces challenges isn't doing anything. The Traditions already contain the solutions.' For each card, ask show of hands: 'Has your group experienced this?' DOMINANT PERSONALITIES (T2): 'The solution isn't silence — it's structures where all voices are heard equally.' CLIQUES (T3): 'The antidote is intentional inclusion. Assign greeters. Circle the chairs. Invite newcomers to sit with different people.' OUTSIDE ISSUES (T6,10): 'This is getting harder in a polarized world. Our meetings are the ONE place we set all that aside.' FINANCES (T7): 'Transparency. Regular reports. Education about where 7th Tradition money goes.' APATHY: 'The silent killer. The cure is showing that service IS recovery.' SMALL GROUP ACTIVITY (7 min timer): 'Pick ONE challenge your group currently faces. Using the Traditions, brainstorm ONE concrete action for THIS MONTH. Be specific.' 3-4 groups report back 2 min each. TRANSITION: 'Let me close the presentation with the words that capture everything we've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12: KEY QUOTATIONS
Read these quotes slowly, with pauses between each. Let the words land.
1. "Practical experience shows that nothing will so much insure immunity from drinking as intensive work with other alcoholics." — Big Book, p. 89
2. "Life will take on new meaning. To watch people recover, to see them help others, to watch loneliness vanish, to see a fellowship grow up about you, to have a host of friends — this is an experience you must not miss." — Big Book, p. 89
3. Dr. Bob's final message: "Let's not louse it all up with Freudian complexes... Our 12 Steps, when simmered down to the last, resolve themselves into the words love and service."
4. The Great Invitation: "Abandon yourself to God as you understand God. Admit your faults to Him and to your fellows. Clear away the wreckage of your past. Give freely of what you find and join us." — Big Book, p. 164
5. The Great Paradox: "We know we can seldom keep the precious gift of sobriety unless we give it away." — 12&amp;12, p. 151
Don't rush these. Silence between quotes is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13: LITERATURE GUIDE &amp; CLOSING
Walk through the literature table:
• "Everything we've discussed has a page number. This isn't opinion — it's what our literature says."
• Point out the literature on the table for browsing/purchase.
CLOSING THE MORNING SESSION:
• "We've covered a lot this morning. Let me leave you with this:"
• READ: "Abandon yourself to God as you understand God. Admit your faults to Him and to your fellows. Clear away the wreckage of your past. Give freely of what you find and join us. We shall be with you in the Fellowship of the Spirit." — Big Book, p. 164
• "That's the Great Invitation. Your home group is where that invitation lives every single week."
FINAL THOUGHT: "What is ONE thing you want to do differently in your home group this week?"
ANNOUNCE: Lunch break, afternoon session start time.
Close with the Lord's Prayer or Responsibility Statement as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14: SCENARIO BANK (BONUS)
Use these scenarios for additional roundtable discussions as time allows.
The Relapsing Member: What Traditions apply (3, 1, 5)? What is the group's responsibility?
The Non-Alcoholic Attendee: Difference between open/closed meetings. Can non-alcoholics be 'members'?
The Format War: How does informed group conscience handle this? Could the group compromise or split?
The Online Question: Tradition Four and group autonomy. Balance accessibility with in-person fellowship.
Additional scenarios in the HTML version:
• The Money Question (Tradition 7, prudent reserves)
• The Anonymity Break (social media posting)
• The Crosstalk Debate
• The Dying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15: DALLAS AA HISTORY — SECTION TITLE
"Welcome back from lunch. This afternoon we're going to trace a story that directly connects YOUR home group to the founding of AA."
"This morning we learned WHY the home group matters. This afternoon we'll learn WHERE it came from — specifically, where it came from in Dallas."
"Every AA group in the Dallas-Fort Worth metroplex today traces its lineage to a single living room in 1943. But the story begins earlier — in Houston in 1940, with a desperate man on a train with only a Big Book."
"Our title is 'From One Living Room to 160 Groups.' Let's find out how that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16: LARRY J. &amp; HOUSTON</a:t>
            </a:r>
            <a:br/>
            <a:br/>
            <a:r>
              <a:t>Set the scene:</a:t>
            </a:r>
            <a:br/>
            <a:r>
              <a:t>• "January 1940. A man is found in freezing Cleveland weather. One lung collapsed from tuberculosis, a tube protruding from his chest. Drunk himself into the gutter."</a:t>
            </a:r>
            <a:br/>
            <a:r>
              <a:t>• "Louis Seltzer, editor of the Cleveland Press, sent a search party. They found Larry J. His sponsors were Dr. Bob Smith and Clarence Snyder."</a:t>
            </a:r>
            <a:br/>
            <a:br/>
            <a:r>
              <a:t>The remarkable detail:</a:t>
            </a:r>
            <a:br/>
            <a:r>
              <a:t>• "Larry had NEVER ATTENDED a single AA meeting. His sponsors gave him a Big Book the night before he left for Texas. On the train to Houston, reading that book, Larry experienced a spiritual awakening."</a:t>
            </a:r>
            <a:br/>
            <a:br/>
            <a:r>
              <a:t>Accomplishments:</a:t>
            </a:r>
            <a:br/>
            <a:r>
              <a:t>• First Houston Meeting at the YWCA (March 1940)</a:t>
            </a:r>
            <a:br/>
            <a:r>
              <a:t>• The Houston Press articles became the first AA pamphlet ever published</a:t>
            </a:r>
            <a:br/>
            <a:r>
              <a:t>• By September 1940, Houston was one of only 9 'secure' groups in the entire U.S.</a:t>
            </a:r>
            <a:br/>
            <a:br/>
            <a:r>
              <a:t>The Cautionary Lesson:</a:t>
            </a:r>
            <a:br/>
            <a:r>
              <a:t>• "Larry ran the group with 'something of an iron hand.' When democracy came, he pulled out and relapsed."</a:t>
            </a:r>
            <a:br/>
            <a:r>
              <a:t>• "But his legacy endured through the people he helped — including Esther E."</a:t>
            </a:r>
            <a:br/>
            <a:br/>
            <a:r>
              <a:t>TRANSITION: "Before Esther arrives in Dallas, there's a false start we need to understand."</a:t>
            </a:r>
            <a:br/>
            <a:br/>
            <a:r>
              <a:t>--- ADDITIONAL TALKING POINTS (from interactive version) ---</a:t>
            </a:r>
            <a:br/>
            <a:br/>
            <a:r>
              <a:t>OPEN: 'Before Dallas could have AA, Texas itself needed the message. And that message arrived in the most unlikely way possible — carried by a man who had never attended a single AA meeting.' LARRY J. STORY: 'Picture this: Cleveland, Ohio, winter of 1939. A newspaper man named Larry Jewell is found in freezing weather with no coat. One lung collapsed from tuberculosis. The other has a tube protruding from his chest. He'd drunk himself into the gutter.' Let that image land. 'The editor of the Cleveland Press, Louis Seltzer, sent a search party to find him and paid for his hospitalization.' 'During his recovery, doctors told him to move to a warmer climate. The night before he left for Texas, his sponsors — Dr. Bob Smith, co-founder of AA, and Clarence Snyder — gave him a Big Book. That's it. One book.' 'On the train to Houston, reading that book, Larry had a spiritual awakening. He said he felt all in one piece again.' FUN FACT: 'Larry convinced the Houston Press to run 6 articles about AA. Those articles became the FIRST AA PAMPHLET EVER PUBLISHED — the only AA literature besides the Big Book until late 1940.' TEXAS PRAYER: 'On April 1, 1940, Larry wrote The Texas Prayer — used to open AA meetings throughout Texas for years. Texas had its own identity from Day One.' CAUTIONARY NOTE: 'But Larry struggled with his leadership style. He ran the Houston group with what they called an iron hand. When the group voted for a steering committee, Larry pulled out resentfully and relapsed. He died in 1943.' 'His legacy? The people he helped included a woman named Esther E. — who would carry the message to Dallas.' TRANSITION: 'But before Esther got to Dallas, someone else tried first. And failed spectacularly.'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17: KENT W. — THE FALSE START</a:t>
            </a:r>
            <a:br/>
            <a:br/>
            <a:r>
              <a:t>Ruth T.'s Cry for Help (June 14, 1941):</a:t>
            </a:r>
            <a:br/>
            <a:r>
              <a:t>• "The earliest recorded impulse for recovery in Dallas: Ruth T. sent a letter to Ruth Hock, Bill Wilson's secretary. A lone woman desperately seeking connection. Remember her name — she'll appear again."</a:t>
            </a:r>
            <a:br/>
            <a:br/>
            <a:r>
              <a:t>Kent W. Arrives (December 1, 1941):</a:t>
            </a:r>
            <a:br/>
            <a:r>
              <a:t>• "Kent arrived with sobriety from Florida, a PR background, and a title he gave himself: 'Chief Sponsor.'"</a:t>
            </a:r>
            <a:br/>
            <a:r>
              <a:t>• "He held meetings at the White Plaza Hotel. Used newspaper publicity. Got 12 attendees and 72 inquiries..."</a:t>
            </a:r>
            <a:br/>
            <a:r>
              <a:t>• "Then complete collapse. Kent W. was 'never heard from again.'"</a:t>
            </a:r>
            <a:br/>
            <a:br/>
            <a:r>
              <a:t>The comparison table on screen shows HOW it failed:</a:t>
            </a:r>
            <a:br/>
            <a:r>
              <a:t>• Hierarchical leadership → Tradition 2 violated</a:t>
            </a:r>
            <a:br/>
            <a:r>
              <a:t>• Commercial venue → Tradition 5 violated</a:t>
            </a:r>
            <a:br/>
            <a:r>
              <a:t>• Newspaper promotion → Tradition 11 violated</a:t>
            </a:r>
            <a:br/>
            <a:br/>
            <a:r>
              <a:t>TRANSITION: "Now let's meet the woman who got it right."</a:t>
            </a:r>
            <a:br/>
            <a:br/>
            <a:r>
              <a:t>--- ADDITIONAL TALKING POINTS (from interactive version) ---</a:t>
            </a:r>
            <a:br/>
            <a:br/>
            <a:r>
              <a:t>OPEN: 'The history of AA in Dallas does NOT begin with success. It begins with failure — and that failure teaches lessons still relevant today.' RUTH T.: 'The earliest recorded impulse for recovery in Dallas came from Ruth T., who on June 14, 1941, sent a letter to Ruth Hock — Bill Wilson's secretary in New York — asking about AA in her area. Think about that: a lone woman, desperately seeking help, in a city with NO meetings. The demand for recovery existed before any supply.' KENT W.: 'On December 1, 1941, Kent W. arrived in Dallas. He'd gotten sober in Florida and came with a public relations background. He called himself the CHIEF SPONSOR of Dallas AA.' Let that title land. 'Chief Sponsor. That directly contradicts Tradition Two — Our leaders are but trusted servants; they do not govern.' 'Kent organized a meeting at the White Plaza Hotel on January 7, 1942. Despite severe weather, twelve people showed up, and a Dallas Morning News story generated 72 inquiries. Looked promising, right?' Pause. 'The whole thing collapsed. Kent W. was never heard from again.' INTERACTIVE: Click through the comparison table on screen. Ask: 'Which approach sounds more like your home group — Kent's or what we talked about this morning?' DISCUSSION: 'Why did Kent's approach fail? What Traditions — even though they hadn't been written yet — was he violating?' Let 2-3 people respond. TRANSITION: 'Kent's failure cleared the ground. And in 1943, a woman arrived who would do it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18: ESTHER E. — DALLAS FOUNDED</a:t>
            </a:r>
            <a:br/>
            <a:br/>
            <a:r>
              <a:t>"A Flower of the South" — that's the title of Esther's story in the Big Book (2nd &amp; 3rd Editions, pp. 384-392).</a:t>
            </a:r>
            <a:br/>
            <a:br/>
            <a:r>
              <a:t>Her inscribed Big Book remains at the Dallas Central Office to this day.</a:t>
            </a:r>
            <a:br/>
            <a:br/>
            <a:r>
              <a:t>The Journey:</a:t>
            </a:r>
            <a:br/>
            <a:r>
              <a:t>• Raised in New Orleans where wine with dinner was normal</a:t>
            </a:r>
            <a:br/>
            <a:r>
              <a:t>• At her wedding, her father ordered a servant to bring her a drink — a water glass full of bourbon</a:t>
            </a:r>
            <a:br/>
            <a:r>
              <a:t>• Tried every treatment available: "the Sanitarium three times"</a:t>
            </a:r>
            <a:br/>
            <a:br/>
            <a:r>
              <a:t>The Turning Point:</a:t>
            </a:r>
            <a:br/>
            <a:r>
              <a:t>• READ: Esther's husband's ultimatum from the Jack Alexander article</a:t>
            </a:r>
            <a:br/>
            <a:r>
              <a:t>• Sobriety date: May 16, 1941</a:t>
            </a:r>
            <a:br/>
            <a:br/>
            <a:r>
              <a:t>Esther Writes to New York (March 29, 1943):</a:t>
            </a:r>
            <a:br/>
            <a:r>
              <a:t>• READ: "This is where I had been so sick for five years... I've lots to do. First off, four doctors to call on and let them look over 'exhibit A' (me)!"</a:t>
            </a:r>
            <a:br/>
            <a:br/>
            <a:r>
              <a:t>APRIL 2, 1943 — THE FOUNDING:</a:t>
            </a:r>
            <a:br/>
            <a:r>
              <a:t>• "Ruth T. was there — the woman who wrote that first letter in 1941. Two years of waiting. The seeker and the carrier finally united."</a:t>
            </a:r>
            <a:br/>
            <a:br/>
            <a:r>
              <a:t>The Contrast:</a:t>
            </a:r>
            <a:br/>
            <a:r>
              <a:t>• "Kent's hotel attracted curiosity. Esther's living room fostered intimacy. The home group concept began in a home."</a:t>
            </a:r>
            <a:br/>
            <a:br/>
            <a:r>
              <a:t>--- ADDITIONAL TALKING POINTS (from interactive version) ---</a:t>
            </a:r>
            <a:br/>
            <a:br/>
            <a:r>
              <a:t>OPEN: 'If Kent W. represented the promotional false start, Esther E. represented the spiritual bedrock upon which ALL Dallas AA was built. Her story, A Flower of the South, appears in the Big Book.' ESTHER'S BACKGROUND: 'Raised in New Orleans. Social drinking was normal — wine with dinner, cordials after. At her own wedding, seeing her nervousness, her father ordered a servant to bring her something to drink. The servant brought a water glass full of bourbon.' Let the room react. 'She lived in Dallas 1927-1932, trying all the doctors, hospitals, and cures — the Sanitarium three times. Then moved to Houston where her drinking continued to escalate.' 'Her bottom? She was arrested while walking the dog. A patrol car saw her staggering.' SATURDAY EVENING POST: 'This is where history turns on a pivotal moment. A few weeks before Esther hit bottom, her husband read the Jack Alexander article in the Saturday Evening Post — March 1, 1941. This is the article that quadrupled AA membership in one year — from 2,000 to 8,000 members.' 'Her husband showed her the article with an ultimatum: If you will try this thing, I'll go along with you. If you don't, you will have to go home. I cannot sit by and watch you destroy yourself!' 'Esther wrote to New York. Within a week she received AA literature and a hand-written letter from Ruth Hock. That personal touch, she later said, did a lot to help.' SOBRIETY DATE: May 16, 1941. FOUNDING OF DALLAS AA: 'In her second year sober, Esther transferred to Dallas. She found a vacuum — Kent W.'s efforts had evaporated. The phone number Ruth Hock gave her was disconnected.' READ her March 29, 1943 letter: 'This is where I had been so sick for five years...' 'On April 2, 1943, the first meeting of The Dallas Group was held in Esther's home. And here's the beautiful part — Ruth T. was there. The woman who wrote that letter seeking help in 1941. The seeker and the carrier of the message finally united.' 'THIS DATE — April 2, 1943 — marks the lineage point for EVERY AA group in the Dallas metroplex today.' Let that land with weight. FUN FACTS: 'The group met Tuesdays and Fridays at 8 PM. Strictly speaker meetings. News spread by word of mouth only. By 1945, fewer than twenty people were sober in all of Dallas.' 'Esther's Big Book, inscribed by Bill Wilson, remains at the Dallas Central Office to this day.' 'She died June 3, 1960, with more than nineteen years of sobriety.' MOMENT: Ask for a moment of silence for Esther E. TRANSITION: 'From Esther's living room, the fellowship began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19: SEARCY W. &amp; SUBURBAN GROUP</a:t>
            </a:r>
            <a:br/>
            <a:br/>
            <a:r>
              <a:t>Searcy W.:</a:t>
            </a:r>
            <a:br/>
            <a:r>
              <a:t>• "First heard about AA in 1945 from an old drinking buddy. Lost his job, stayed drunk until April 1946."</a:t>
            </a:r>
            <a:br/>
            <a:r>
              <a:t>• "On his THIRD DAY in a drying out place off Maple Street, someone took him to a meeting at 912 Main Street."</a:t>
            </a:r>
            <a:br/>
            <a:r>
              <a:t>• "Sobriety date: May 5, 1946. He maintained 57 years of continuous sobriety until death in 2003."</a:t>
            </a:r>
            <a:br/>
            <a:br/>
            <a:r>
              <a:t>The Suburban Group:</a:t>
            </a:r>
            <a:br/>
            <a:r>
              <a:t>• "September 1946 — just FOUR MONTHS after getting sober, Searcy helped create the first neighborhood group."</a:t>
            </a:r>
            <a:br/>
            <a:r>
              <a:t>• "This was revolutionary: AA decentralized from downtown to where people actually lived."</a:t>
            </a:r>
            <a:br/>
            <a:r>
              <a:t>• "The Suburban Group became the mother of many Dallas groups."</a:t>
            </a:r>
            <a:br/>
            <a:br/>
            <a:r>
              <a:t>Dallas Central Office (Sept 18, 1947):</a:t>
            </a:r>
            <a:br/>
            <a:r>
              <a:t>• "With only 2 active groups, they opened a service office. An act of profound faith."</a:t>
            </a:r>
            <a:br/>
            <a:r>
              <a:t>• "Dick P., first manager, suffered from 'Jamaica Ginger Paralysis' — permanent disability from toxic Prohibition-era alcohol. Despite his disability, he managed the phones."</a:t>
            </a:r>
            <a:br/>
            <a:br/>
            <a:r>
              <a:t>QUICK QUESTION: "Does anyone here know which group YOUR home group descended from? Every group has a genealogy."</a:t>
            </a:r>
            <a:br/>
            <a:br/>
            <a:r>
              <a:t>--- ADDITIONAL TALKING POINTS (from interactive version) ---</a:t>
            </a:r>
            <a:br/>
            <a:br/>
            <a:r>
              <a:t>OPEN: 'World War II changed everything for America — and for AA. Veterans returned with trauma and alcoholism. The fellowship needed to grow and adapt. Enter one of the most important figures in Dallas AA history.' SEARCY W.: 'Searcy Whaley first heard about AA in 1945 from an old drinking buddy. After losing his job in November 1945, he stayed drunk until April 1946. When he came to Dallas to find AA, he was placed in a drying out place off Maple Street — the only facility in Dallas that would accept alcoholics. On his third day, someone took him to a meeting at 912½ Main Street.' SOBRIETY DATE: May 5, 1946. '57 years of continuous sobriety until his death in September 2003.' SUBURBAN GROUP: 'In September 1946, just four months after getting sober, Searcy and others founded the Suburban Group at Dickason and Sale Streets, near Lee Park. This was pivotal because it marked the FIRST DECENTRALIZATION of AA from downtown to neighborhoods. It created the prototype for the neighborhood group.' LIST THE OFFSPRING: Preston Group, Belmont, Belwood, Central, Town North, and many others. 'Your group may trace its lineage directly to the Suburban Group.' OAK CLIFF: 'The Oak Cliff Group formed around the same time — establishing AA south of downtown.' CENTRAL OFFICE: 'By 1947, with only TWO active groups, local leadership opened the Dallas Central Office on September 18, 1947, in the Davis Building on Akard Street. The first manager was Dick P., who suffered from Jamaica Ginger Paralysis — a permanent disability from toxic Prohibition-era alcohol. Despite his disability, he managed the phones and coordinated Twelfth Step calls.' 'Establishing a Central Office with only two groups was an act of profound faith.' GROWTH STATS: By 1968: 8-9 groups. By 1973: 30 groups. Today: 160+ groups. TRANSITION: 'But the most remarkable chapter in Dallas AA history involves a man whose name every AA member knows — even if they don't know his Dallas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20: EBBY THACHER IN DALLAS</a:t>
            </a:r>
            <a:br/>
            <a:br/>
            <a:r>
              <a:t>First, the Traditions Story:</a:t>
            </a:r>
            <a:br/>
            <a:r>
              <a:t>• "In 1948, Searcy arranged for Bill Wilson to visit. On the airplane, Bill showed him handwritten notes — the Traditions."</a:t>
            </a:r>
            <a:br/>
            <a:r>
              <a:t>• READ: Searcy's dismissive response: "We don't need this down here. We love each other."</a:t>
            </a:r>
            <a:br/>
            <a:r>
              <a:t>• "At the 1950 International Convention (8,000-9,000 people), the Traditions were adopted with NO dissenting votes. Searcy came to understand they weren't restrictions but protections."</a:t>
            </a:r>
            <a:br/>
            <a:br/>
            <a:r>
              <a:t>Ebby's Story — tell it dramatically:</a:t>
            </a:r>
            <a:br/>
            <a:r>
              <a:t>• "Ebby first carried the message to Bill Wilson in November 1934. Without Ebby, there is NO Bill W. Without Bill W., there is NO AA."</a:t>
            </a:r>
            <a:br/>
            <a:r>
              <a:t>• "But Ebby struggled for 18 years after helping Bill get sober."</a:t>
            </a:r>
            <a:br/>
            <a:r>
              <a:t>• "When Bill visited Dallas in 1953, Searcy asked what he'd most like to see. Bill said: 'I'd rather see Ebby have a chance to get sober.'"</a:t>
            </a:r>
            <a:br/>
            <a:r>
              <a:t>• "Friends found Ebby on the Bowery in NYC. Sent him to Dallas with a pint of whiskey. He arrived cussing out everyone."</a:t>
            </a:r>
            <a:br/>
            <a:r>
              <a:t>• "Eventually, he asked to attend a meeting. He got sober at the Suburban Club."</a:t>
            </a:r>
            <a:br/>
            <a:r>
              <a:t>• "The same fellowship that grew from his original message could later save him."</a:t>
            </a:r>
            <a:br/>
            <a:br/>
            <a:r>
              <a:t>REFLECTION (2 min): "Ebby struggled for 18 years. What does his story teach us about never giving up on anyone?"</a:t>
            </a:r>
            <a:br/>
            <a:br/>
            <a:r>
              <a:t>--- ADDITIONAL TALKING POINTS (from interactive version) ---</a:t>
            </a:r>
            <a:br/>
            <a:br/>
            <a:r>
              <a:t>OPEN: 'This is the story that gives me chills every time I tell it.' SETUP: 'How many of you know who Ebby Thacher is?' Likely many hands. 'Ebby is the man who FIRST carried the message to Bill Wilson in November 1934. Without Ebby, there is no Bill W. Without Bill W., there is no AA. Ebby is the spark that lit the fire.' 'But here's what most people don't know: Ebby struggled with sobriety for 18 YEARS after helping Bill get sober. Eighteen years.' SEARCY AND THE TRADITIONS: 'Before we get to Ebby, another Searcy W. story. In 1948, 25 AA members from across Texas met in Lubbock. Searcy arranged for Bill Wilson to attend. On the airplane, Bill showed Searcy his handwritten notes — the original Twelve Traditions.' 'Searcy's response? He said: We don't need this down here. We love each other.' 'At the 1950 International Convention in Cleveland — 8,000 to 9,000 people — the Twelve Traditions were adopted with NO dissenting votes. Dr. Bob and Bill personally schooled Searcy on the Traditions. He came to understand they weren't restrictions but protections.' EBBY'S DALLAS STORY: 'In early 1953, Bill Wilson visited Dallas and met with Searcy. Bill asked what he would most like to see happen in AA. Searcy asked the same of Bill. Bill's answer: I'd rather see Ebby have a chance to get sober.' 'Mutual friends found Ebby on the Bowery in New York City. Dried him out briefly. And sent him to Dallas with a pint of whiskey.' 'He arrived at Searcy's clinic in poor condition — cussing out Bill and Dr. Bob and everybody else. Eventually, he asked to attend a meeting.' 'He got sober at the Suburban Club.' Let that land. 'The same fellowship that had grown from HIS original message to Bill Wilson could later save HIM.' 'Ebby stayed sober in Dallas for 4-5 years, with a brief slip in 1954. He met Chloe K. in 1954 and maintained seven years of sobriety. He left Dallas around 1958 and died March 21, 1966, with 2½ years of sobriety.' REFLECTION: 'What does Ebby's story teach us about never giving up on anyone?' Let 2-3 people share. TRANSITION: 'Now let's look at the bigger picture — how all of this connects to where we are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sz="1000"/>
            </a:pPr>
            <a:r>
              <a:t>PRESENTER NOTES — SLIDE 21: FORT WORTH &amp; NETA 65</a:t>
            </a:r>
            <a:br/>
            <a:br/>
            <a:r>
              <a:t>Fort Worth History:</a:t>
            </a:r>
            <a:br/>
            <a:r>
              <a:t>• "George McL. wrote to New York on June 4, 1941. They told him the only Texas group was in Houston."</a:t>
            </a:r>
            <a:br/>
            <a:r>
              <a:t>• "By July 23, 1941, Fort Worth held its first meeting."</a:t>
            </a:r>
            <a:br/>
            <a:r>
              <a:t>• "Ralph, a railroad switchman and former deputy sheriff, became 'an apostle for the Fellowship.'"</a:t>
            </a:r>
            <a:br/>
            <a:br/>
            <a:r>
              <a:t>Two Types of Service:</a:t>
            </a:r>
            <a:br/>
            <a:r>
              <a:t>• Intergroup = Carrying the message (schedules, hotline, website)</a:t>
            </a:r>
            <a:br/>
            <a:r>
              <a:t>• General Service = Protecting the message (Traditions, Concepts, connecting to Conference)</a:t>
            </a:r>
            <a:br/>
            <a:br/>
            <a:r>
              <a:t>Organizational Timeline: Walk through the growth from 2 groups in 1947 to 160+ today.</a:t>
            </a:r>
            <a:br/>
            <a:br/>
            <a:r>
              <a:t>District 22:</a:t>
            </a:r>
            <a:br/>
            <a:r>
              <a:t>• "District 22 is OUR home in the NETA 65 structure. Our groups, our GSRs, our DCM — all connecting us to the larger fellowship."</a:t>
            </a:r>
            <a:br/>
            <a:r>
              <a:t>• "Through your home group's GSR → District 22 → NETA Area 65 → General Service Conference, YOUR voice reaches all of AA."</a:t>
            </a:r>
            <a:br/>
            <a:br/>
            <a:r>
              <a:t>--- ADDITIONAL TALKING POINTS (from interactive version) ---</a:t>
            </a:r>
            <a:br/>
            <a:br/>
            <a:r>
              <a:t>OPEN: 'While Dallas was organizing, Fort Worth was building its own recovery infrastructure — creating a dual-hub system across North Texas.' FORT WORTH: 'June 4, 1941 — AA's New York office answered George McL.'s handwritten letter, telling him the only Texas group was in Houston. On July 23, 1941, Fort Worth held its first group meeting. George wrote to New York the next day: I am happy to report that I have the A.A. well on its way in Fort Worth. At our meeting last night we had seven members.' 'Continuous AA activity in Fort Worth dates to August 28, 1943 — when Ralph, a railroad switchman and former deputy sheriff, sought George's help after a painful drunk. Ralph became an apostle for the Fellowship — one of the most zealous Twelfth-Steppers of all time.' 'The Fort Worth Central Office wasn't established until late summer 1977, after two previous attempts had failed.' NETA 65: 'Walk through the organizational evolution: Dallas Central Office evolved to Intergroup (1968), incorporated (1989), and renamed Dallas AA Central Office (2000). The 24/7 hotline is 214-887-6699.' 'NETA 65 connects the region to the General Service Conference. Covers northeast Texas from Texarkana to Abilene to Waco to the Texas/Louisiana border — 29 districts and over 512 groups.' 'The distinction is crucial: Intergroup is about CARRYING the message — Twelfth Step. General Service is about PROTECTING the message — Traditions and Concepts.' DISTRICT 22: 'This is US. District 22 is our home in the NETA 65 structure. Our groups, our GSRs, our DCM — all connecting us to the larger fellowship.' TRANSITION: 'Let's put this all together in a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22: FUN FACTS &amp; TRIVIA
Make this interactive! Ask each question and let the room try to answer before revealing.
1. First AA pamphlet? Larry J.'s Houston Press articles — the first AA literature besides the Big Book.
2. Dallas AA founding? April 2, 1943 — Esther E.
3. "Chief Sponsor"? Kent W. — cautionary tale of promotion over attraction.
4. How many sober by 1945? Fewer than 20. Slow, steady growth.
5. Who dismissed the Traditions? Searcy W.
6. Where did Ebby get sober? Dallas!
BONUS: What article quadrupled AA membership? The Jack Alexander article (Saturday Evening Post, March 1, 1941).
GROUP REFLECTION: "Where does YOUR sobriety date fall in this history? What stories from old-timers in your home group should be preserved?"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23: HISTORY CLOSING
READ the opening paragraph slowly: "Every AA group in the Dallas-Fort Worth metroplex today is a leaf on a tree..."
Discussion Questions (choose 2-3 based on time):
1. Heritage: How does knowing this history affect your view of your home group?
2. Attraction: How does your group practice attraction in the digital age?
3. Service: What does Dick P.'s and Searcy's example teach us?
4. Never Give Up: What does Ebby's and Ruth T.'s persistence teach us?
5. Looking Forward: What would you want newcomers 80 years from now to know?
READ the Responsibility Statement slowly.
"Esther E. lived the Responsibility Statement before the words existed. By opening her home when there was nowhere else to go, she ensured that the hand of AA would be there for generations."
Close the afternoon session. Announce evening session start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24: ANONYMITY PANEL INTRODUCTION
"Welcome to the evening session. This morning we explored the home group. This afternoon we traced our Dallas heritage. Tonight we discuss the spiritual foundation that holds it all together: Anonymity."
READ Tradition 12 slowly.
"In our morning session, we explored how home groups are where it all begins. Your home group is also where you first learn to practice anonymity — not as a prohibition, but as a profound spiritual discipline."
Three aspects:
• Protection — anonymity protects the newcomer, the vulnerable member, and AA itself
• Equality — at the level of Tradition, we're all equal
• Humility — recovery is about spiritual growth, not personal recognition
Panel Format: Interactive panel discussion covering history, two levels, Traditions 11 &amp; 12, digital age challenges, practical applications, and open Q&amp;A.
GROUND RULE: "What's shared in this room stays in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25: WHY ANONYMITY
READ: "Anonymity is the greatest protection our Society can ever have." — Dr. Bob
Three Fundamental Reasons:
1. Personal Protection — 1935, alcoholism = moral failing. Anonymity = survival.
2. Organizational Protection — if famous spokespeople relapse, AA gets blamed.
3. Spiritual Practice — humility, principles before personalities.
What Anonymity Is NOT:
• NOT secrecy within the fellowship — Big Book contains full stories with real details
• NOT that you can't tell anyone — many are open with family, employers, doctors
• NOT a loophole for bad behavior — group conscience addresses misconduct
How Anonymity Shows Up Weekly:
• No last names
• No crosstalk
• Rotation of positions
• Conference-approved lit only
• "Who you see here, what you hear here..."
READ Bill W. quote: "The spiritual substance of anonymity is sacrifice..." — Grapevine, January 1955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26: HISTORICAL EVOLUTION OF ANONYMITY
Walk through timeline:
1935-39: "In the 1930s, alcoholics were fired, institutionalized, shunned. Anonymity was essential for survival."
1939 Cleveland Break: "Elgie R. gave his full name and was photographed. Within a year, he relapsed — the newspaper ran 'Former AA Member Dies Drunk.' This nearly destroyed Cleveland AA. Bill W. called it 'the greatest threat to AA's future.'"
1941 Jack Alexander Article: "Critically, Alexander RESPECTED anonymity. No full names. No faces. The article promoted AA without promoting individuals. This became the model for all future PR."
• "Dallas Connection: Esther E.'s husband read this article — directly leading to Dallas AA's founding."
1944 Bill W.'s Break: "Bill agreed to appear in a promotional film. Dr. Bob vehemently opposed. Bill backed down but later wrote: 'I had been ready to place AA in serious jeopardy for my own sake.'"
1946: Traditions drafted from 'lessons written in blood — relapses, broken trust, damaged groups.'
Modern: Social media, Zoom, smartphones.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27: TWO LEVELS OF ANONYMITY
"The most common source of confusion about anonymity comes from failing to understand there are TWO DISTINCT LEVELS."
Level 1 — Personal (Your Choice):
• "You decide who knows about your AA membership in private life."
• Examples: telling your boss, your doctor, your family
Level 2 — Public Media (Required):
• "At the level of press, radio, films, TV, and internet — anonymity is required."
• "You may not use your full name as an AA member in any public media."
Why It Matters — illustrate with scenario:
• "A famous actor declares AA membership. Six months later, arrested for DUI. Headlines: 'AA Member John Doe Arrested — Does AA Work?'"
• "If he'd maintained anonymity, his relapse would be a personal matter."
Real-World Examples:
• Talking to your boss — NOT a break (private conversation)
• Facebook post with full name + AA — YES a break (social media = public media)
• Documentary at open meeting — GRAY AREA (discuss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28: TRADITION ELEVEN
Break down Tradition Eleven into two parts:
Part 1 — Attraction Rather Than Promotion:
• "Attraction means letting our results speak for themselves."
• HISTORICAL LESSON: The Washingtonian Society. 1840s temperance organization. Celebrity speakers, massive rallies, published names.
• "Within five years, the Washingtonians collapsed. Celebrity speakers relapsed publicly. Power struggles erupted."
• "Bill W. studied them closely. That's why we have 'attraction, not promotion.'"
Part 2 — Anonymity at Public Level:
• "No full names or faces in press, radio, films, TV, internet, social media."
• MODERN EXAMPLE: "When a celebrity publicly identifies as AA member and later relapses, media questions AA's effectiveness."
Applying Today:
• Press: First names or pseudonyms, no photos showing faces
• TV/Film: Silhouettes, voice alteration, first names only
• Social Media: No connecting real names to AA membership
• Podcasts/Blogs: Use pseudonyms, no identifying details
Your Home Group: Show up consistently, be welcoming, carry the message, live sober.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29: TRADITION TWELVE
READ Tradition 12 slowly.
"Bill W. deliberately made anonymity the FINAL Tradition because it undergirds all the others."
Show how anonymity supports every group of Traditions:
• Traditions 1-3 (Unity): No one more important than the group. No charismatic leaders dominating. Everyone equal.
• Traditions 4-6 (Autonomy): Prevents outside interests from infiltrating. Can't be used for personal gain.
• Traditions 7-11 (Independence): Prevents wealthy from buying influence. Service = humility, not prestige.
"Principles Before Personalities" — walk through examples:
1. Long-Winded Speaker: Sharing limit for everyone. Personality doesn't override unity.
2. Wealthy Donor: One person, one vote. Wealth doesn't buy influence.
3. Popular Leader: Rotation even when current servant is excellent.
4. Celebrity Member: All members equal. No featuring anyone.
Each time: "Personality approach vs. Principle approach. Principle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30: ANONYMITY VS CONFIDENTIALITY
"One of the most common sources of confusion in AA."
Anonymity = YOUR identity at the PUBLIC level
Confidentiality = OTHERS' identities EVERYWHERE
"Confidentiality is ABSOLUTE. Without it, AA cannot function. Newcomers must feel safe to share their darkest secrets."
Scenarios:
1. Boss at a Meeting: "You say nothing. You wait for them. Even if you're both aware, let them decide."
2. Telling Your Spouse: "Share your feelings, not details. 'Someone shared something intense. I can't share details.' If you need to debrief, call your sponsor."
3. Celebrity: "Tell no one. Not friends, not family, not social media. They came seeking anonymity and safety."
4. Saw Someone Drinking: "Don't gossip at meetings. Reach out privately if close, or mention to their sponsor if emergency."
Key Rule: "When in doubt, protect others' anonymity. You can always ask them later if they're comfortable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31: ANONYMITY IN THE DIGITAL AGE
"The founders could not have imagined smartphones, social media, or Zoom meetings. Yet the principles remain unchanged. The APPLICATION requires vigilance."
Walk through each platform:
1. Social Media (HIGH risk): Anniversary posts, meeting check-ins, tagging locations
2. Virtual Meetings (MEDIUM risk): Screenshots, recordings, unmuted backgrounds
3. Blogs/Podcasts (VERY HIGH risk): Permanent public records with full names
Common Digital Breaks &amp; Better Alternatives:
• Facebook anniversary: Use "12-step program" instead of "AA"
• Instagram meeting selfie: Don't photograph meetings at all
• Location check-ins: Don't use at meetings or AA facilities
• Zoom screenshots: NEVER screenshot or record meetings
• Recovery blogs: Use pseudonyms, no identifying details
GROUP DISCUSSION: "Has your home group dealt with social media anonymity breaks? How did you handle them?"
Suggested Group Policy Template: Read statement at each meeting, no photography, discuss at business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32: ANONYMITY &amp; YOUR HOME GROUP
"This morning we said your home group is 'where it all begins.' It's also where anonymity is learned, practiced, and protected every week."
Six practices:
1. Rotating Positions — GSR: 2 years, Secretary: 1-2 years, Treasurer: 1-2 years
2. Equal Voice — member with 40 years and newcomer with 40 days both get one vote
3. Conference-Approved Lit — no outside books replacing AA literature during meetings
4. First Names Only — removes outside status; we're all just alcoholics
5. No Crosstalk — listening without rebutting; principle of listening above personal reactions
6. No Promotion — no "Member of the Month"; anniversaries acknowledged humbly
Connecting to Morning Theme:
• "Your home group is the laboratory where abstract principles become concrete actions."
• "Every time you rotate a service position, you practice anonymity."
• "Every time you use first names, you practice equality."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33: COMMON ANONYMITY BREAKS
"The Loving Correction Approach" — lead with love and education, not shame.
Walk through each scenario with the RIGHT response:
1. Meeting Photo on Facebook:
• Pull aside privately
• Speak lovingly
• Ask them to delete
• Offer resources
• Suggest the group add a technology policy
2. Discussing Another's Relapse:
• "That's gossip, not support."
• If concerned, reach out directly or speak to their sponsor
• If gossip continues, bring to group conscience
3. Newcomer on Instagram:
• "Newcomers often don't know better. This is a teaching moment."
• Edit post to "12-step program" instead of "AA"
4. Old-Timer Dominating:
• Speak privately first
• If resists, remind of Tradition 12
• If continues, bring to group conscience
"Remember: Even Bill W. broke anonymity multiple times before understanding its importance. We're all on a learning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34: PANEL DISCUSSION
"We've covered a lot of ground tonight. Now it's time to hear from YOU."
Use these prompts to guide discussion, or let questions flow naturally:
1. Personal Anonymity Decisions — disclosure struggles
2. Digital Age Challenges — social media breaks in your group
3. Attraction vs. Promotion — where's the line?
4. Principles Before Personalities — concrete examples
5. Confidentiality — seeing members outside meetings
6. Home Group Practices — technology policies
Additional prompts:
7. Celebrity Anonymity — helps reduce stigma or violates T11?
8. Gray Areas — situations without clear answers
9. Anonymity &amp; Sponsorship — confidentiality with sponsees
10. The Future — how will anonymity evolve?
Facilitation Tips:
• Keep responses focused (2-3 minutes each)
• Redirect back to Traditions when discussions wander
• Encourage quieter members to share
• Watch for actual anonymity breaks during the discussion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35: ANONYMITY CLOSING
READ the Bill W. quote slowly — this is the capstone of the entire day.
"Anonymity is real humility at work..."
Point out the literature references for deeper study.
Closing Actions:
• "Before we close, I want you to think about ONE thing you'll do differently in your home group this week based on what we've discussed today."
• "Maybe it's introducing yourself to the newcomer. Maybe it's standing for a service position. Maybe it's reviewing your group's technology policy."
The Day's Arc:
• "This morning we learned that the home group is where it all begins — Foundation."
• "This afternoon we traced our Dallas heritage from Esther's living room — Heritage."
• "Tonight we explored the spiritual discipline that holds it all together — Humility."
"Foundation, Heritage, Humility — that's what we carry with us from today."
Close with the Serenity Prayer — ask everyone to stand.
Thank everyone for attending. Remind them of upcoming District 22 events.
District 22 — North East Texas Area 65 (NETA 65)
Saturday, April 4, 2026 | Los Tres Patrillos, Greenville, TX
neta65.org | aadallas.org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sp>
      <p:sp>
        <p:nvSpPr>
          <p:cNvPr id="3" name="Shape 1"/>
          <p:cNvSpPr/>
          <p:nvPr/>
        </p:nvSpPr>
        <p:spPr>
          <a:xfrm>
            <a:off x="0" y="4663440"/>
            <a:ext cx="9144000" cy="480060"/>
          </a:xfrm>
          <a:prstGeom prst="rect">
            <a:avLst/>
          </a:prstGeom>
          <a:solidFill>
            <a:srgbClr val="1A3A5C">
              <a:alpha val="40000"/>
            </a:srgbClr>
          </a:solidFill>
          <a:ln/>
        </p:spPr>
      </p:sp>
      <p:sp>
        <p:nvSpPr>
          <p:cNvPr id="4" name="Text 2"/>
          <p:cNvSpPr/>
          <p:nvPr/>
        </p:nvSpPr>
        <p:spPr>
          <a:xfrm>
            <a:off x="457200" y="4709160"/>
            <a:ext cx="8229600" cy="365760"/>
          </a:xfrm>
          <a:prstGeom prst="rect">
            <a:avLst/>
          </a:prstGeom>
          <a:noFill/>
          <a:ln/>
        </p:spPr>
        <p:txBody>
          <a:bodyPr wrap="square" rtlCol="0" anchor="ctr"/>
          <a:lstStyle/>
          <a:p>
            <a:pPr algn="ctr" indent="0" marL="0">
              <a:buNone/>
            </a:pPr>
            <a:r>
              <a:rPr lang="en-US" sz="900" dirty="0">
                <a:solidFill>
                  <a:srgbClr val="99AABB"/>
                </a:solidFill>
                <a:latin typeface="Calibri" pitchFamily="34" charset="0"/>
                <a:ea typeface="Calibri" pitchFamily="34" charset="-122"/>
                <a:cs typeface="Calibri" pitchFamily="34" charset="-120"/>
              </a:rPr>
              <a:t>Foundation, Heritage, Humility  •  District 22  •  NETA Area 65</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3293D"/>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D4A84B"/>
          </a:solidFill>
          <a:ln/>
        </p:spPr>
      </p:sp>
      <p:sp>
        <p:nvSpPr>
          <p:cNvPr id="3" name="Shape 1"/>
          <p:cNvSpPr/>
          <p:nvPr/>
        </p:nvSpPr>
        <p:spPr>
          <a:xfrm>
            <a:off x="0" y="4663440"/>
            <a:ext cx="9144000" cy="480060"/>
          </a:xfrm>
          <a:prstGeom prst="rect">
            <a:avLst/>
          </a:prstGeom>
          <a:solidFill>
            <a:srgbClr val="0D1B2A">
              <a:alpha val="60000"/>
            </a:srgbClr>
          </a:solidFill>
          <a:ln/>
        </p:spPr>
      </p:sp>
      <p:sp>
        <p:nvSpPr>
          <p:cNvPr id="4" name="Text 2"/>
          <p:cNvSpPr/>
          <p:nvPr/>
        </p:nvSpPr>
        <p:spPr>
          <a:xfrm>
            <a:off x="457200" y="4709160"/>
            <a:ext cx="8229600" cy="365760"/>
          </a:xfrm>
          <a:prstGeom prst="rect">
            <a:avLst/>
          </a:prstGeom>
          <a:noFill/>
          <a:ln/>
        </p:spPr>
        <p:txBody>
          <a:bodyPr wrap="square" rtlCol="0" anchor="ctr"/>
          <a:lstStyle/>
          <a:p>
            <a:pPr algn="ctr" indent="0" marL="0">
              <a:buNone/>
            </a:pPr>
            <a:r>
              <a:rPr lang="en-US" sz="900" dirty="0">
                <a:solidFill>
                  <a:srgbClr val="99AABB"/>
                </a:solidFill>
                <a:latin typeface="Calibri" pitchFamily="34" charset="0"/>
                <a:ea typeface="Calibri" pitchFamily="34" charset="-122"/>
                <a:cs typeface="Calibri" pitchFamily="34" charset="-120"/>
              </a:rPr>
              <a:t>Foundation, Heritage, Humility  •  District 22  •  NETA Area 65</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IVIDER">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B"/>
          </a:solidFill>
          <a:ln/>
        </p:spPr>
      </p:sp>
      <p:sp>
        <p:nvSpPr>
          <p:cNvPr id="3" name="Shape 1"/>
          <p:cNvSpPr/>
          <p:nvPr/>
        </p:nvSpPr>
        <p:spPr>
          <a:xfrm>
            <a:off x="0" y="4663440"/>
            <a:ext cx="9144000" cy="480060"/>
          </a:xfrm>
          <a:prstGeom prst="rect">
            <a:avLst/>
          </a:prstGeom>
          <a:solidFill>
            <a:srgbClr val="1A3A5C">
              <a:alpha val="40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914400"/>
            <a:ext cx="8229600" cy="1097280"/>
          </a:xfrm>
          <a:prstGeom prst="rect">
            <a:avLst/>
          </a:prstGeom>
          <a:noFill/>
          <a:ln/>
        </p:spPr>
        <p:txBody>
          <a:bodyPr wrap="square" rtlCol="0" anchor="ctr"/>
          <a:lstStyle/>
          <a:p>
            <a:pPr algn="ctr" indent="0" marL="0">
              <a:buNone/>
            </a:pPr>
            <a:r>
              <a:rPr lang="en-US" sz="4000" b="1" dirty="0">
                <a:solidFill>
                  <a:srgbClr val="F0C96E"/>
                </a:solidFill>
                <a:latin typeface="Georgia" pitchFamily="34" charset="0"/>
                <a:ea typeface="Georgia" pitchFamily="34" charset="-122"/>
                <a:cs typeface="Georgia" pitchFamily="34" charset="-120"/>
              </a:rPr>
              <a:t>Foundation, Heritage, Humility</a:t>
            </a:r>
            <a:endParaRPr lang="en-US" sz="4000" dirty="0"/>
          </a:p>
        </p:txBody>
      </p:sp>
      <p:sp>
        <p:nvSpPr>
          <p:cNvPr id="3" name="Text 1"/>
          <p:cNvSpPr/>
          <p:nvPr/>
        </p:nvSpPr>
        <p:spPr>
          <a:xfrm>
            <a:off x="457200" y="2011680"/>
            <a:ext cx="8229600" cy="365760"/>
          </a:xfrm>
          <a:prstGeom prst="rect">
            <a:avLst/>
          </a:prstGeom>
          <a:noFill/>
          <a:ln/>
        </p:spPr>
        <p:txBody>
          <a:bodyPr wrap="square" rtlCol="0" anchor="ctr"/>
          <a:lstStyle/>
          <a:p>
            <a:pPr algn="ctr" indent="0" marL="0">
              <a:buNone/>
            </a:pPr>
            <a:r>
              <a:rPr lang="en-US" sz="1600" dirty="0">
                <a:solidFill>
                  <a:srgbClr val="99AABB"/>
                </a:solidFill>
                <a:latin typeface="Calibri" pitchFamily="34" charset="0"/>
                <a:ea typeface="Calibri" pitchFamily="34" charset="-122"/>
                <a:cs typeface="Calibri" pitchFamily="34" charset="-120"/>
              </a:rPr>
              <a:t>District 22 Mini Conference  •  NETA Area 65</a:t>
            </a:r>
            <a:endParaRPr lang="en-US" sz="1600" dirty="0"/>
          </a:p>
        </p:txBody>
      </p:sp>
      <p:sp>
        <p:nvSpPr>
          <p:cNvPr id="4" name="Text 2"/>
          <p:cNvSpPr/>
          <p:nvPr/>
        </p:nvSpPr>
        <p:spPr>
          <a:xfrm>
            <a:off x="914400" y="2560320"/>
            <a:ext cx="7315200" cy="640080"/>
          </a:xfrm>
          <a:prstGeom prst="rect">
            <a:avLst/>
          </a:prstGeom>
          <a:noFill/>
          <a:ln/>
        </p:spPr>
        <p:txBody>
          <a:bodyPr wrap="square" rtlCol="0" anchor="ctr"/>
          <a:lstStyle/>
          <a:p>
            <a:pPr algn="ctr" indent="0" marL="0">
              <a:buNone/>
            </a:pPr>
            <a:r>
              <a:rPr lang="en-US" sz="1200" dirty="0">
                <a:solidFill>
                  <a:srgbClr val="E8E8E8"/>
                </a:solidFill>
                <a:latin typeface="Calibri" pitchFamily="34" charset="0"/>
                <a:ea typeface="Calibri" pitchFamily="34" charset="-122"/>
                <a:cs typeface="Calibri" pitchFamily="34" charset="-120"/>
              </a:rPr>
              <a:t>Saturday, April 4, 2026  •  8:00 AM – 10:00 PM</a:t>
            </a:r>
            <a:endParaRPr lang="en-US" sz="1200" dirty="0"/>
          </a:p>
          <a:p>
            <a:pPr algn="ctr" indent="0" marL="0">
              <a:buNone/>
            </a:pPr>
            <a:r>
              <a:rPr lang="en-US" sz="1200" dirty="0">
                <a:solidFill>
                  <a:srgbClr val="E8E8E8"/>
                </a:solidFill>
                <a:latin typeface="Calibri" pitchFamily="34" charset="0"/>
                <a:ea typeface="Calibri" pitchFamily="34" charset="-122"/>
                <a:cs typeface="Calibri" pitchFamily="34" charset="-120"/>
              </a:rPr>
              <a:t>Los Tres Patrillos, 2520 E I-30 Frontage Rd, Greenville, TX 75401</a:t>
            </a:r>
            <a:endParaRPr lang="en-US" sz="1200" dirty="0"/>
          </a:p>
        </p:txBody>
      </p:sp>
      <p:sp>
        <p:nvSpPr>
          <p:cNvPr id="5" name="Shape 3"/>
          <p:cNvSpPr/>
          <p:nvPr/>
        </p:nvSpPr>
        <p:spPr>
          <a:xfrm>
            <a:off x="640080" y="3383280"/>
            <a:ext cx="246888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640080" y="3383280"/>
            <a:ext cx="2468880" cy="45720"/>
          </a:xfrm>
          <a:prstGeom prst="rect">
            <a:avLst/>
          </a:prstGeom>
          <a:solidFill>
            <a:srgbClr val="D4A84B"/>
          </a:solidFill>
          <a:ln/>
        </p:spPr>
      </p:sp>
      <p:sp>
        <p:nvSpPr>
          <p:cNvPr id="7" name="Text 5"/>
          <p:cNvSpPr/>
          <p:nvPr/>
        </p:nvSpPr>
        <p:spPr>
          <a:xfrm>
            <a:off x="777240" y="3474720"/>
            <a:ext cx="2194560" cy="228600"/>
          </a:xfrm>
          <a:prstGeom prst="rect">
            <a:avLst/>
          </a:prstGeom>
          <a:noFill/>
          <a:ln/>
        </p:spPr>
        <p:txBody>
          <a:bodyPr wrap="square" lIns="0" tIns="0" rIns="0" bIns="0" rtlCol="0" anchor="ctr"/>
          <a:lstStyle/>
          <a:p>
            <a:pPr indent="0" marL="0">
              <a:buNone/>
            </a:pPr>
            <a:r>
              <a:rPr lang="en-US" sz="900" dirty="0">
                <a:solidFill>
                  <a:srgbClr val="D4A84B"/>
                </a:solidFill>
                <a:latin typeface="Calibri" pitchFamily="34" charset="0"/>
                <a:ea typeface="Calibri" pitchFamily="34" charset="-122"/>
                <a:cs typeface="Calibri" pitchFamily="34" charset="-120"/>
              </a:rPr>
              <a:t>8:00 AM – 12:00 PM</a:t>
            </a:r>
            <a:endParaRPr lang="en-US" sz="900" dirty="0"/>
          </a:p>
        </p:txBody>
      </p:sp>
      <p:sp>
        <p:nvSpPr>
          <p:cNvPr id="8" name="Text 6"/>
          <p:cNvSpPr/>
          <p:nvPr/>
        </p:nvSpPr>
        <p:spPr>
          <a:xfrm>
            <a:off x="777240" y="3703320"/>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Home Group Workshop</a:t>
            </a:r>
            <a:endParaRPr lang="en-US" sz="1300" dirty="0"/>
          </a:p>
        </p:txBody>
      </p:sp>
      <p:sp>
        <p:nvSpPr>
          <p:cNvPr id="9" name="Text 7"/>
          <p:cNvSpPr/>
          <p:nvPr/>
        </p:nvSpPr>
        <p:spPr>
          <a:xfrm>
            <a:off x="777240" y="3977640"/>
            <a:ext cx="2194560" cy="228600"/>
          </a:xfrm>
          <a:prstGeom prst="rect">
            <a:avLst/>
          </a:prstGeom>
          <a:noFill/>
          <a:ln/>
        </p:spPr>
        <p:txBody>
          <a:bodyPr wrap="square" lIns="0" tIns="0" rIns="0" bIns="0" rtlCol="0" anchor="ctr"/>
          <a:lstStyle/>
          <a:p>
            <a:pPr indent="0" marL="0">
              <a:buNone/>
            </a:pPr>
            <a:r>
              <a:rPr lang="en-US" sz="900" dirty="0">
                <a:solidFill>
                  <a:srgbClr val="99AABB"/>
                </a:solidFill>
                <a:latin typeface="Calibri" pitchFamily="34" charset="0"/>
                <a:ea typeface="Calibri" pitchFamily="34" charset="-122"/>
                <a:cs typeface="Calibri" pitchFamily="34" charset="-120"/>
              </a:rPr>
              <a:t>Slides 1–13</a:t>
            </a:r>
            <a:endParaRPr lang="en-US" sz="900" dirty="0"/>
          </a:p>
        </p:txBody>
      </p:sp>
      <p:sp>
        <p:nvSpPr>
          <p:cNvPr id="10" name="Shape 8"/>
          <p:cNvSpPr/>
          <p:nvPr/>
        </p:nvSpPr>
        <p:spPr>
          <a:xfrm>
            <a:off x="3474720" y="3383280"/>
            <a:ext cx="246888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474720" y="3383280"/>
            <a:ext cx="2468880" cy="45720"/>
          </a:xfrm>
          <a:prstGeom prst="rect">
            <a:avLst/>
          </a:prstGeom>
          <a:solidFill>
            <a:srgbClr val="D4A84B"/>
          </a:solidFill>
          <a:ln/>
        </p:spPr>
      </p:sp>
      <p:sp>
        <p:nvSpPr>
          <p:cNvPr id="12" name="Text 10"/>
          <p:cNvSpPr/>
          <p:nvPr/>
        </p:nvSpPr>
        <p:spPr>
          <a:xfrm>
            <a:off x="3611880" y="3474720"/>
            <a:ext cx="2194560" cy="228600"/>
          </a:xfrm>
          <a:prstGeom prst="rect">
            <a:avLst/>
          </a:prstGeom>
          <a:noFill/>
          <a:ln/>
        </p:spPr>
        <p:txBody>
          <a:bodyPr wrap="square" lIns="0" tIns="0" rIns="0" bIns="0" rtlCol="0" anchor="ctr"/>
          <a:lstStyle/>
          <a:p>
            <a:pPr indent="0" marL="0">
              <a:buNone/>
            </a:pPr>
            <a:r>
              <a:rPr lang="en-US" sz="900" dirty="0">
                <a:solidFill>
                  <a:srgbClr val="D4A84B"/>
                </a:solidFill>
                <a:latin typeface="Calibri" pitchFamily="34" charset="0"/>
                <a:ea typeface="Calibri" pitchFamily="34" charset="-122"/>
                <a:cs typeface="Calibri" pitchFamily="34" charset="-120"/>
              </a:rPr>
              <a:t>1:00 PM – 3:00 PM</a:t>
            </a:r>
            <a:endParaRPr lang="en-US" sz="900" dirty="0"/>
          </a:p>
        </p:txBody>
      </p:sp>
      <p:sp>
        <p:nvSpPr>
          <p:cNvPr id="13" name="Text 11"/>
          <p:cNvSpPr/>
          <p:nvPr/>
        </p:nvSpPr>
        <p:spPr>
          <a:xfrm>
            <a:off x="3611880" y="3703320"/>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Dallas AA History</a:t>
            </a:r>
            <a:endParaRPr lang="en-US" sz="1300" dirty="0"/>
          </a:p>
        </p:txBody>
      </p:sp>
      <p:sp>
        <p:nvSpPr>
          <p:cNvPr id="14" name="Text 12"/>
          <p:cNvSpPr/>
          <p:nvPr/>
        </p:nvSpPr>
        <p:spPr>
          <a:xfrm>
            <a:off x="3611880" y="3977640"/>
            <a:ext cx="2194560" cy="228600"/>
          </a:xfrm>
          <a:prstGeom prst="rect">
            <a:avLst/>
          </a:prstGeom>
          <a:noFill/>
          <a:ln/>
        </p:spPr>
        <p:txBody>
          <a:bodyPr wrap="square" lIns="0" tIns="0" rIns="0" bIns="0" rtlCol="0" anchor="ctr"/>
          <a:lstStyle/>
          <a:p>
            <a:pPr indent="0" marL="0">
              <a:buNone/>
            </a:pPr>
            <a:r>
              <a:rPr lang="en-US" sz="900" dirty="0">
                <a:solidFill>
                  <a:srgbClr val="99AABB"/>
                </a:solidFill>
                <a:latin typeface="Calibri" pitchFamily="34" charset="0"/>
                <a:ea typeface="Calibri" pitchFamily="34" charset="-122"/>
                <a:cs typeface="Calibri" pitchFamily="34" charset="-120"/>
              </a:rPr>
              <a:t>Slides 14–23</a:t>
            </a:r>
            <a:endParaRPr lang="en-US" sz="900" dirty="0"/>
          </a:p>
        </p:txBody>
      </p:sp>
      <p:sp>
        <p:nvSpPr>
          <p:cNvPr id="15" name="Shape 13"/>
          <p:cNvSpPr/>
          <p:nvPr/>
        </p:nvSpPr>
        <p:spPr>
          <a:xfrm>
            <a:off x="6309360" y="3383280"/>
            <a:ext cx="246888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6" name="Shape 14"/>
          <p:cNvSpPr/>
          <p:nvPr/>
        </p:nvSpPr>
        <p:spPr>
          <a:xfrm>
            <a:off x="6309360" y="3383280"/>
            <a:ext cx="2468880" cy="45720"/>
          </a:xfrm>
          <a:prstGeom prst="rect">
            <a:avLst/>
          </a:prstGeom>
          <a:solidFill>
            <a:srgbClr val="D4A84B"/>
          </a:solidFill>
          <a:ln/>
        </p:spPr>
      </p:sp>
      <p:sp>
        <p:nvSpPr>
          <p:cNvPr id="17" name="Text 15"/>
          <p:cNvSpPr/>
          <p:nvPr/>
        </p:nvSpPr>
        <p:spPr>
          <a:xfrm>
            <a:off x="6446520" y="3474720"/>
            <a:ext cx="2194560" cy="228600"/>
          </a:xfrm>
          <a:prstGeom prst="rect">
            <a:avLst/>
          </a:prstGeom>
          <a:noFill/>
          <a:ln/>
        </p:spPr>
        <p:txBody>
          <a:bodyPr wrap="square" lIns="0" tIns="0" rIns="0" bIns="0" rtlCol="0" anchor="ctr"/>
          <a:lstStyle/>
          <a:p>
            <a:pPr indent="0" marL="0">
              <a:buNone/>
            </a:pPr>
            <a:r>
              <a:rPr lang="en-US" sz="900" dirty="0">
                <a:solidFill>
                  <a:srgbClr val="D4A84B"/>
                </a:solidFill>
                <a:latin typeface="Calibri" pitchFamily="34" charset="0"/>
                <a:ea typeface="Calibri" pitchFamily="34" charset="-122"/>
                <a:cs typeface="Calibri" pitchFamily="34" charset="-120"/>
              </a:rPr>
              <a:t>8:00 PM – 10:00 PM</a:t>
            </a:r>
            <a:endParaRPr lang="en-US" sz="900" dirty="0"/>
          </a:p>
        </p:txBody>
      </p:sp>
      <p:sp>
        <p:nvSpPr>
          <p:cNvPr id="18" name="Text 16"/>
          <p:cNvSpPr/>
          <p:nvPr/>
        </p:nvSpPr>
        <p:spPr>
          <a:xfrm>
            <a:off x="6446520" y="3703320"/>
            <a:ext cx="219456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Anonymity Panel</a:t>
            </a:r>
            <a:endParaRPr lang="en-US" sz="1300" dirty="0"/>
          </a:p>
        </p:txBody>
      </p:sp>
      <p:sp>
        <p:nvSpPr>
          <p:cNvPr id="19" name="Text 17"/>
          <p:cNvSpPr/>
          <p:nvPr/>
        </p:nvSpPr>
        <p:spPr>
          <a:xfrm>
            <a:off x="6446520" y="3977640"/>
            <a:ext cx="2194560" cy="228600"/>
          </a:xfrm>
          <a:prstGeom prst="rect">
            <a:avLst/>
          </a:prstGeom>
          <a:noFill/>
          <a:ln/>
        </p:spPr>
        <p:txBody>
          <a:bodyPr wrap="square" lIns="0" tIns="0" rIns="0" bIns="0" rtlCol="0" anchor="ctr"/>
          <a:lstStyle/>
          <a:p>
            <a:pPr indent="0" marL="0">
              <a:buNone/>
            </a:pPr>
            <a:r>
              <a:rPr lang="en-US" sz="900" dirty="0">
                <a:solidFill>
                  <a:srgbClr val="99AABB"/>
                </a:solidFill>
                <a:latin typeface="Calibri" pitchFamily="34" charset="0"/>
                <a:ea typeface="Calibri" pitchFamily="34" charset="-122"/>
                <a:cs typeface="Calibri" pitchFamily="34" charset="-120"/>
              </a:rPr>
              <a:t>Slides 24–35</a:t>
            </a:r>
            <a:endParaRPr lang="en-US" sz="900" dirty="0"/>
          </a:p>
        </p:txBody>
      </p:sp>
    </p:spTree>
  </p:cSld>
  <p:clrMapOvr>
    <a:masterClrMapping/>
  </p:clrMapOvr>
  <p:transition spd="med" advClick="1">
    <p:fade thruBlk="1"/>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Survivors of the Same Shipwreck</a:t>
            </a:r>
            <a:endParaRPr lang="en-US" sz="3000" dirty="0"/>
          </a:p>
        </p:txBody>
      </p:sp>
      <p:sp>
        <p:nvSpPr>
          <p:cNvPr id="5" name="Text 3"/>
          <p:cNvSpPr/>
          <p:nvPr/>
        </p:nvSpPr>
        <p:spPr>
          <a:xfrm>
            <a:off x="457200" y="128016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Why Belonging to a Home Group Saves Lives — From loneliness to accountability, where recovery begins</a:t>
            </a:r>
            <a:endParaRPr lang="en-US" sz="1400" dirty="0"/>
          </a:p>
        </p:txBody>
      </p:sp>
      <p:sp>
        <p:nvSpPr>
          <p:cNvPr id="6" name="Shape 4"/>
          <p:cNvSpPr/>
          <p:nvPr/>
        </p:nvSpPr>
        <p:spPr>
          <a:xfrm>
            <a:off x="457200" y="1828800"/>
            <a:ext cx="8229600" cy="8229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828800"/>
            <a:ext cx="54864" cy="822960"/>
          </a:xfrm>
          <a:prstGeom prst="rect">
            <a:avLst/>
          </a:prstGeom>
          <a:solidFill>
            <a:srgbClr val="D4A84B"/>
          </a:solidFill>
          <a:ln/>
        </p:spPr>
      </p:sp>
      <p:sp>
        <p:nvSpPr>
          <p:cNvPr id="8" name="Text 6"/>
          <p:cNvSpPr/>
          <p:nvPr/>
        </p:nvSpPr>
        <p:spPr>
          <a:xfrm>
            <a:off x="640080" y="1920240"/>
            <a:ext cx="7909560" cy="6400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"Traditionally, most A.A. members through the years have found it important to belong to one group that they call their 'home group.' This is the group where they accept service responsibilities and try to sustain friendships."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P-16 "The A.A. Group," page 15</a:t>
            </a:r>
            <a:endParaRPr lang="en-US" sz="1100" dirty="0"/>
          </a:p>
        </p:txBody>
      </p:sp>
      <p:sp>
        <p:nvSpPr>
          <p:cNvPr id="9" name="Shape 7"/>
          <p:cNvSpPr/>
          <p:nvPr/>
        </p:nvSpPr>
        <p:spPr>
          <a:xfrm>
            <a:off x="457200" y="2880360"/>
            <a:ext cx="25603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880360"/>
            <a:ext cx="54864" cy="1188720"/>
          </a:xfrm>
          <a:prstGeom prst="rect">
            <a:avLst/>
          </a:prstGeom>
          <a:solidFill>
            <a:srgbClr val="D4A84B"/>
          </a:solidFill>
          <a:ln/>
        </p:spPr>
      </p:sp>
      <p:sp>
        <p:nvSpPr>
          <p:cNvPr id="11" name="Text 9"/>
          <p:cNvSpPr/>
          <p:nvPr/>
        </p:nvSpPr>
        <p:spPr>
          <a:xfrm>
            <a:off x="640080" y="2971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History &amp; Origins</a:t>
            </a:r>
            <a:endParaRPr lang="en-US" sz="1300" dirty="0"/>
          </a:p>
        </p:txBody>
      </p:sp>
      <p:sp>
        <p:nvSpPr>
          <p:cNvPr id="12" name="Text 10"/>
          <p:cNvSpPr/>
          <p:nvPr/>
        </p:nvSpPr>
        <p:spPr>
          <a:xfrm>
            <a:off x="640080" y="3246120"/>
            <a:ext cx="22402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From the Smith Home in Akron to modern home groups — tracing evolution through AA literature.</a:t>
            </a:r>
            <a:endParaRPr lang="en-US" sz="1100" dirty="0"/>
          </a:p>
        </p:txBody>
      </p:sp>
      <p:sp>
        <p:nvSpPr>
          <p:cNvPr id="13" name="Shape 11"/>
          <p:cNvSpPr/>
          <p:nvPr/>
        </p:nvSpPr>
        <p:spPr>
          <a:xfrm>
            <a:off x="3291840" y="2880360"/>
            <a:ext cx="25603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3291840" y="2880360"/>
            <a:ext cx="54864" cy="1188720"/>
          </a:xfrm>
          <a:prstGeom prst="rect">
            <a:avLst/>
          </a:prstGeom>
          <a:solidFill>
            <a:srgbClr val="D4A84B"/>
          </a:solidFill>
          <a:ln/>
        </p:spPr>
      </p:sp>
      <p:sp>
        <p:nvSpPr>
          <p:cNvPr id="15" name="Text 13"/>
          <p:cNvSpPr/>
          <p:nvPr/>
        </p:nvSpPr>
        <p:spPr>
          <a:xfrm>
            <a:off x="3474720" y="2971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Spiritual &amp; Practical Benefits</a:t>
            </a:r>
            <a:endParaRPr lang="en-US" sz="1300" dirty="0"/>
          </a:p>
        </p:txBody>
      </p:sp>
      <p:sp>
        <p:nvSpPr>
          <p:cNvPr id="16" name="Text 14"/>
          <p:cNvSpPr/>
          <p:nvPr/>
        </p:nvSpPr>
        <p:spPr>
          <a:xfrm>
            <a:off x="3474720" y="3246120"/>
            <a:ext cx="22402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Why belonging transforms recovery: fellowship, accountability, and spiritual growth.</a:t>
            </a:r>
            <a:endParaRPr lang="en-US" sz="1100" dirty="0"/>
          </a:p>
        </p:txBody>
      </p:sp>
      <p:sp>
        <p:nvSpPr>
          <p:cNvPr id="17" name="Shape 15"/>
          <p:cNvSpPr/>
          <p:nvPr/>
        </p:nvSpPr>
        <p:spPr>
          <a:xfrm>
            <a:off x="6126480" y="2880360"/>
            <a:ext cx="25603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6126480" y="2880360"/>
            <a:ext cx="54864" cy="1188720"/>
          </a:xfrm>
          <a:prstGeom prst="rect">
            <a:avLst/>
          </a:prstGeom>
          <a:solidFill>
            <a:srgbClr val="D4A84B"/>
          </a:solidFill>
          <a:ln/>
        </p:spPr>
      </p:sp>
      <p:sp>
        <p:nvSpPr>
          <p:cNvPr id="19" name="Text 17"/>
          <p:cNvSpPr/>
          <p:nvPr/>
        </p:nvSpPr>
        <p:spPr>
          <a:xfrm>
            <a:off x="6309360" y="2971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 &amp; Structure</a:t>
            </a:r>
            <a:endParaRPr lang="en-US" sz="1300" dirty="0"/>
          </a:p>
        </p:txBody>
      </p:sp>
      <p:sp>
        <p:nvSpPr>
          <p:cNvPr id="20" name="Text 18"/>
          <p:cNvSpPr/>
          <p:nvPr/>
        </p:nvSpPr>
        <p:spPr>
          <a:xfrm>
            <a:off x="6309360" y="3246120"/>
            <a:ext cx="22402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Positions, responsibilities, Traditions, group conscience, and AA's service architecture.</a:t>
            </a:r>
            <a:endParaRPr lang="en-US" sz="1100" dirty="0"/>
          </a:p>
        </p:txBody>
      </p:sp>
    </p:spTree>
  </p:cSld>
  <p:clrMapOvr>
    <a:masterClrMapping/>
  </p:clrMapOvr>
  <p:transition spd="med" advClick="1">
    <p:fade thruBlk="1"/>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2</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Historical Evolution</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From living fellowship to structured home groups — the term "home group" does not appear in AA's earliest literature</a:t>
            </a:r>
            <a:endParaRPr lang="en-US" sz="1400" dirty="0"/>
          </a:p>
        </p:txBody>
      </p:sp>
      <p:sp>
        <p:nvSpPr>
          <p:cNvPr id="6" name="Shape 4"/>
          <p:cNvSpPr/>
          <p:nvPr/>
        </p:nvSpPr>
        <p:spPr>
          <a:xfrm>
            <a:off x="457200" y="1874520"/>
            <a:ext cx="182880" cy="182880"/>
          </a:xfrm>
          <a:prstGeom prst="ellipse">
            <a:avLst/>
          </a:prstGeom>
          <a:solidFill>
            <a:srgbClr val="D4A84B"/>
          </a:solidFill>
          <a:ln/>
        </p:spPr>
      </p:sp>
      <p:sp>
        <p:nvSpPr>
          <p:cNvPr id="7" name="Shape 5"/>
          <p:cNvSpPr/>
          <p:nvPr/>
        </p:nvSpPr>
        <p:spPr>
          <a:xfrm>
            <a:off x="539496" y="2057400"/>
            <a:ext cx="0" cy="365760"/>
          </a:xfrm>
          <a:prstGeom prst="line">
            <a:avLst/>
          </a:prstGeom>
          <a:noFill/>
          <a:ln w="19050">
            <a:solidFill>
              <a:srgbClr val="D4A84B"/>
            </a:solidFill>
            <a:prstDash val="solid"/>
          </a:ln>
        </p:spPr>
      </p:sp>
      <p:sp>
        <p:nvSpPr>
          <p:cNvPr id="8" name="Text 6"/>
          <p:cNvSpPr/>
          <p:nvPr/>
        </p:nvSpPr>
        <p:spPr>
          <a:xfrm>
            <a:off x="822960" y="178308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1935–1939</a:t>
            </a:r>
            <a:endParaRPr lang="en-US" sz="1000" dirty="0"/>
          </a:p>
        </p:txBody>
      </p:sp>
      <p:sp>
        <p:nvSpPr>
          <p:cNvPr id="9" name="Text 7"/>
          <p:cNvSpPr/>
          <p:nvPr/>
        </p:nvSpPr>
        <p:spPr>
          <a:xfrm>
            <a:off x="2194560" y="178308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Smith Home Era</a:t>
            </a:r>
            <a:endParaRPr lang="en-US" sz="1100" dirty="0"/>
          </a:p>
        </p:txBody>
      </p:sp>
      <p:sp>
        <p:nvSpPr>
          <p:cNvPr id="10" name="Text 8"/>
          <p:cNvSpPr/>
          <p:nvPr/>
        </p:nvSpPr>
        <p:spPr>
          <a:xfrm>
            <a:off x="2194560" y="201168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Dr. Bob &amp; Anne Smith's residence in Akron — meetings included quiet time, prayer, and Bible readings.</a:t>
            </a:r>
            <a:endParaRPr lang="en-US" sz="1000" dirty="0"/>
          </a:p>
        </p:txBody>
      </p:sp>
      <p:sp>
        <p:nvSpPr>
          <p:cNvPr id="11" name="Shape 9"/>
          <p:cNvSpPr/>
          <p:nvPr/>
        </p:nvSpPr>
        <p:spPr>
          <a:xfrm>
            <a:off x="457200" y="2423160"/>
            <a:ext cx="182880" cy="182880"/>
          </a:xfrm>
          <a:prstGeom prst="ellipse">
            <a:avLst/>
          </a:prstGeom>
          <a:solidFill>
            <a:srgbClr val="D4A84B"/>
          </a:solidFill>
          <a:ln/>
        </p:spPr>
      </p:sp>
      <p:sp>
        <p:nvSpPr>
          <p:cNvPr id="12" name="Shape 10"/>
          <p:cNvSpPr/>
          <p:nvPr/>
        </p:nvSpPr>
        <p:spPr>
          <a:xfrm>
            <a:off x="539496" y="2606040"/>
            <a:ext cx="0" cy="365760"/>
          </a:xfrm>
          <a:prstGeom prst="line">
            <a:avLst/>
          </a:prstGeom>
          <a:noFill/>
          <a:ln w="19050">
            <a:solidFill>
              <a:srgbClr val="D4A84B"/>
            </a:solidFill>
            <a:prstDash val="solid"/>
          </a:ln>
        </p:spPr>
      </p:sp>
      <p:sp>
        <p:nvSpPr>
          <p:cNvPr id="13" name="Text 11"/>
          <p:cNvSpPr/>
          <p:nvPr/>
        </p:nvSpPr>
        <p:spPr>
          <a:xfrm>
            <a:off x="822960" y="233172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May 1939</a:t>
            </a:r>
            <a:endParaRPr lang="en-US" sz="1000" dirty="0"/>
          </a:p>
        </p:txBody>
      </p:sp>
      <p:sp>
        <p:nvSpPr>
          <p:cNvPr id="14" name="Text 12"/>
          <p:cNvSpPr/>
          <p:nvPr/>
        </p:nvSpPr>
        <p:spPr>
          <a:xfrm>
            <a:off x="2194560" y="233172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First Group Named 'AA'</a:t>
            </a:r>
            <a:endParaRPr lang="en-US" sz="1100" dirty="0"/>
          </a:p>
        </p:txBody>
      </p:sp>
      <p:sp>
        <p:nvSpPr>
          <p:cNvPr id="15" name="Text 13"/>
          <p:cNvSpPr/>
          <p:nvPr/>
        </p:nvSpPr>
        <p:spPr>
          <a:xfrm>
            <a:off x="2194560" y="256032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Cleveland, Ohio. Clarence S. described the balance of spiritual foundation and social fellowship.</a:t>
            </a:r>
            <a:endParaRPr lang="en-US" sz="1000" dirty="0"/>
          </a:p>
        </p:txBody>
      </p:sp>
      <p:sp>
        <p:nvSpPr>
          <p:cNvPr id="16" name="Shape 14"/>
          <p:cNvSpPr/>
          <p:nvPr/>
        </p:nvSpPr>
        <p:spPr>
          <a:xfrm>
            <a:off x="457200" y="2971800"/>
            <a:ext cx="182880" cy="182880"/>
          </a:xfrm>
          <a:prstGeom prst="ellipse">
            <a:avLst/>
          </a:prstGeom>
          <a:solidFill>
            <a:srgbClr val="D4A84B"/>
          </a:solidFill>
          <a:ln/>
        </p:spPr>
      </p:sp>
      <p:sp>
        <p:nvSpPr>
          <p:cNvPr id="17" name="Shape 15"/>
          <p:cNvSpPr/>
          <p:nvPr/>
        </p:nvSpPr>
        <p:spPr>
          <a:xfrm>
            <a:off x="539496" y="3154680"/>
            <a:ext cx="0" cy="365760"/>
          </a:xfrm>
          <a:prstGeom prst="line">
            <a:avLst/>
          </a:prstGeom>
          <a:noFill/>
          <a:ln w="19050">
            <a:solidFill>
              <a:srgbClr val="D4A84B"/>
            </a:solidFill>
            <a:prstDash val="solid"/>
          </a:ln>
        </p:spPr>
      </p:sp>
      <p:sp>
        <p:nvSpPr>
          <p:cNvPr id="18" name="Text 16"/>
          <p:cNvSpPr/>
          <p:nvPr/>
        </p:nvSpPr>
        <p:spPr>
          <a:xfrm>
            <a:off x="822960" y="288036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1940</a:t>
            </a:r>
            <a:endParaRPr lang="en-US" sz="1000" dirty="0"/>
          </a:p>
        </p:txBody>
      </p:sp>
      <p:sp>
        <p:nvSpPr>
          <p:cNvPr id="19" name="Text 17"/>
          <p:cNvSpPr/>
          <p:nvPr/>
        </p:nvSpPr>
        <p:spPr>
          <a:xfrm>
            <a:off x="2194560" y="288036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Akron Manual</a:t>
            </a:r>
            <a:endParaRPr lang="en-US" sz="1100" dirty="0"/>
          </a:p>
        </p:txBody>
      </p:sp>
      <p:sp>
        <p:nvSpPr>
          <p:cNvPr id="20" name="Text 18"/>
          <p:cNvSpPr/>
          <p:nvPr/>
        </p:nvSpPr>
        <p:spPr>
          <a:xfrm>
            <a:off x="2194560" y="310896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Earliest documented 'home group' language — written by Dr. Bob's Home Group, Akron AA #1.</a:t>
            </a:r>
            <a:endParaRPr lang="en-US" sz="1000" dirty="0"/>
          </a:p>
        </p:txBody>
      </p:sp>
      <p:sp>
        <p:nvSpPr>
          <p:cNvPr id="21" name="Shape 19"/>
          <p:cNvSpPr/>
          <p:nvPr/>
        </p:nvSpPr>
        <p:spPr>
          <a:xfrm>
            <a:off x="457200" y="3520440"/>
            <a:ext cx="182880" cy="182880"/>
          </a:xfrm>
          <a:prstGeom prst="ellipse">
            <a:avLst/>
          </a:prstGeom>
          <a:solidFill>
            <a:srgbClr val="D4A84B"/>
          </a:solidFill>
          <a:ln/>
        </p:spPr>
      </p:sp>
      <p:sp>
        <p:nvSpPr>
          <p:cNvPr id="22" name="Shape 20"/>
          <p:cNvSpPr/>
          <p:nvPr/>
        </p:nvSpPr>
        <p:spPr>
          <a:xfrm>
            <a:off x="539496" y="3703320"/>
            <a:ext cx="0" cy="365760"/>
          </a:xfrm>
          <a:prstGeom prst="line">
            <a:avLst/>
          </a:prstGeom>
          <a:noFill/>
          <a:ln w="19050">
            <a:solidFill>
              <a:srgbClr val="D4A84B"/>
            </a:solidFill>
            <a:prstDash val="solid"/>
          </a:ln>
        </p:spPr>
      </p:sp>
      <p:sp>
        <p:nvSpPr>
          <p:cNvPr id="23" name="Text 21"/>
          <p:cNvSpPr/>
          <p:nvPr/>
        </p:nvSpPr>
        <p:spPr>
          <a:xfrm>
            <a:off x="822960" y="342900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1946–1950</a:t>
            </a:r>
            <a:endParaRPr lang="en-US" sz="1000" dirty="0"/>
          </a:p>
        </p:txBody>
      </p:sp>
      <p:sp>
        <p:nvSpPr>
          <p:cNvPr id="24" name="Text 22"/>
          <p:cNvSpPr/>
          <p:nvPr/>
        </p:nvSpPr>
        <p:spPr>
          <a:xfrm>
            <a:off x="2194560" y="342900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Twelve Traditions</a:t>
            </a:r>
            <a:endParaRPr lang="en-US" sz="1100" dirty="0"/>
          </a:p>
        </p:txBody>
      </p:sp>
      <p:sp>
        <p:nvSpPr>
          <p:cNvPr id="25" name="Text 23"/>
          <p:cNvSpPr/>
          <p:nvPr/>
        </p:nvSpPr>
        <p:spPr>
          <a:xfrm>
            <a:off x="2194560" y="365760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Bill W. codified decades of group experience into principles governing group relationships.</a:t>
            </a:r>
            <a:endParaRPr lang="en-US" sz="1000" dirty="0"/>
          </a:p>
        </p:txBody>
      </p:sp>
      <p:sp>
        <p:nvSpPr>
          <p:cNvPr id="26" name="Shape 24"/>
          <p:cNvSpPr/>
          <p:nvPr/>
        </p:nvSpPr>
        <p:spPr>
          <a:xfrm>
            <a:off x="457200" y="4069080"/>
            <a:ext cx="182880" cy="182880"/>
          </a:xfrm>
          <a:prstGeom prst="ellipse">
            <a:avLst/>
          </a:prstGeom>
          <a:solidFill>
            <a:srgbClr val="D4A84B"/>
          </a:solidFill>
          <a:ln/>
        </p:spPr>
      </p:sp>
      <p:sp>
        <p:nvSpPr>
          <p:cNvPr id="27" name="Text 25"/>
          <p:cNvSpPr/>
          <p:nvPr/>
        </p:nvSpPr>
        <p:spPr>
          <a:xfrm>
            <a:off x="822960" y="3977640"/>
            <a:ext cx="1371600" cy="274320"/>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1993–Present</a:t>
            </a:r>
            <a:endParaRPr lang="en-US" sz="1000" dirty="0"/>
          </a:p>
        </p:txBody>
      </p:sp>
      <p:sp>
        <p:nvSpPr>
          <p:cNvPr id="28" name="Text 26"/>
          <p:cNvSpPr/>
          <p:nvPr/>
        </p:nvSpPr>
        <p:spPr>
          <a:xfrm>
            <a:off x="2194560" y="397764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Formal Recognition</a:t>
            </a:r>
            <a:endParaRPr lang="en-US" sz="1100" dirty="0"/>
          </a:p>
        </p:txBody>
      </p:sp>
      <p:sp>
        <p:nvSpPr>
          <p:cNvPr id="29" name="Text 27"/>
          <p:cNvSpPr/>
          <p:nvPr/>
        </p:nvSpPr>
        <p:spPr>
          <a:xfrm>
            <a:off x="2194560" y="4206240"/>
            <a:ext cx="6400800" cy="274320"/>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Grapevine 'Home Group' book (1993), permanent department (2000), 30th Anniversary Ed. with virtual meetings.</a:t>
            </a:r>
            <a:endParaRPr lang="en-US" sz="1000" dirty="0"/>
          </a:p>
        </p:txBody>
      </p:sp>
    </p:spTree>
  </p:cSld>
  <p:clrMapOvr>
    <a:masterClrMapping/>
  </p:clrMapOvr>
  <p:transition spd="med" advClick="1">
    <p:fade thruBlk="1"/>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3</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What Distinguishes a Home Group</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from Mere Attendance</a:t>
            </a:r>
            <a:endParaRPr lang="en-US" sz="2600" dirty="0"/>
          </a:p>
        </p:txBody>
      </p:sp>
      <p:sp>
        <p:nvSpPr>
          <p:cNvPr id="5" name="Text 3"/>
          <p:cNvSpPr/>
          <p:nvPr/>
        </p:nvSpPr>
        <p:spPr>
          <a:xfrm>
            <a:off x="457200" y="128016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difference between visiting a place and making it home</a:t>
            </a:r>
            <a:endParaRPr lang="en-US" sz="1400" dirty="0"/>
          </a:p>
        </p:txBody>
      </p:sp>
      <p:sp>
        <p:nvSpPr>
          <p:cNvPr id="6" name="Shape 4"/>
          <p:cNvSpPr/>
          <p:nvPr/>
        </p:nvSpPr>
        <p:spPr>
          <a:xfrm>
            <a:off x="457200" y="1691640"/>
            <a:ext cx="8229600" cy="5943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594360"/>
          </a:xfrm>
          <a:prstGeom prst="rect">
            <a:avLst/>
          </a:prstGeom>
          <a:solidFill>
            <a:srgbClr val="D4A84B"/>
          </a:solidFill>
          <a:ln/>
        </p:spPr>
      </p:sp>
      <p:sp>
        <p:nvSpPr>
          <p:cNvPr id="8" name="Text 6"/>
          <p:cNvSpPr/>
          <p:nvPr/>
        </p:nvSpPr>
        <p:spPr>
          <a:xfrm>
            <a:off x="640080" y="1783080"/>
            <a:ext cx="7909560" cy="4114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"Just as we are members of A.A. if we say we are, so are we members of a group if we say we are."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P-16, page 13 (reflecting Tradition Three)</a:t>
            </a:r>
            <a:endParaRPr lang="en-US" sz="1100" dirty="0"/>
          </a:p>
        </p:txBody>
      </p:sp>
      <p:sp>
        <p:nvSpPr>
          <p:cNvPr id="9" name="Shape 7"/>
          <p:cNvSpPr/>
          <p:nvPr/>
        </p:nvSpPr>
        <p:spPr>
          <a:xfrm>
            <a:off x="457200" y="2468880"/>
            <a:ext cx="2560320" cy="15544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468880"/>
            <a:ext cx="54864" cy="1554480"/>
          </a:xfrm>
          <a:prstGeom prst="rect">
            <a:avLst/>
          </a:prstGeom>
          <a:solidFill>
            <a:srgbClr val="D4A84B"/>
          </a:solidFill>
          <a:ln/>
        </p:spPr>
      </p:sp>
      <p:sp>
        <p:nvSpPr>
          <p:cNvPr id="11" name="Text 9"/>
          <p:cNvSpPr/>
          <p:nvPr/>
        </p:nvSpPr>
        <p:spPr>
          <a:xfrm>
            <a:off x="640080" y="25603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1. Accountability &amp; Expectation</a:t>
            </a:r>
            <a:endParaRPr lang="en-US" sz="1300" dirty="0"/>
          </a:p>
        </p:txBody>
      </p:sp>
      <p:sp>
        <p:nvSpPr>
          <p:cNvPr id="12" name="Text 10"/>
          <p:cNvSpPr/>
          <p:nvPr/>
        </p:nvSpPr>
        <p:spPr>
          <a:xfrm>
            <a:off x="640080" y="2834640"/>
            <a:ext cx="2240280" cy="10972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"Part of my commitment is to show up at my home group meetings, greet newcomers at the door, and be available to them..." — P-16 member testimonial</a:t>
            </a:r>
            <a:endParaRPr lang="en-US" sz="1100" dirty="0"/>
          </a:p>
        </p:txBody>
      </p:sp>
      <p:sp>
        <p:nvSpPr>
          <p:cNvPr id="13" name="Shape 11"/>
          <p:cNvSpPr/>
          <p:nvPr/>
        </p:nvSpPr>
        <p:spPr>
          <a:xfrm>
            <a:off x="3291840" y="2468880"/>
            <a:ext cx="2560320" cy="15544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3291840" y="2468880"/>
            <a:ext cx="54864" cy="1554480"/>
          </a:xfrm>
          <a:prstGeom prst="rect">
            <a:avLst/>
          </a:prstGeom>
          <a:solidFill>
            <a:srgbClr val="D4A84B"/>
          </a:solidFill>
          <a:ln/>
        </p:spPr>
      </p:sp>
      <p:sp>
        <p:nvSpPr>
          <p:cNvPr id="15" name="Text 13"/>
          <p:cNvSpPr/>
          <p:nvPr/>
        </p:nvSpPr>
        <p:spPr>
          <a:xfrm>
            <a:off x="3474720" y="25603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2. Service Responsibility</a:t>
            </a:r>
            <a:endParaRPr lang="en-US" sz="1300" dirty="0"/>
          </a:p>
        </p:txBody>
      </p:sp>
      <p:sp>
        <p:nvSpPr>
          <p:cNvPr id="16" name="Text 14"/>
          <p:cNvSpPr/>
          <p:nvPr/>
        </p:nvSpPr>
        <p:spPr>
          <a:xfrm>
            <a:off x="3474720" y="2834640"/>
            <a:ext cx="2240280" cy="10972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"A.A.'s take turns doing the services needed for group meetings... these services are easy to do, and they do wonders for us." — Living Sober, pp. 14–15</a:t>
            </a:r>
            <a:endParaRPr lang="en-US" sz="1100" dirty="0"/>
          </a:p>
        </p:txBody>
      </p:sp>
      <p:sp>
        <p:nvSpPr>
          <p:cNvPr id="17" name="Shape 15"/>
          <p:cNvSpPr/>
          <p:nvPr/>
        </p:nvSpPr>
        <p:spPr>
          <a:xfrm>
            <a:off x="6126480" y="2468880"/>
            <a:ext cx="2560320" cy="15544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6126480" y="2468880"/>
            <a:ext cx="54864" cy="1554480"/>
          </a:xfrm>
          <a:prstGeom prst="rect">
            <a:avLst/>
          </a:prstGeom>
          <a:solidFill>
            <a:srgbClr val="D4A84B"/>
          </a:solidFill>
          <a:ln/>
        </p:spPr>
      </p:sp>
      <p:sp>
        <p:nvSpPr>
          <p:cNvPr id="19" name="Text 17"/>
          <p:cNvSpPr/>
          <p:nvPr/>
        </p:nvSpPr>
        <p:spPr>
          <a:xfrm>
            <a:off x="6309360" y="25603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3. Voting &amp; Group Conscience</a:t>
            </a:r>
            <a:endParaRPr lang="en-US" sz="1300" dirty="0"/>
          </a:p>
        </p:txBody>
      </p:sp>
      <p:sp>
        <p:nvSpPr>
          <p:cNvPr id="20" name="Text 18"/>
          <p:cNvSpPr/>
          <p:nvPr/>
        </p:nvSpPr>
        <p:spPr>
          <a:xfrm>
            <a:off x="6309360" y="2834640"/>
            <a:ext cx="2240280" cy="10972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"With membership comes the right to vote on issues that might affect the group and A.A. as a whole." — P-16, pp. 15–16</a:t>
            </a:r>
            <a:endParaRPr lang="en-US" sz="1100" dirty="0"/>
          </a:p>
        </p:txBody>
      </p:sp>
    </p:spTree>
  </p:cSld>
  <p:clrMapOvr>
    <a:masterClrMapping/>
  </p:clrMapOvr>
  <p:transition spd="med" advClick="1">
    <p:fade thruBlk="1"/>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4</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Spiritual &amp; Practical Benefits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of Belonging</a:t>
            </a:r>
            <a:endParaRPr lang="en-US" sz="2600" dirty="0"/>
          </a:p>
        </p:txBody>
      </p:sp>
      <p:sp>
        <p:nvSpPr>
          <p:cNvPr id="5" name="Shape 3"/>
          <p:cNvSpPr/>
          <p:nvPr/>
        </p:nvSpPr>
        <p:spPr>
          <a:xfrm>
            <a:off x="457200" y="14173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417320"/>
            <a:ext cx="54864" cy="1371600"/>
          </a:xfrm>
          <a:prstGeom prst="rect">
            <a:avLst/>
          </a:prstGeom>
          <a:solidFill>
            <a:srgbClr val="D4A84B"/>
          </a:solidFill>
          <a:ln/>
        </p:spPr>
      </p:sp>
      <p:sp>
        <p:nvSpPr>
          <p:cNvPr id="7" name="Text 5"/>
          <p:cNvSpPr/>
          <p:nvPr/>
        </p:nvSpPr>
        <p:spPr>
          <a:xfrm>
            <a:off x="640080" y="15087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Spiritual Benefits</a:t>
            </a:r>
            <a:endParaRPr lang="en-US" sz="1300" dirty="0"/>
          </a:p>
        </p:txBody>
      </p:sp>
      <p:sp>
        <p:nvSpPr>
          <p:cNvPr id="8" name="Text 6"/>
          <p:cNvSpPr/>
          <p:nvPr/>
        </p:nvSpPr>
        <p:spPr>
          <a:xfrm>
            <a:off x="640080" y="17830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unity of Alcoholics Anonymous is the most cherished quality our Society has. Our lives, the lives of all to come, depend squarely upon it."</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12&amp;12, p. 129 (Tradition One)</a:t>
            </a:r>
            <a:endParaRPr lang="en-US" sz="1100" dirty="0"/>
          </a:p>
        </p:txBody>
      </p:sp>
      <p:sp>
        <p:nvSpPr>
          <p:cNvPr id="9" name="Shape 7"/>
          <p:cNvSpPr/>
          <p:nvPr/>
        </p:nvSpPr>
        <p:spPr>
          <a:xfrm>
            <a:off x="4754880" y="14173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417320"/>
            <a:ext cx="54864" cy="1371600"/>
          </a:xfrm>
          <a:prstGeom prst="rect">
            <a:avLst/>
          </a:prstGeom>
          <a:solidFill>
            <a:srgbClr val="4CAF50"/>
          </a:solidFill>
          <a:ln/>
        </p:spPr>
      </p:sp>
      <p:sp>
        <p:nvSpPr>
          <p:cNvPr id="11" name="Text 9"/>
          <p:cNvSpPr/>
          <p:nvPr/>
        </p:nvSpPr>
        <p:spPr>
          <a:xfrm>
            <a:off x="4937760" y="15087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Fellowship Benefits</a:t>
            </a:r>
            <a:endParaRPr lang="en-US" sz="1300" dirty="0"/>
          </a:p>
        </p:txBody>
      </p:sp>
      <p:sp>
        <p:nvSpPr>
          <p:cNvPr id="12" name="Text 10"/>
          <p:cNvSpPr/>
          <p:nvPr/>
        </p:nvSpPr>
        <p:spPr>
          <a:xfrm>
            <a:off x="4937760" y="17830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"We are people who normally would not mix. But there exists among us a fellowship... We are like the passengers of a great liner the moment after rescue from shipwreck."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Big Book, p. 17</a:t>
            </a:r>
            <a:endParaRPr lang="en-US" sz="1100" dirty="0"/>
          </a:p>
        </p:txBody>
      </p:sp>
      <p:sp>
        <p:nvSpPr>
          <p:cNvPr id="13" name="Shape 11"/>
          <p:cNvSpPr/>
          <p:nvPr/>
        </p:nvSpPr>
        <p:spPr>
          <a:xfrm>
            <a:off x="457200" y="29718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57200" y="2971800"/>
            <a:ext cx="54864" cy="1188720"/>
          </a:xfrm>
          <a:prstGeom prst="rect">
            <a:avLst/>
          </a:prstGeom>
          <a:solidFill>
            <a:srgbClr val="2C5F8A"/>
          </a:solidFill>
          <a:ln/>
        </p:spPr>
      </p:sp>
      <p:sp>
        <p:nvSpPr>
          <p:cNvPr id="15" name="Text 13"/>
          <p:cNvSpPr/>
          <p:nvPr/>
        </p:nvSpPr>
        <p:spPr>
          <a:xfrm>
            <a:off x="640080" y="30632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Practical Benefits</a:t>
            </a:r>
            <a:endParaRPr lang="en-US" sz="1300" dirty="0"/>
          </a:p>
        </p:txBody>
      </p:sp>
      <p:sp>
        <p:nvSpPr>
          <p:cNvPr id="16" name="Text 14"/>
          <p:cNvSpPr/>
          <p:nvPr/>
        </p:nvSpPr>
        <p:spPr>
          <a:xfrm>
            <a:off x="640080" y="33375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very essence of A.A. strength has remained with our home group, which becomes our extended family. Once isolated by drinking, we find a solid, continuing support system."</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P-16</a:t>
            </a:r>
            <a:endParaRPr lang="en-US" sz="1100" dirty="0"/>
          </a:p>
        </p:txBody>
      </p:sp>
      <p:sp>
        <p:nvSpPr>
          <p:cNvPr id="17" name="Shape 15"/>
          <p:cNvSpPr/>
          <p:nvPr/>
        </p:nvSpPr>
        <p:spPr>
          <a:xfrm>
            <a:off x="4754880" y="29718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754880" y="2971800"/>
            <a:ext cx="54864" cy="1188720"/>
          </a:xfrm>
          <a:prstGeom prst="rect">
            <a:avLst/>
          </a:prstGeom>
          <a:solidFill>
            <a:srgbClr val="B85042"/>
          </a:solidFill>
          <a:ln/>
        </p:spPr>
      </p:sp>
      <p:sp>
        <p:nvSpPr>
          <p:cNvPr id="19" name="Text 17"/>
          <p:cNvSpPr/>
          <p:nvPr/>
        </p:nvSpPr>
        <p:spPr>
          <a:xfrm>
            <a:off x="4937760" y="30632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Reflection Activity</a:t>
            </a:r>
            <a:endParaRPr lang="en-US" sz="1300" dirty="0"/>
          </a:p>
        </p:txBody>
      </p:sp>
      <p:sp>
        <p:nvSpPr>
          <p:cNvPr id="20" name="Text 18"/>
          <p:cNvSpPr/>
          <p:nvPr/>
        </p:nvSpPr>
        <p:spPr>
          <a:xfrm>
            <a:off x="4937760" y="33375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Pair &amp; Share: "What has your home group given you that you could not have gotten by just attending meetings?" (5 minutes)</a:t>
            </a:r>
            <a:endParaRPr lang="en-US" sz="1100" dirty="0"/>
          </a:p>
        </p:txBody>
      </p:sp>
    </p:spTree>
  </p:cSld>
  <p:clrMapOvr>
    <a:masterClrMapping/>
  </p:clrMapOvr>
  <p:transition spd="med" advClick="1">
    <p:fade thruBlk="1"/>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5</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The Home Group &amp; Sponsorship Connection</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A symbiotic relationship — each strengthens the other</a:t>
            </a:r>
            <a:endParaRPr lang="en-US" sz="1400" dirty="0"/>
          </a:p>
        </p:txBody>
      </p:sp>
      <p:sp>
        <p:nvSpPr>
          <p:cNvPr id="6" name="Shape 4"/>
          <p:cNvSpPr/>
          <p:nvPr/>
        </p:nvSpPr>
        <p:spPr>
          <a:xfrm>
            <a:off x="457200" y="1691640"/>
            <a:ext cx="8229600" cy="5943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594360"/>
          </a:xfrm>
          <a:prstGeom prst="rect">
            <a:avLst/>
          </a:prstGeom>
          <a:solidFill>
            <a:srgbClr val="D4A84B"/>
          </a:solidFill>
          <a:ln/>
        </p:spPr>
      </p:sp>
      <p:sp>
        <p:nvSpPr>
          <p:cNvPr id="8" name="Text 6"/>
          <p:cNvSpPr/>
          <p:nvPr/>
        </p:nvSpPr>
        <p:spPr>
          <a:xfrm>
            <a:off x="640080" y="1783080"/>
            <a:ext cx="7909560" cy="4114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"Sponsorship is the bridge enabling the new person to meet other alcoholics — in a home group and other groups visited."</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P-15 "Questions and Answers on Sponsorship"</a:t>
            </a:r>
            <a:endParaRPr lang="en-US" sz="1100" dirty="0"/>
          </a:p>
        </p:txBody>
      </p:sp>
      <p:sp>
        <p:nvSpPr>
          <p:cNvPr id="9" name="Shape 7"/>
          <p:cNvSpPr/>
          <p:nvPr/>
        </p:nvSpPr>
        <p:spPr>
          <a:xfrm>
            <a:off x="457200" y="2468880"/>
            <a:ext cx="39319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468880"/>
            <a:ext cx="54864" cy="914400"/>
          </a:xfrm>
          <a:prstGeom prst="rect">
            <a:avLst/>
          </a:prstGeom>
          <a:solidFill>
            <a:srgbClr val="D4A84B"/>
          </a:solidFill>
          <a:ln/>
        </p:spPr>
      </p:sp>
      <p:sp>
        <p:nvSpPr>
          <p:cNvPr id="11" name="Text 9"/>
          <p:cNvSpPr/>
          <p:nvPr/>
        </p:nvSpPr>
        <p:spPr>
          <a:xfrm>
            <a:off x="640080" y="2560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Guiding Newcomers</a:t>
            </a:r>
            <a:endParaRPr lang="en-US" sz="1300" dirty="0"/>
          </a:p>
        </p:txBody>
      </p:sp>
      <p:sp>
        <p:nvSpPr>
          <p:cNvPr id="12" name="Text 10"/>
          <p:cNvSpPr/>
          <p:nvPr/>
        </p:nvSpPr>
        <p:spPr>
          <a:xfrm>
            <a:off x="640080" y="2834640"/>
            <a:ext cx="36118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P-15 states a sponsor: encourages the newcomer to attend meetings, introduces them to other members, and urges them to join group activities as soon as possible.</a:t>
            </a:r>
            <a:endParaRPr lang="en-US" sz="1100" dirty="0"/>
          </a:p>
        </p:txBody>
      </p:sp>
      <p:sp>
        <p:nvSpPr>
          <p:cNvPr id="13" name="Shape 11"/>
          <p:cNvSpPr/>
          <p:nvPr/>
        </p:nvSpPr>
        <p:spPr>
          <a:xfrm>
            <a:off x="4754880" y="2468880"/>
            <a:ext cx="39319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754880" y="2468880"/>
            <a:ext cx="54864" cy="914400"/>
          </a:xfrm>
          <a:prstGeom prst="rect">
            <a:avLst/>
          </a:prstGeom>
          <a:solidFill>
            <a:srgbClr val="2C5F8A"/>
          </a:solidFill>
          <a:ln/>
        </p:spPr>
      </p:sp>
      <p:sp>
        <p:nvSpPr>
          <p:cNvPr id="15" name="Text 13"/>
          <p:cNvSpPr/>
          <p:nvPr/>
        </p:nvSpPr>
        <p:spPr>
          <a:xfrm>
            <a:off x="4937760" y="2560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 Sponsorship</a:t>
            </a:r>
            <a:endParaRPr lang="en-US" sz="1300" dirty="0"/>
          </a:p>
        </p:txBody>
      </p:sp>
      <p:sp>
        <p:nvSpPr>
          <p:cNvPr id="16" name="Text 14"/>
          <p:cNvSpPr/>
          <p:nvPr/>
        </p:nvSpPr>
        <p:spPr>
          <a:xfrm>
            <a:off x="4937760" y="2834640"/>
            <a:ext cx="36118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P-15 recommends: "The service sponsor begins by encouraging the member to become active in their home group — coffee, literature, cleanup, attending business meetings."</a:t>
            </a:r>
            <a:endParaRPr lang="en-US" sz="1100" dirty="0"/>
          </a:p>
        </p:txBody>
      </p:sp>
      <p:sp>
        <p:nvSpPr>
          <p:cNvPr id="17" name="Shape 15"/>
          <p:cNvSpPr/>
          <p:nvPr/>
        </p:nvSpPr>
        <p:spPr>
          <a:xfrm>
            <a:off x="457200" y="3566160"/>
            <a:ext cx="822960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57200" y="3566160"/>
            <a:ext cx="54864" cy="822960"/>
          </a:xfrm>
          <a:prstGeom prst="rect">
            <a:avLst/>
          </a:prstGeom>
          <a:solidFill>
            <a:srgbClr val="B85042"/>
          </a:solidFill>
          <a:ln/>
        </p:spPr>
      </p:sp>
      <p:sp>
        <p:nvSpPr>
          <p:cNvPr id="19" name="Text 17"/>
          <p:cNvSpPr/>
          <p:nvPr/>
        </p:nvSpPr>
        <p:spPr>
          <a:xfrm>
            <a:off x="640080" y="36576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Real-World Scenario: The Newcomer at the Door</a:t>
            </a:r>
            <a:endParaRPr lang="en-US" sz="1300" dirty="0"/>
          </a:p>
        </p:txBody>
      </p:sp>
      <p:sp>
        <p:nvSpPr>
          <p:cNvPr id="20" name="Text 18"/>
          <p:cNvSpPr/>
          <p:nvPr/>
        </p:nvSpPr>
        <p:spPr>
          <a:xfrm>
            <a:off x="640080" y="3931920"/>
            <a:ext cx="790956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Someone walks in for the first time, shaking, knowing no one. They sit in the back. Nobody talks to them. They never come back.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Now picture the alternative: A greeter meets them, introduces three people, hands them a phone list, invites them for coffee. Which reflects our primary purpose?</a:t>
            </a:r>
            <a:endParaRPr lang="en-US" sz="1100" dirty="0"/>
          </a:p>
        </p:txBody>
      </p:sp>
    </p:spTree>
  </p:cSld>
  <p:clrMapOvr>
    <a:masterClrMapping/>
  </p:clrMapOvr>
  <p:transition spd="med" advClick="1">
    <p:fade thruBlk="1"/>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6</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Home Group Service: Responsibilities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&amp; Positions</a:t>
            </a:r>
            <a:endParaRPr lang="en-US" sz="2600" dirty="0"/>
          </a:p>
        </p:txBody>
      </p:sp>
      <p:sp>
        <p:nvSpPr>
          <p:cNvPr id="5" name="Shape 3"/>
          <p:cNvSpPr/>
          <p:nvPr/>
        </p:nvSpPr>
        <p:spPr>
          <a:xfrm>
            <a:off x="457200" y="1371600"/>
            <a:ext cx="8229600" cy="64008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371600"/>
            <a:ext cx="54864" cy="640080"/>
          </a:xfrm>
          <a:prstGeom prst="rect">
            <a:avLst/>
          </a:prstGeom>
          <a:solidFill>
            <a:srgbClr val="D4A84B"/>
          </a:solidFill>
          <a:ln/>
        </p:spPr>
      </p:sp>
      <p:sp>
        <p:nvSpPr>
          <p:cNvPr id="7" name="Text 5"/>
          <p:cNvSpPr/>
          <p:nvPr/>
        </p:nvSpPr>
        <p:spPr>
          <a:xfrm>
            <a:off x="640080" y="1463040"/>
            <a:ext cx="7909560" cy="45720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"Helping others is the foundation stone of your recovery. A kindly act once in a while isn't enough. You have to act the Good Samaritan every day, if need be."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Big Book, p. 97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194560"/>
          <a:ext cx="8229600" cy="914400"/>
        </p:xfrm>
        <a:graphic>
          <a:graphicData uri="http://schemas.openxmlformats.org/drawingml/2006/table">
            <a:tbl>
              <a:tblPr/>
              <a:tblGrid>
                <a:gridCol w="1828800"/>
                <a:gridCol w="5029200"/>
                <a:gridCol w="1371600"/>
              </a:tblGrid>
              <a:tr h="0">
                <a:tc>
                  <a:txBody>
                    <a:bodyPr/>
                    <a:lstStyle/>
                    <a:p>
                      <a:pPr indent="0" marL="0">
                        <a:buNone/>
                      </a:pPr>
                      <a:r>
                        <a:rPr lang="en-US" sz="1100" b="1" dirty="0">
                          <a:solidFill>
                            <a:srgbClr val="0D1B2A"/>
                          </a:solidFill>
                          <a:latin typeface="Calibri" pitchFamily="34" charset="0"/>
                          <a:ea typeface="Calibri" pitchFamily="34" charset="-122"/>
                          <a:cs typeface="Calibri" pitchFamily="34" charset="-120"/>
                        </a:rPr>
                        <a:t>Position</a:t>
                      </a:r>
                      <a:endParaRPr lang="en-US" sz="11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1100" b="1" dirty="0">
                          <a:solidFill>
                            <a:srgbClr val="0D1B2A"/>
                          </a:solidFill>
                          <a:latin typeface="Calibri" pitchFamily="34" charset="0"/>
                          <a:ea typeface="Calibri" pitchFamily="34" charset="-122"/>
                          <a:cs typeface="Calibri" pitchFamily="34" charset="-120"/>
                        </a:rPr>
                        <a:t>Key Responsibilities</a:t>
                      </a:r>
                      <a:endParaRPr lang="en-US" sz="11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1100" b="1" dirty="0">
                          <a:solidFill>
                            <a:srgbClr val="0D1B2A"/>
                          </a:solidFill>
                          <a:latin typeface="Calibri" pitchFamily="34" charset="0"/>
                          <a:ea typeface="Calibri" pitchFamily="34" charset="-122"/>
                          <a:cs typeface="Calibri" pitchFamily="34" charset="-120"/>
                        </a:rPr>
                        <a:t>Typical Sobriety</a:t>
                      </a:r>
                      <a:endParaRPr lang="en-US" sz="11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Chairperson</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Coordinate activities with other officers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1+ year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Secretary</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Maintain records, announcements, correspondence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6 mo–1 yr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Treasurer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Manage funds and financial records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1–2+ years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GSR</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Group's link to General Service Conference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2–3 years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1000" dirty="0">
                          <a:solidFill>
                            <a:srgbClr val="FFFFFF"/>
                          </a:solidFill>
                          <a:latin typeface="Calibri" pitchFamily="34" charset="0"/>
                          <a:ea typeface="Calibri" pitchFamily="34" charset="-122"/>
                          <a:cs typeface="Calibri" pitchFamily="34" charset="-120"/>
                        </a:rPr>
                        <a:t>Intergroup Rep</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Links group to local intergroup/central office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1000" dirty="0">
                          <a:solidFill>
                            <a:srgbClr val="E8E8E8"/>
                          </a:solidFill>
                          <a:latin typeface="Calibri" pitchFamily="34" charset="0"/>
                          <a:ea typeface="Calibri" pitchFamily="34" charset="-122"/>
                          <a:cs typeface="Calibri" pitchFamily="34" charset="-120"/>
                        </a:rPr>
                        <a:t>1–2 years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bl>
          </a:graphicData>
        </a:graphic>
      </p:graphicFrame>
      <p:sp>
        <p:nvSpPr>
          <p:cNvPr id="9" name="TextBox 8"/>
          <p:cNvSpPr txBox="1"/>
          <p:nvPr/>
        </p:nvSpPr>
        <p:spPr>
          <a:xfrm>
            <a:off x="457200" y="2560320"/>
            <a:ext cx="4114800" cy="2286000"/>
          </a:xfrm>
          <a:prstGeom prst="rect">
            <a:avLst/>
          </a:prstGeom>
          <a:noFill/>
        </p:spPr>
        <p:txBody>
          <a:bodyPr wrap="square">
            <a:spAutoFit/>
          </a:bodyPr>
          <a:lstStyle/>
          <a:p>
            <a:pPr algn="l"/>
            <a:r>
              <a:rPr sz="900" b="0" i="0">
                <a:solidFill>
                  <a:srgbClr val="99AABB"/>
                </a:solidFill>
                <a:latin typeface="Calibri"/>
              </a:rPr>
              <a:t>What AA Group Members Do (P-16, pp. 18-19):
• Provide and maintain a meeting place
• Arrange programs for meetings
• Collect and allocate Seventh Tradition contributions
• Maintain Conference-approved literature
• Provide Grapevine/La Viña materials
• Offer refreshments
• Assist alcoholics in finding meetings
• Answer calls for help
• Air and resolve group problems
• Sustain contact with A.A. locally and internationally</a:t>
            </a:r>
          </a:p>
        </p:txBody>
      </p:sp>
      <p:sp>
        <p:nvSpPr>
          <p:cNvPr id="10" name="TextBox 9"/>
          <p:cNvSpPr txBox="1"/>
          <p:nvPr/>
        </p:nvSpPr>
        <p:spPr>
          <a:xfrm>
            <a:off x="4754880" y="2560320"/>
            <a:ext cx="4114800" cy="2286000"/>
          </a:xfrm>
          <a:prstGeom prst="rect">
            <a:avLst/>
          </a:prstGeom>
          <a:noFill/>
        </p:spPr>
        <p:txBody>
          <a:bodyPr wrap="square">
            <a:spAutoFit/>
          </a:bodyPr>
          <a:lstStyle/>
          <a:p>
            <a:pPr algn="l"/>
            <a:r>
              <a:rPr sz="900" b="0" i="0">
                <a:solidFill>
                  <a:srgbClr val="99AABB"/>
                </a:solidFill>
                <a:latin typeface="Calibri"/>
              </a:rPr>
              <a:t>Core Service Positions (P-16, pp. 19-27):
Chairperson — Coordinate activities (1+ yr sobriety)
Secretary — Records, announcements (6 mo–1 yr)
Treasurer — Manage funds/records (1–2+ yrs)
GSR — Link to General Service Conference (2–3 yrs)
Intergroup Rep — Link to central office (1–2 yrs)
Additional: Grapevine Rep, Literature Rep, CPC, PI,
Corrections, Treatment, Accessibilities liaisons</a:t>
            </a:r>
          </a:p>
        </p:txBody>
      </p:sp>
      <p:sp>
        <p:nvSpPr>
          <p:cNvPr id="11" name="TextBox 10"/>
          <p:cNvSpPr txBox="1"/>
          <p:nvPr/>
        </p:nvSpPr>
        <p:spPr>
          <a:xfrm>
            <a:off x="457200" y="4572000"/>
            <a:ext cx="8229600" cy="365760"/>
          </a:xfrm>
          <a:prstGeom prst="rect">
            <a:avLst/>
          </a:prstGeom>
          <a:noFill/>
        </p:spPr>
        <p:txBody>
          <a:bodyPr wrap="square">
            <a:spAutoFit/>
          </a:bodyPr>
          <a:lstStyle/>
          <a:p>
            <a:pPr algn="l"/>
            <a:r>
              <a:rPr sz="900" b="0" i="1">
                <a:solidFill>
                  <a:srgbClr val="D4A84B"/>
                </a:solidFill>
                <a:latin typeface="Calibri"/>
              </a:rPr>
              <a:t>"In A.A., no one is 'above' or 'below' anyone else." — Living Sober, p. 15</a:t>
            </a:r>
          </a:p>
        </p:txBody>
      </p:sp>
    </p:spTree>
  </p:cSld>
  <p:clrMapOvr>
    <a:masterClrMapping/>
  </p:clrMapOvr>
  <p:transition spd="med" advClick="1">
    <p:fade thruBlk="1"/>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7</a:t>
            </a:r>
            <a:endParaRPr lang="en-US" sz="1000" dirty="0"/>
          </a:p>
        </p:txBody>
      </p:sp>
      <p:sp>
        <p:nvSpPr>
          <p:cNvPr id="4" name="Text 2"/>
          <p:cNvSpPr/>
          <p:nvPr/>
        </p:nvSpPr>
        <p:spPr>
          <a:xfrm>
            <a:off x="457200" y="59436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The Home Group Within AA's</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"Upside-Down" Service Structure</a:t>
            </a:r>
            <a:endParaRPr lang="en-US" sz="2400" dirty="0"/>
          </a:p>
        </p:txBody>
      </p:sp>
      <p:sp>
        <p:nvSpPr>
          <p:cNvPr id="5" name="Shape 3"/>
          <p:cNvSpPr/>
          <p:nvPr/>
        </p:nvSpPr>
        <p:spPr>
          <a:xfrm>
            <a:off x="457200" y="1325880"/>
            <a:ext cx="8229600" cy="5486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325880"/>
            <a:ext cx="54864" cy="548640"/>
          </a:xfrm>
          <a:prstGeom prst="rect">
            <a:avLst/>
          </a:prstGeom>
          <a:solidFill>
            <a:srgbClr val="D4A84B"/>
          </a:solidFill>
          <a:ln/>
        </p:spPr>
      </p:sp>
      <p:sp>
        <p:nvSpPr>
          <p:cNvPr id="7" name="Text 5"/>
          <p:cNvSpPr/>
          <p:nvPr/>
        </p:nvSpPr>
        <p:spPr>
          <a:xfrm>
            <a:off x="640080" y="1417320"/>
            <a:ext cx="7909560" cy="3657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"Alcoholics Anonymous has been called an upside-down organization because the groups are on top and the service entities are at the bottom."</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AA Service Manual, p. S15</a:t>
            </a:r>
            <a:endParaRPr lang="en-US" sz="1100" dirty="0"/>
          </a:p>
        </p:txBody>
      </p:sp>
      <p:sp>
        <p:nvSpPr>
          <p:cNvPr id="8" name="Shape 6"/>
          <p:cNvSpPr/>
          <p:nvPr/>
        </p:nvSpPr>
        <p:spPr>
          <a:xfrm>
            <a:off x="685800" y="2057400"/>
            <a:ext cx="7772400" cy="365760"/>
          </a:xfrm>
          <a:prstGeom prst="rect">
            <a:avLst/>
          </a:prstGeom>
          <a:solidFill>
            <a:srgbClr val="D4A84B"/>
          </a:solidFill>
          <a:ln/>
        </p:spPr>
      </p:sp>
      <p:sp>
        <p:nvSpPr>
          <p:cNvPr id="9" name="Text 7"/>
          <p:cNvSpPr/>
          <p:nvPr/>
        </p:nvSpPr>
        <p:spPr>
          <a:xfrm>
            <a:off x="685800" y="2057400"/>
            <a:ext cx="7772400" cy="365760"/>
          </a:xfrm>
          <a:prstGeom prst="rect">
            <a:avLst/>
          </a:prstGeom>
          <a:noFill/>
          <a:ln/>
        </p:spPr>
        <p:txBody>
          <a:bodyPr wrap="square"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A.A. GROUPS — Ultimate Authority</a:t>
            </a:r>
            <a:endParaRPr lang="en-US" sz="1000" dirty="0"/>
          </a:p>
        </p:txBody>
      </p:sp>
      <p:sp>
        <p:nvSpPr>
          <p:cNvPr id="10" name="Shape 8"/>
          <p:cNvSpPr/>
          <p:nvPr/>
        </p:nvSpPr>
        <p:spPr>
          <a:xfrm>
            <a:off x="1371600" y="2514600"/>
            <a:ext cx="6400800" cy="365760"/>
          </a:xfrm>
          <a:prstGeom prst="rect">
            <a:avLst/>
          </a:prstGeom>
          <a:solidFill>
            <a:srgbClr val="2C5F8A"/>
          </a:solidFill>
          <a:ln/>
        </p:spPr>
      </p:sp>
      <p:sp>
        <p:nvSpPr>
          <p:cNvPr id="11" name="Text 9"/>
          <p:cNvSpPr/>
          <p:nvPr/>
        </p:nvSpPr>
        <p:spPr>
          <a:xfrm>
            <a:off x="1371600" y="2514600"/>
            <a:ext cx="640080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Group GSRs (General Service Representatives)</a:t>
            </a:r>
            <a:endParaRPr lang="en-US" sz="1000" dirty="0"/>
          </a:p>
        </p:txBody>
      </p:sp>
      <p:sp>
        <p:nvSpPr>
          <p:cNvPr id="12" name="Shape 10"/>
          <p:cNvSpPr/>
          <p:nvPr/>
        </p:nvSpPr>
        <p:spPr>
          <a:xfrm>
            <a:off x="2057400" y="2971800"/>
            <a:ext cx="5029200" cy="365760"/>
          </a:xfrm>
          <a:prstGeom prst="rect">
            <a:avLst/>
          </a:prstGeom>
          <a:solidFill>
            <a:srgbClr val="1A3A5C"/>
          </a:solidFill>
          <a:ln/>
        </p:spPr>
      </p:sp>
      <p:sp>
        <p:nvSpPr>
          <p:cNvPr id="13" name="Text 11"/>
          <p:cNvSpPr/>
          <p:nvPr/>
        </p:nvSpPr>
        <p:spPr>
          <a:xfrm>
            <a:off x="2057400" y="2971800"/>
            <a:ext cx="5029200" cy="36576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Districts (DCMs)</a:t>
            </a:r>
            <a:endParaRPr lang="en-US" sz="1000" dirty="0"/>
          </a:p>
        </p:txBody>
      </p:sp>
      <p:sp>
        <p:nvSpPr>
          <p:cNvPr id="14" name="Shape 12"/>
          <p:cNvSpPr/>
          <p:nvPr/>
        </p:nvSpPr>
        <p:spPr>
          <a:xfrm>
            <a:off x="2743200" y="3429000"/>
            <a:ext cx="3657600" cy="365760"/>
          </a:xfrm>
          <a:prstGeom prst="rect">
            <a:avLst/>
          </a:prstGeom>
          <a:solidFill>
            <a:srgbClr val="13293D"/>
          </a:solidFill>
          <a:ln/>
        </p:spPr>
      </p:sp>
      <p:sp>
        <p:nvSpPr>
          <p:cNvPr id="15" name="Text 13"/>
          <p:cNvSpPr/>
          <p:nvPr/>
        </p:nvSpPr>
        <p:spPr>
          <a:xfrm>
            <a:off x="2743200" y="3429000"/>
            <a:ext cx="3657600" cy="365760"/>
          </a:xfrm>
          <a:prstGeom prst="rect">
            <a:avLst/>
          </a:prstGeom>
          <a:noFill/>
          <a:ln/>
        </p:spPr>
        <p:txBody>
          <a:bodyPr wrap="square" rtlCol="0" anchor="ctr"/>
          <a:lstStyle/>
          <a:p>
            <a:pPr algn="ctr" indent="0" marL="0">
              <a:buNone/>
            </a:pPr>
            <a:r>
              <a:rPr lang="en-US" sz="1000" dirty="0">
                <a:solidFill>
                  <a:srgbClr val="E8E8E8"/>
                </a:solidFill>
                <a:latin typeface="Calibri" pitchFamily="34" charset="0"/>
                <a:ea typeface="Calibri" pitchFamily="34" charset="-122"/>
                <a:cs typeface="Calibri" pitchFamily="34" charset="-120"/>
              </a:rPr>
              <a:t>Area Assemblies</a:t>
            </a:r>
            <a:endParaRPr lang="en-US" sz="1000" dirty="0"/>
          </a:p>
        </p:txBody>
      </p:sp>
      <p:sp>
        <p:nvSpPr>
          <p:cNvPr id="16" name="Shape 14"/>
          <p:cNvSpPr/>
          <p:nvPr/>
        </p:nvSpPr>
        <p:spPr>
          <a:xfrm>
            <a:off x="3200400" y="3886200"/>
            <a:ext cx="2743200" cy="365760"/>
          </a:xfrm>
          <a:prstGeom prst="rect">
            <a:avLst/>
          </a:prstGeom>
          <a:solidFill>
            <a:srgbClr val="0D1B2A"/>
          </a:solidFill>
          <a:ln/>
        </p:spPr>
      </p:sp>
      <p:sp>
        <p:nvSpPr>
          <p:cNvPr id="17" name="Text 15"/>
          <p:cNvSpPr/>
          <p:nvPr/>
        </p:nvSpPr>
        <p:spPr>
          <a:xfrm>
            <a:off x="3200400" y="3886200"/>
            <a:ext cx="2743200" cy="36576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General Service Conference → Board → AAWS</a:t>
            </a:r>
            <a:endParaRPr lang="en-US" sz="1000" dirty="0"/>
          </a:p>
        </p:txBody>
      </p:sp>
      <p:sp>
        <p:nvSpPr>
          <p:cNvPr id="18" name="Text 16"/>
          <p:cNvSpPr/>
          <p:nvPr/>
        </p:nvSpPr>
        <p:spPr>
          <a:xfrm>
            <a:off x="457200" y="4160520"/>
            <a:ext cx="8229600" cy="365760"/>
          </a:xfrm>
          <a:prstGeom prst="rect">
            <a:avLst/>
          </a:prstGeom>
          <a:noFill/>
          <a:ln/>
        </p:spPr>
        <p:txBody>
          <a:bodyPr wrap="square" rtlCol="0" anchor="ctr"/>
          <a:lstStyle/>
          <a:p>
            <a:pPr algn="ctr" indent="0" marL="0">
              <a:buNone/>
            </a:pPr>
            <a:r>
              <a:rPr lang="en-US" sz="1000" i="1" dirty="0">
                <a:solidFill>
                  <a:srgbClr val="F5E6C8"/>
                </a:solidFill>
                <a:latin typeface="Calibri" pitchFamily="34" charset="0"/>
                <a:ea typeface="Calibri" pitchFamily="34" charset="-122"/>
                <a:cs typeface="Calibri" pitchFamily="34" charset="-120"/>
              </a:rPr>
              <a:t>"The final responsibility and the ultimate authority for A.A. world services should always reside in the collective conscience of our whole Fellowship." — Concept I</a:t>
            </a:r>
            <a:endParaRPr lang="en-US" sz="1000" dirty="0"/>
          </a:p>
        </p:txBody>
      </p:sp>
    </p:spTree>
  </p:cSld>
  <p:clrMapOvr>
    <a:masterClrMapping/>
  </p:clrMapOvr>
  <p:transition spd="med" advClick="1">
    <p:fade thruBlk="1"/>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8</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Twelve Traditions as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Home Group Guidance</a:t>
            </a:r>
            <a:endParaRPr lang="en-US" sz="2600" dirty="0"/>
          </a:p>
        </p:txBody>
      </p:sp>
      <p:sp>
        <p:nvSpPr>
          <p:cNvPr id="5" name="Shape 3"/>
          <p:cNvSpPr/>
          <p:nvPr/>
        </p:nvSpPr>
        <p:spPr>
          <a:xfrm>
            <a:off x="457200" y="1463040"/>
            <a:ext cx="411480" cy="411480"/>
          </a:xfrm>
          <a:prstGeom prst="ellipse">
            <a:avLst/>
          </a:prstGeom>
          <a:solidFill>
            <a:srgbClr val="D4A84B"/>
          </a:solidFill>
          <a:ln/>
        </p:spPr>
      </p:sp>
      <p:sp>
        <p:nvSpPr>
          <p:cNvPr id="6" name="Text 4"/>
          <p:cNvSpPr/>
          <p:nvPr/>
        </p:nvSpPr>
        <p:spPr>
          <a:xfrm>
            <a:off x="457200" y="146304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051560" y="141732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Unity</a:t>
            </a:r>
            <a:endParaRPr lang="en-US" sz="1300" dirty="0"/>
          </a:p>
        </p:txBody>
      </p:sp>
      <p:sp>
        <p:nvSpPr>
          <p:cNvPr id="8" name="Text 6"/>
          <p:cNvSpPr/>
          <p:nvPr/>
        </p:nvSpPr>
        <p:spPr>
          <a:xfrm>
            <a:off x="1051560" y="167335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Common welfare comes first; individual welfare follows close afterward.</a:t>
            </a:r>
            <a:endParaRPr lang="en-US" sz="1050" dirty="0"/>
          </a:p>
        </p:txBody>
      </p:sp>
      <p:sp>
        <p:nvSpPr>
          <p:cNvPr id="9" name="Shape 7"/>
          <p:cNvSpPr/>
          <p:nvPr/>
        </p:nvSpPr>
        <p:spPr>
          <a:xfrm>
            <a:off x="457200" y="2057400"/>
            <a:ext cx="411480" cy="411480"/>
          </a:xfrm>
          <a:prstGeom prst="ellipse">
            <a:avLst/>
          </a:prstGeom>
          <a:solidFill>
            <a:srgbClr val="D4A84B"/>
          </a:solidFill>
          <a:ln/>
        </p:spPr>
      </p:sp>
      <p:sp>
        <p:nvSpPr>
          <p:cNvPr id="10" name="Text 8"/>
          <p:cNvSpPr/>
          <p:nvPr/>
        </p:nvSpPr>
        <p:spPr>
          <a:xfrm>
            <a:off x="457200" y="205740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051560" y="201168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Group Conscience</a:t>
            </a:r>
            <a:endParaRPr lang="en-US" sz="1300" dirty="0"/>
          </a:p>
        </p:txBody>
      </p:sp>
      <p:sp>
        <p:nvSpPr>
          <p:cNvPr id="12" name="Text 10"/>
          <p:cNvSpPr/>
          <p:nvPr/>
        </p:nvSpPr>
        <p:spPr>
          <a:xfrm>
            <a:off x="1051560" y="226771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One ultimate authority — a loving God as expressed in group conscience.</a:t>
            </a:r>
            <a:endParaRPr lang="en-US" sz="1050" dirty="0"/>
          </a:p>
        </p:txBody>
      </p:sp>
      <p:sp>
        <p:nvSpPr>
          <p:cNvPr id="13" name="Shape 11"/>
          <p:cNvSpPr/>
          <p:nvPr/>
        </p:nvSpPr>
        <p:spPr>
          <a:xfrm>
            <a:off x="457200" y="2651760"/>
            <a:ext cx="411480" cy="411480"/>
          </a:xfrm>
          <a:prstGeom prst="ellipse">
            <a:avLst/>
          </a:prstGeom>
          <a:solidFill>
            <a:srgbClr val="D4A84B"/>
          </a:solidFill>
          <a:ln/>
        </p:spPr>
      </p:sp>
      <p:sp>
        <p:nvSpPr>
          <p:cNvPr id="14" name="Text 12"/>
          <p:cNvSpPr/>
          <p:nvPr/>
        </p:nvSpPr>
        <p:spPr>
          <a:xfrm>
            <a:off x="457200" y="265176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051560" y="260604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Membership</a:t>
            </a:r>
            <a:endParaRPr lang="en-US" sz="1300" dirty="0"/>
          </a:p>
        </p:txBody>
      </p:sp>
      <p:sp>
        <p:nvSpPr>
          <p:cNvPr id="16" name="Text 14"/>
          <p:cNvSpPr/>
          <p:nvPr/>
        </p:nvSpPr>
        <p:spPr>
          <a:xfrm>
            <a:off x="1051560" y="286207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The only requirement is a desire to stop drinking.</a:t>
            </a:r>
            <a:endParaRPr lang="en-US" sz="1050" dirty="0"/>
          </a:p>
        </p:txBody>
      </p:sp>
      <p:sp>
        <p:nvSpPr>
          <p:cNvPr id="17" name="Shape 15"/>
          <p:cNvSpPr/>
          <p:nvPr/>
        </p:nvSpPr>
        <p:spPr>
          <a:xfrm>
            <a:off x="457200" y="3246120"/>
            <a:ext cx="411480" cy="411480"/>
          </a:xfrm>
          <a:prstGeom prst="ellipse">
            <a:avLst/>
          </a:prstGeom>
          <a:solidFill>
            <a:srgbClr val="D4A84B"/>
          </a:solidFill>
          <a:ln/>
        </p:spPr>
      </p:sp>
      <p:sp>
        <p:nvSpPr>
          <p:cNvPr id="18" name="Text 16"/>
          <p:cNvSpPr/>
          <p:nvPr/>
        </p:nvSpPr>
        <p:spPr>
          <a:xfrm>
            <a:off x="457200" y="324612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51560" y="320040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Autonomy</a:t>
            </a:r>
            <a:endParaRPr lang="en-US" sz="1300" dirty="0"/>
          </a:p>
        </p:txBody>
      </p:sp>
      <p:sp>
        <p:nvSpPr>
          <p:cNvPr id="20" name="Text 18"/>
          <p:cNvSpPr/>
          <p:nvPr/>
        </p:nvSpPr>
        <p:spPr>
          <a:xfrm>
            <a:off x="1051560" y="345643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Each group is self-governing except in matters affecting others or AA as a whole.</a:t>
            </a:r>
            <a:endParaRPr lang="en-US" sz="1050" dirty="0"/>
          </a:p>
        </p:txBody>
      </p:sp>
      <p:sp>
        <p:nvSpPr>
          <p:cNvPr id="21" name="Shape 19"/>
          <p:cNvSpPr/>
          <p:nvPr/>
        </p:nvSpPr>
        <p:spPr>
          <a:xfrm>
            <a:off x="457200" y="3840480"/>
            <a:ext cx="411480" cy="411480"/>
          </a:xfrm>
          <a:prstGeom prst="ellipse">
            <a:avLst/>
          </a:prstGeom>
          <a:solidFill>
            <a:srgbClr val="D4A84B"/>
          </a:solidFill>
          <a:ln/>
        </p:spPr>
      </p:sp>
      <p:sp>
        <p:nvSpPr>
          <p:cNvPr id="22" name="Text 20"/>
          <p:cNvSpPr/>
          <p:nvPr/>
        </p:nvSpPr>
        <p:spPr>
          <a:xfrm>
            <a:off x="457200" y="3840480"/>
            <a:ext cx="411480" cy="411480"/>
          </a:xfrm>
          <a:prstGeom prst="rect">
            <a:avLst/>
          </a:prstGeom>
          <a:noFill/>
          <a:ln/>
        </p:spPr>
        <p:txBody>
          <a:bodyPr wrap="square" rtlCol="0" anchor="ctr"/>
          <a:lstStyle/>
          <a:p>
            <a:pPr algn="ctr" indent="0" marL="0">
              <a:buNone/>
            </a:pPr>
            <a:r>
              <a:rPr lang="en-US" sz="1600" b="1" dirty="0">
                <a:solidFill>
                  <a:srgbClr val="0D1B2A"/>
                </a:solidFill>
                <a:latin typeface="Georgia" pitchFamily="34" charset="0"/>
                <a:ea typeface="Georgia" pitchFamily="34" charset="-122"/>
                <a:cs typeface="Georgia" pitchFamily="34" charset="-120"/>
              </a:rPr>
              <a:t>5</a:t>
            </a:r>
            <a:endParaRPr lang="en-US" sz="1600" dirty="0"/>
          </a:p>
        </p:txBody>
      </p:sp>
      <p:sp>
        <p:nvSpPr>
          <p:cNvPr id="23" name="Text 21"/>
          <p:cNvSpPr/>
          <p:nvPr/>
        </p:nvSpPr>
        <p:spPr>
          <a:xfrm>
            <a:off x="1051560" y="3794760"/>
            <a:ext cx="1828800" cy="256032"/>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Primary Purpose</a:t>
            </a:r>
            <a:endParaRPr lang="en-US" sz="1300" dirty="0"/>
          </a:p>
        </p:txBody>
      </p:sp>
      <p:sp>
        <p:nvSpPr>
          <p:cNvPr id="24" name="Text 22"/>
          <p:cNvSpPr/>
          <p:nvPr/>
        </p:nvSpPr>
        <p:spPr>
          <a:xfrm>
            <a:off x="1051560" y="4050792"/>
            <a:ext cx="7498080" cy="256032"/>
          </a:xfrm>
          <a:prstGeom prst="rect">
            <a:avLst/>
          </a:prstGeom>
          <a:noFill/>
          <a:ln/>
        </p:spPr>
        <p:txBody>
          <a:bodyPr wrap="square" lIns="0" tIns="0" rIns="0" bIns="0" rtlCol="0" anchor="ctr"/>
          <a:lstStyle/>
          <a:p>
            <a:pPr indent="0" marL="0">
              <a:buNone/>
            </a:pPr>
            <a:r>
              <a:rPr lang="en-US" sz="1050" dirty="0">
                <a:solidFill>
                  <a:srgbClr val="E8E8E8"/>
                </a:solidFill>
                <a:latin typeface="Calibri" pitchFamily="34" charset="0"/>
                <a:ea typeface="Calibri" pitchFamily="34" charset="-122"/>
                <a:cs typeface="Calibri" pitchFamily="34" charset="-120"/>
              </a:rPr>
              <a:t>Each group has but one primary purpose — to carry its message to the alcoholic who still suffers.</a:t>
            </a:r>
            <a:endParaRPr lang="en-US" sz="1050" dirty="0"/>
          </a:p>
        </p:txBody>
      </p:sp>
      <p:sp>
        <p:nvSpPr>
          <p:cNvPr id="25" name="Text 23"/>
          <p:cNvSpPr/>
          <p:nvPr/>
        </p:nvSpPr>
        <p:spPr>
          <a:xfrm>
            <a:off x="457200" y="4251960"/>
            <a:ext cx="8229600" cy="320040"/>
          </a:xfrm>
          <a:prstGeom prst="rect">
            <a:avLst/>
          </a:prstGeom>
          <a:noFill/>
          <a:ln/>
        </p:spPr>
        <p:txBody>
          <a:bodyPr wrap="square" rtlCol="0" anchor="ctr"/>
          <a:lstStyle/>
          <a:p>
            <a:pPr indent="0" marL="0">
              <a:buNone/>
            </a:pPr>
            <a:r>
              <a:rPr lang="en-US" sz="1000" i="1" dirty="0">
                <a:solidFill>
                  <a:srgbClr val="F5E6C8"/>
                </a:solidFill>
                <a:latin typeface="Calibri" pitchFamily="34" charset="0"/>
                <a:ea typeface="Calibri" pitchFamily="34" charset="-122"/>
                <a:cs typeface="Calibri" pitchFamily="34" charset="-120"/>
              </a:rPr>
              <a:t>Group Activity (5 min): "Which of these five Traditions has your home group struggled with the most? Share with your table and identify one concrete example."</a:t>
            </a:r>
            <a:endParaRPr lang="en-US" sz="1000" dirty="0"/>
          </a:p>
        </p:txBody>
      </p:sp>
    </p:spTree>
  </p:cSld>
  <p:clrMapOvr>
    <a:masterClrMapping/>
  </p:clrMapOvr>
  <p:transition spd="med" advClick="1">
    <p:fade thruBlk="1"/>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274320"/>
            <a:ext cx="1271016" cy="320040"/>
          </a:xfrm>
          <a:prstGeom prst="roundRect">
            <a:avLst>
              <a:gd name="adj" fmla="val 14286"/>
            </a:avLst>
          </a:prstGeom>
          <a:solidFill>
            <a:srgbClr val="D4A84B"/>
          </a:solidFill>
          <a:ln/>
        </p:spPr>
      </p:sp>
      <p:sp>
        <p:nvSpPr>
          <p:cNvPr id="3" name="Text 1"/>
          <p:cNvSpPr/>
          <p:nvPr/>
        </p:nvSpPr>
        <p:spPr>
          <a:xfrm>
            <a:off x="457200" y="274320"/>
            <a:ext cx="127101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9</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Participating in Informed</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Group Conscience</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process that distinguishes AA from other organizations</a:t>
            </a:r>
            <a:endParaRPr lang="en-US" sz="1400" dirty="0"/>
          </a:p>
        </p:txBody>
      </p:sp>
      <p:sp>
        <p:nvSpPr>
          <p:cNvPr id="6" name="Shape 4"/>
          <p:cNvSpPr/>
          <p:nvPr/>
        </p:nvSpPr>
        <p:spPr>
          <a:xfrm>
            <a:off x="457200" y="1600200"/>
            <a:ext cx="8229600" cy="5486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548640"/>
          </a:xfrm>
          <a:prstGeom prst="rect">
            <a:avLst/>
          </a:prstGeom>
          <a:solidFill>
            <a:srgbClr val="D4A84B"/>
          </a:solidFill>
          <a:ln/>
        </p:spPr>
      </p:sp>
      <p:sp>
        <p:nvSpPr>
          <p:cNvPr id="8" name="Text 6"/>
          <p:cNvSpPr/>
          <p:nvPr/>
        </p:nvSpPr>
        <p:spPr>
          <a:xfrm>
            <a:off x="640080" y="1691640"/>
            <a:ext cx="7909560" cy="3657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"The 'group conscience' is the collective conscience of the group membership and thus represents substantial unanimity on an issue before definitive action is taken."</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P-16, pp. 28–30</a:t>
            </a:r>
            <a:endParaRPr lang="en-US" sz="1100" dirty="0"/>
          </a:p>
        </p:txBody>
      </p:sp>
      <p:sp>
        <p:nvSpPr>
          <p:cNvPr id="9" name="Shape 7"/>
          <p:cNvSpPr/>
          <p:nvPr/>
        </p:nvSpPr>
        <p:spPr>
          <a:xfrm>
            <a:off x="457200" y="233172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57200" y="2331720"/>
            <a:ext cx="54864" cy="822960"/>
          </a:xfrm>
          <a:prstGeom prst="rect">
            <a:avLst/>
          </a:prstGeom>
          <a:solidFill>
            <a:srgbClr val="D4A84B"/>
          </a:solidFill>
          <a:ln/>
        </p:spPr>
      </p:sp>
      <p:sp>
        <p:nvSpPr>
          <p:cNvPr id="11" name="Text 9"/>
          <p:cNvSpPr/>
          <p:nvPr/>
        </p:nvSpPr>
        <p:spPr>
          <a:xfrm>
            <a:off x="640080" y="2423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Information Gathering</a:t>
            </a:r>
            <a:endParaRPr lang="en-US" sz="1300" dirty="0"/>
          </a:p>
        </p:txBody>
      </p:sp>
      <p:sp>
        <p:nvSpPr>
          <p:cNvPr id="12" name="Text 10"/>
          <p:cNvSpPr/>
          <p:nvPr/>
        </p:nvSpPr>
        <p:spPr>
          <a:xfrm>
            <a:off x="640080" y="269748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All pertinent facts presented before discussion begins.</a:t>
            </a:r>
            <a:endParaRPr lang="en-US" sz="1100" dirty="0"/>
          </a:p>
        </p:txBody>
      </p:sp>
      <p:sp>
        <p:nvSpPr>
          <p:cNvPr id="13" name="Shape 11"/>
          <p:cNvSpPr/>
          <p:nvPr/>
        </p:nvSpPr>
        <p:spPr>
          <a:xfrm>
            <a:off x="4754880" y="233172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754880" y="2331720"/>
            <a:ext cx="54864" cy="822960"/>
          </a:xfrm>
          <a:prstGeom prst="rect">
            <a:avLst/>
          </a:prstGeom>
          <a:solidFill>
            <a:srgbClr val="D4A84B"/>
          </a:solidFill>
          <a:ln/>
        </p:spPr>
      </p:sp>
      <p:sp>
        <p:nvSpPr>
          <p:cNvPr id="15" name="Text 13"/>
          <p:cNvSpPr/>
          <p:nvPr/>
        </p:nvSpPr>
        <p:spPr>
          <a:xfrm>
            <a:off x="4937760" y="2423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Full Discussion</a:t>
            </a:r>
            <a:endParaRPr lang="en-US" sz="1300" dirty="0"/>
          </a:p>
        </p:txBody>
      </p:sp>
      <p:sp>
        <p:nvSpPr>
          <p:cNvPr id="16" name="Text 14"/>
          <p:cNvSpPr/>
          <p:nvPr/>
        </p:nvSpPr>
        <p:spPr>
          <a:xfrm>
            <a:off x="4937760" y="269748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All views heard, including minority opinions.</a:t>
            </a:r>
            <a:endParaRPr lang="en-US" sz="1100" dirty="0"/>
          </a:p>
        </p:txBody>
      </p:sp>
      <p:sp>
        <p:nvSpPr>
          <p:cNvPr id="17" name="Shape 15"/>
          <p:cNvSpPr/>
          <p:nvPr/>
        </p:nvSpPr>
        <p:spPr>
          <a:xfrm>
            <a:off x="457200" y="329184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57200" y="3291840"/>
            <a:ext cx="54864" cy="822960"/>
          </a:xfrm>
          <a:prstGeom prst="rect">
            <a:avLst/>
          </a:prstGeom>
          <a:solidFill>
            <a:srgbClr val="D4A84B"/>
          </a:solidFill>
          <a:ln/>
        </p:spPr>
      </p:sp>
      <p:sp>
        <p:nvSpPr>
          <p:cNvPr id="19" name="Text 17"/>
          <p:cNvSpPr/>
          <p:nvPr/>
        </p:nvSpPr>
        <p:spPr>
          <a:xfrm>
            <a:off x="640080" y="33832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Deliberation Time</a:t>
            </a:r>
            <a:endParaRPr lang="en-US" sz="1300" dirty="0"/>
          </a:p>
        </p:txBody>
      </p:sp>
      <p:sp>
        <p:nvSpPr>
          <p:cNvPr id="20" name="Text 18"/>
          <p:cNvSpPr/>
          <p:nvPr/>
        </p:nvSpPr>
        <p:spPr>
          <a:xfrm>
            <a:off x="640080" y="365760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rush — some groups table important issues for reflection.</a:t>
            </a:r>
            <a:endParaRPr lang="en-US" sz="1100" dirty="0"/>
          </a:p>
        </p:txBody>
      </p:sp>
      <p:sp>
        <p:nvSpPr>
          <p:cNvPr id="21" name="Shape 19"/>
          <p:cNvSpPr/>
          <p:nvPr/>
        </p:nvSpPr>
        <p:spPr>
          <a:xfrm>
            <a:off x="4754880" y="3291840"/>
            <a:ext cx="393192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2" name="Shape 20"/>
          <p:cNvSpPr/>
          <p:nvPr/>
        </p:nvSpPr>
        <p:spPr>
          <a:xfrm>
            <a:off x="4754880" y="3291840"/>
            <a:ext cx="54864" cy="822960"/>
          </a:xfrm>
          <a:prstGeom prst="rect">
            <a:avLst/>
          </a:prstGeom>
          <a:solidFill>
            <a:srgbClr val="D4A84B"/>
          </a:solidFill>
          <a:ln/>
        </p:spPr>
      </p:sp>
      <p:sp>
        <p:nvSpPr>
          <p:cNvPr id="23" name="Text 21"/>
          <p:cNvSpPr/>
          <p:nvPr/>
        </p:nvSpPr>
        <p:spPr>
          <a:xfrm>
            <a:off x="4937760" y="33832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Substantial Unanimity</a:t>
            </a:r>
            <a:endParaRPr lang="en-US" sz="1300" dirty="0"/>
          </a:p>
        </p:txBody>
      </p:sp>
      <p:sp>
        <p:nvSpPr>
          <p:cNvPr id="24" name="Text 22"/>
          <p:cNvSpPr/>
          <p:nvPr/>
        </p:nvSpPr>
        <p:spPr>
          <a:xfrm>
            <a:off x="4937760" y="3657600"/>
            <a:ext cx="361188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Typically two-thirds ensures the group truly speaks with one voice.</a:t>
            </a:r>
            <a:endParaRPr lang="en-US" sz="1100" dirty="0"/>
          </a:p>
        </p:txBody>
      </p:sp>
    </p:spTree>
  </p:cSld>
  <p:clrMapOvr>
    <a:masterClrMapping/>
  </p:clrMapOvr>
  <p:transition spd="med" advClick="1">
    <p:fade thruBlk="1"/>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10</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Choosing a Home Group Wisely</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Practical guidance from AA literature — Living Sober, Chapter 29, pp. 75–81</a:t>
            </a:r>
            <a:endParaRPr lang="en-US" sz="1400" dirty="0"/>
          </a:p>
        </p:txBody>
      </p:sp>
      <p:sp>
        <p:nvSpPr>
          <p:cNvPr id="6" name="Shape 4"/>
          <p:cNvSpPr/>
          <p:nvPr/>
        </p:nvSpPr>
        <p:spPr>
          <a:xfrm>
            <a:off x="457200" y="1737360"/>
            <a:ext cx="2560320" cy="16459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737360"/>
            <a:ext cx="54864" cy="1645920"/>
          </a:xfrm>
          <a:prstGeom prst="rect">
            <a:avLst/>
          </a:prstGeom>
          <a:solidFill>
            <a:srgbClr val="D4A84B"/>
          </a:solidFill>
          <a:ln/>
        </p:spPr>
      </p:sp>
      <p:sp>
        <p:nvSpPr>
          <p:cNvPr id="8" name="Text 6"/>
          <p:cNvSpPr/>
          <p:nvPr/>
        </p:nvSpPr>
        <p:spPr>
          <a:xfrm>
            <a:off x="640080" y="1828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Practical</a:t>
            </a:r>
            <a:endParaRPr lang="en-US" sz="1300" dirty="0"/>
          </a:p>
        </p:txBody>
      </p:sp>
      <p:sp>
        <p:nvSpPr>
          <p:cNvPr id="9" name="Text 7"/>
          <p:cNvSpPr/>
          <p:nvPr/>
        </p:nvSpPr>
        <p:spPr>
          <a:xfrm>
            <a:off x="640080" y="2103120"/>
            <a:ext cx="2240280" cy="11887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Meeting time &amp; location</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for consistent attendance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Format that resonates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(speaker, discussion, step study)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Size that feels comfortable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Service positions appropriate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to your sobriety</a:t>
            </a:r>
            <a:endParaRPr lang="en-US" sz="1100" dirty="0"/>
          </a:p>
        </p:txBody>
      </p:sp>
      <p:sp>
        <p:nvSpPr>
          <p:cNvPr id="10" name="Shape 8"/>
          <p:cNvSpPr/>
          <p:nvPr/>
        </p:nvSpPr>
        <p:spPr>
          <a:xfrm>
            <a:off x="3291840" y="1737360"/>
            <a:ext cx="2560320" cy="16459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737360"/>
            <a:ext cx="54864" cy="1645920"/>
          </a:xfrm>
          <a:prstGeom prst="rect">
            <a:avLst/>
          </a:prstGeom>
          <a:solidFill>
            <a:srgbClr val="4CAF50"/>
          </a:solidFill>
          <a:ln/>
        </p:spPr>
      </p:sp>
      <p:sp>
        <p:nvSpPr>
          <p:cNvPr id="12" name="Text 10"/>
          <p:cNvSpPr/>
          <p:nvPr/>
        </p:nvSpPr>
        <p:spPr>
          <a:xfrm>
            <a:off x="3474720" y="1828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Fellowship</a:t>
            </a:r>
            <a:endParaRPr lang="en-US" sz="1300" dirty="0"/>
          </a:p>
        </p:txBody>
      </p:sp>
      <p:sp>
        <p:nvSpPr>
          <p:cNvPr id="13" name="Text 11"/>
          <p:cNvSpPr/>
          <p:nvPr/>
        </p:nvSpPr>
        <p:spPr>
          <a:xfrm>
            <a:off x="3474720" y="2103120"/>
            <a:ext cx="2240280" cy="11887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Members whose recovery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you admire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Presence of potential sponsors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Welcoming atmosphere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toward newcomers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Diversity of sobriety lengths</a:t>
            </a:r>
            <a:endParaRPr lang="en-US" sz="1100" dirty="0"/>
          </a:p>
        </p:txBody>
      </p:sp>
      <p:sp>
        <p:nvSpPr>
          <p:cNvPr id="14" name="Shape 12"/>
          <p:cNvSpPr/>
          <p:nvPr/>
        </p:nvSpPr>
        <p:spPr>
          <a:xfrm>
            <a:off x="6126480" y="1737360"/>
            <a:ext cx="2560320" cy="16459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737360"/>
            <a:ext cx="54864" cy="1645920"/>
          </a:xfrm>
          <a:prstGeom prst="rect">
            <a:avLst/>
          </a:prstGeom>
          <a:solidFill>
            <a:srgbClr val="2C5F8A"/>
          </a:solidFill>
          <a:ln/>
        </p:spPr>
      </p:sp>
      <p:sp>
        <p:nvSpPr>
          <p:cNvPr id="16" name="Text 14"/>
          <p:cNvSpPr/>
          <p:nvPr/>
        </p:nvSpPr>
        <p:spPr>
          <a:xfrm>
            <a:off x="6309360" y="18288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a:t>
            </a:r>
            <a:endParaRPr lang="en-US" sz="1300" dirty="0"/>
          </a:p>
        </p:txBody>
      </p:sp>
      <p:sp>
        <p:nvSpPr>
          <p:cNvPr id="17" name="Text 15"/>
          <p:cNvSpPr/>
          <p:nvPr/>
        </p:nvSpPr>
        <p:spPr>
          <a:xfrm>
            <a:off x="6309360" y="2103120"/>
            <a:ext cx="2240280" cy="11887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Active GSR attending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district/area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Business meetings held</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regularly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Room to grow into</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responsibility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Connected to intergroup</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&amp; broader AA</a:t>
            </a:r>
            <a:endParaRPr lang="en-US" sz="1100" dirty="0"/>
          </a:p>
        </p:txBody>
      </p:sp>
      <p:sp>
        <p:nvSpPr>
          <p:cNvPr id="18" name="Shape 16"/>
          <p:cNvSpPr/>
          <p:nvPr/>
        </p:nvSpPr>
        <p:spPr>
          <a:xfrm>
            <a:off x="457200" y="3657600"/>
            <a:ext cx="8229600" cy="59436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9" name="Shape 17"/>
          <p:cNvSpPr/>
          <p:nvPr/>
        </p:nvSpPr>
        <p:spPr>
          <a:xfrm>
            <a:off x="457200" y="3657600"/>
            <a:ext cx="54864" cy="594360"/>
          </a:xfrm>
          <a:prstGeom prst="rect">
            <a:avLst/>
          </a:prstGeom>
          <a:solidFill>
            <a:srgbClr val="D4A84B"/>
          </a:solidFill>
          <a:ln/>
        </p:spPr>
      </p:sp>
      <p:sp>
        <p:nvSpPr>
          <p:cNvPr id="20" name="Text 18"/>
          <p:cNvSpPr/>
          <p:nvPr/>
        </p:nvSpPr>
        <p:spPr>
          <a:xfrm>
            <a:off x="640080" y="3749040"/>
            <a:ext cx="7909560" cy="41148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"The home group is where recovery begins; it is where AA members grow up in sobriety by the time-honored process of trial and error."</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The Home Group: Heartbeat of AA (Grapevine), Foreword</a:t>
            </a:r>
            <a:endParaRPr lang="en-US" sz="1100" dirty="0"/>
          </a:p>
        </p:txBody>
      </p:sp>
    </p:spTree>
  </p:cSld>
  <p:clrMapOvr>
    <a:masterClrMapping/>
  </p:clrMapOvr>
  <p:transition spd="med" advClick="1">
    <p:fade thruBlk="1"/>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11</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Common Challenges &amp; How</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Groups Address Them</a:t>
            </a:r>
            <a:endParaRPr lang="en-US" sz="2600" dirty="0"/>
          </a:p>
        </p:txBody>
      </p:sp>
      <p:sp>
        <p:nvSpPr>
          <p:cNvPr id="5" name="Shape 3"/>
          <p:cNvSpPr/>
          <p:nvPr/>
        </p:nvSpPr>
        <p:spPr>
          <a:xfrm>
            <a:off x="457200" y="14630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463040"/>
            <a:ext cx="54864" cy="1371600"/>
          </a:xfrm>
          <a:prstGeom prst="rect">
            <a:avLst/>
          </a:prstGeom>
          <a:solidFill>
            <a:srgbClr val="B85042"/>
          </a:solidFill>
          <a:ln/>
        </p:spPr>
      </p:sp>
      <p:sp>
        <p:nvSpPr>
          <p:cNvPr id="7" name="Text 5"/>
          <p:cNvSpPr/>
          <p:nvPr/>
        </p:nvSpPr>
        <p:spPr>
          <a:xfrm>
            <a:off x="640080" y="15544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Dominant Personalities</a:t>
            </a:r>
            <a:endParaRPr lang="en-US" sz="1300" dirty="0"/>
          </a:p>
        </p:txBody>
      </p:sp>
      <p:sp>
        <p:nvSpPr>
          <p:cNvPr id="8" name="Text 6"/>
          <p:cNvSpPr/>
          <p:nvPr/>
        </p:nvSpPr>
        <p:spPr>
          <a:xfrm>
            <a:off x="640080" y="18288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Threatens Tradition 2. Solution: Ensure all voices heard, rotate leadership, principles before personalities.</a:t>
            </a:r>
            <a:endParaRPr lang="en-US" sz="1100" dirty="0"/>
          </a:p>
        </p:txBody>
      </p:sp>
      <p:sp>
        <p:nvSpPr>
          <p:cNvPr id="9" name="Shape 7"/>
          <p:cNvSpPr/>
          <p:nvPr/>
        </p:nvSpPr>
        <p:spPr>
          <a:xfrm>
            <a:off x="3291840" y="14630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3291840" y="1463040"/>
            <a:ext cx="54864" cy="1371600"/>
          </a:xfrm>
          <a:prstGeom prst="rect">
            <a:avLst/>
          </a:prstGeom>
          <a:solidFill>
            <a:srgbClr val="B85042"/>
          </a:solidFill>
          <a:ln/>
        </p:spPr>
      </p:sp>
      <p:sp>
        <p:nvSpPr>
          <p:cNvPr id="11" name="Text 9"/>
          <p:cNvSpPr/>
          <p:nvPr/>
        </p:nvSpPr>
        <p:spPr>
          <a:xfrm>
            <a:off x="3474720" y="15544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Cliques &amp; Exclusivity</a:t>
            </a:r>
            <a:endParaRPr lang="en-US" sz="1300" dirty="0"/>
          </a:p>
        </p:txBody>
      </p:sp>
      <p:sp>
        <p:nvSpPr>
          <p:cNvPr id="12" name="Text 10"/>
          <p:cNvSpPr/>
          <p:nvPr/>
        </p:nvSpPr>
        <p:spPr>
          <a:xfrm>
            <a:off x="3474720" y="18288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Contradicts Tradition 3. Solution: Assign greeters, consciously include newcomers in fellowship.</a:t>
            </a:r>
            <a:endParaRPr lang="en-US" sz="1100" dirty="0"/>
          </a:p>
        </p:txBody>
      </p:sp>
      <p:sp>
        <p:nvSpPr>
          <p:cNvPr id="13" name="Shape 11"/>
          <p:cNvSpPr/>
          <p:nvPr/>
        </p:nvSpPr>
        <p:spPr>
          <a:xfrm>
            <a:off x="6126480" y="14630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6126480" y="1463040"/>
            <a:ext cx="54864" cy="1371600"/>
          </a:xfrm>
          <a:prstGeom prst="rect">
            <a:avLst/>
          </a:prstGeom>
          <a:solidFill>
            <a:srgbClr val="B85042"/>
          </a:solidFill>
          <a:ln/>
        </p:spPr>
      </p:sp>
      <p:sp>
        <p:nvSpPr>
          <p:cNvPr id="15" name="Text 13"/>
          <p:cNvSpPr/>
          <p:nvPr/>
        </p:nvSpPr>
        <p:spPr>
          <a:xfrm>
            <a:off x="6309360" y="15544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Outside Issues</a:t>
            </a:r>
            <a:endParaRPr lang="en-US" sz="1300" dirty="0"/>
          </a:p>
        </p:txBody>
      </p:sp>
      <p:sp>
        <p:nvSpPr>
          <p:cNvPr id="16" name="Text 14"/>
          <p:cNvSpPr/>
          <p:nvPr/>
        </p:nvSpPr>
        <p:spPr>
          <a:xfrm>
            <a:off x="6309360" y="18288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Violates Traditions 6 &amp; 10. Solution: Gently redirect, read Tradition 10 at business meetings.</a:t>
            </a:r>
            <a:endParaRPr lang="en-US" sz="1100" dirty="0"/>
          </a:p>
        </p:txBody>
      </p:sp>
      <p:sp>
        <p:nvSpPr>
          <p:cNvPr id="17" name="Shape 15"/>
          <p:cNvSpPr/>
          <p:nvPr/>
        </p:nvSpPr>
        <p:spPr>
          <a:xfrm>
            <a:off x="457200" y="30175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457200" y="3017520"/>
            <a:ext cx="54864" cy="1371600"/>
          </a:xfrm>
          <a:prstGeom prst="rect">
            <a:avLst/>
          </a:prstGeom>
          <a:solidFill>
            <a:srgbClr val="B85042"/>
          </a:solidFill>
          <a:ln/>
        </p:spPr>
      </p:sp>
      <p:sp>
        <p:nvSpPr>
          <p:cNvPr id="19" name="Text 17"/>
          <p:cNvSpPr/>
          <p:nvPr/>
        </p:nvSpPr>
        <p:spPr>
          <a:xfrm>
            <a:off x="640080" y="31089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Financial Challenges</a:t>
            </a:r>
            <a:endParaRPr lang="en-US" sz="1300" dirty="0"/>
          </a:p>
        </p:txBody>
      </p:sp>
      <p:sp>
        <p:nvSpPr>
          <p:cNvPr id="20" name="Text 18"/>
          <p:cNvSpPr/>
          <p:nvPr/>
        </p:nvSpPr>
        <p:spPr>
          <a:xfrm>
            <a:off x="640080" y="33832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Tests Tradition 7. Solution: Regular reports, prudent reserves, educate on service structure funding.</a:t>
            </a:r>
            <a:endParaRPr lang="en-US" sz="1100" dirty="0"/>
          </a:p>
        </p:txBody>
      </p:sp>
      <p:sp>
        <p:nvSpPr>
          <p:cNvPr id="21" name="Shape 19"/>
          <p:cNvSpPr/>
          <p:nvPr/>
        </p:nvSpPr>
        <p:spPr>
          <a:xfrm>
            <a:off x="4754880" y="3017520"/>
            <a:ext cx="39319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2" name="Shape 20"/>
          <p:cNvSpPr/>
          <p:nvPr/>
        </p:nvSpPr>
        <p:spPr>
          <a:xfrm>
            <a:off x="4754880" y="3017520"/>
            <a:ext cx="54864" cy="1371600"/>
          </a:xfrm>
          <a:prstGeom prst="rect">
            <a:avLst/>
          </a:prstGeom>
          <a:solidFill>
            <a:srgbClr val="B85042"/>
          </a:solidFill>
          <a:ln/>
        </p:spPr>
      </p:sp>
      <p:sp>
        <p:nvSpPr>
          <p:cNvPr id="23" name="Text 21"/>
          <p:cNvSpPr/>
          <p:nvPr/>
        </p:nvSpPr>
        <p:spPr>
          <a:xfrm>
            <a:off x="4937760" y="31089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Apathy in Service</a:t>
            </a:r>
            <a:endParaRPr lang="en-US" sz="1300" dirty="0"/>
          </a:p>
        </p:txBody>
      </p:sp>
      <p:sp>
        <p:nvSpPr>
          <p:cNvPr id="24" name="Text 22"/>
          <p:cNvSpPr/>
          <p:nvPr/>
        </p:nvSpPr>
        <p:spPr>
          <a:xfrm>
            <a:off x="4937760" y="3383280"/>
            <a:ext cx="36118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Threatens sustainability. Solution: Demonstrate how service strengthens recovery, create welcoming entry points.</a:t>
            </a:r>
            <a:endParaRPr lang="en-US" sz="1100" dirty="0"/>
          </a:p>
        </p:txBody>
      </p:sp>
      <p:sp>
        <p:nvSpPr>
          <p:cNvPr id="25" name="Text 23"/>
          <p:cNvSpPr/>
          <p:nvPr/>
        </p:nvSpPr>
        <p:spPr>
          <a:xfrm>
            <a:off x="457200" y="4251960"/>
            <a:ext cx="8229600" cy="320040"/>
          </a:xfrm>
          <a:prstGeom prst="rect">
            <a:avLst/>
          </a:prstGeom>
          <a:noFill/>
          <a:ln/>
        </p:spPr>
        <p:txBody>
          <a:bodyPr wrap="square" rtlCol="0" anchor="ctr"/>
          <a:lstStyle/>
          <a:p>
            <a:pPr indent="0" marL="0">
              <a:buNone/>
            </a:pPr>
            <a:r>
              <a:rPr lang="en-US" sz="1000" i="1" dirty="0">
                <a:solidFill>
                  <a:srgbClr val="F5E6C8"/>
                </a:solidFill>
                <a:latin typeface="Calibri" pitchFamily="34" charset="0"/>
                <a:ea typeface="Calibri" pitchFamily="34" charset="-122"/>
                <a:cs typeface="Calibri" pitchFamily="34" charset="-120"/>
              </a:rPr>
              <a:t>Small Group Activity: Pick one challenge your group faces. Using the Traditions, brainstorm one concrete action. Report back in 5 min.</a:t>
            </a:r>
            <a:endParaRPr lang="en-US" sz="1000" dirty="0"/>
          </a:p>
        </p:txBody>
      </p:sp>
    </p:spTree>
  </p:cSld>
  <p:clrMapOvr>
    <a:masterClrMapping/>
  </p:clrMapOvr>
  <p:transition spd="med" advClick="1">
    <p:fade thruBlk="1"/>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12</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Key Quotations for Reflection</a:t>
            </a:r>
            <a:endParaRPr lang="en-US" sz="30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words that capture the essence — read slowly, let them land</a:t>
            </a:r>
            <a:endParaRPr lang="en-US" sz="1400" dirty="0"/>
          </a:p>
        </p:txBody>
      </p:sp>
      <p:sp>
        <p:nvSpPr>
          <p:cNvPr id="6" name="Shape 4"/>
          <p:cNvSpPr/>
          <p:nvPr/>
        </p:nvSpPr>
        <p:spPr>
          <a:xfrm>
            <a:off x="457200" y="1691640"/>
            <a:ext cx="8229600" cy="7772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777240"/>
          </a:xfrm>
          <a:prstGeom prst="rect">
            <a:avLst/>
          </a:prstGeom>
          <a:solidFill>
            <a:srgbClr val="D4A84B"/>
          </a:solidFill>
          <a:ln/>
        </p:spPr>
      </p:sp>
      <p:sp>
        <p:nvSpPr>
          <p:cNvPr id="8" name="Text 6"/>
          <p:cNvSpPr/>
          <p:nvPr/>
        </p:nvSpPr>
        <p:spPr>
          <a:xfrm>
            <a:off x="640080" y="1783080"/>
            <a:ext cx="7909560" cy="5943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"Practical experience shows that nothing will so much insure immunity from drinking as intensive work with other alcoholics."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Big Book, p. 89</a:t>
            </a:r>
            <a:endParaRPr lang="en-US" sz="1100" dirty="0"/>
          </a:p>
        </p:txBody>
      </p:sp>
      <p:sp>
        <p:nvSpPr>
          <p:cNvPr id="9" name="Shape 7"/>
          <p:cNvSpPr/>
          <p:nvPr/>
        </p:nvSpPr>
        <p:spPr>
          <a:xfrm>
            <a:off x="457200" y="2606040"/>
            <a:ext cx="8229600" cy="7772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0" name="Shape 8"/>
          <p:cNvSpPr/>
          <p:nvPr/>
        </p:nvSpPr>
        <p:spPr>
          <a:xfrm>
            <a:off x="457200" y="2606040"/>
            <a:ext cx="54864" cy="777240"/>
          </a:xfrm>
          <a:prstGeom prst="rect">
            <a:avLst/>
          </a:prstGeom>
          <a:solidFill>
            <a:srgbClr val="D4A84B"/>
          </a:solidFill>
          <a:ln/>
        </p:spPr>
      </p:sp>
      <p:sp>
        <p:nvSpPr>
          <p:cNvPr id="11" name="Text 9"/>
          <p:cNvSpPr/>
          <p:nvPr/>
        </p:nvSpPr>
        <p:spPr>
          <a:xfrm>
            <a:off x="640080" y="2697480"/>
            <a:ext cx="7909560" cy="5943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"Life will take on new meaning. To watch people recover, to see them help others, to watch loneliness vanish, to see a fellowship grow up about you — this is an experience you must not miss."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Big Book, p. 89</a:t>
            </a:r>
            <a:endParaRPr lang="en-US" sz="1100" dirty="0"/>
          </a:p>
        </p:txBody>
      </p:sp>
      <p:sp>
        <p:nvSpPr>
          <p:cNvPr id="12" name="Shape 10"/>
          <p:cNvSpPr/>
          <p:nvPr/>
        </p:nvSpPr>
        <p:spPr>
          <a:xfrm>
            <a:off x="457200" y="3520440"/>
            <a:ext cx="8229600" cy="77724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3" name="Shape 11"/>
          <p:cNvSpPr/>
          <p:nvPr/>
        </p:nvSpPr>
        <p:spPr>
          <a:xfrm>
            <a:off x="457200" y="3520440"/>
            <a:ext cx="54864" cy="777240"/>
          </a:xfrm>
          <a:prstGeom prst="rect">
            <a:avLst/>
          </a:prstGeom>
          <a:solidFill>
            <a:srgbClr val="D4A84B"/>
          </a:solidFill>
          <a:ln/>
        </p:spPr>
      </p:sp>
      <p:sp>
        <p:nvSpPr>
          <p:cNvPr id="14" name="Text 12"/>
          <p:cNvSpPr/>
          <p:nvPr/>
        </p:nvSpPr>
        <p:spPr>
          <a:xfrm>
            <a:off x="640080" y="3611880"/>
            <a:ext cx="7909560" cy="59436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"Let's not louse it all up... Our 12 Steps, when simmered down to the last, resolve themselves into the words love and service."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Dr. Bob's final message</a:t>
            </a:r>
            <a:endParaRPr lang="en-US" sz="1100" dirty="0"/>
          </a:p>
        </p:txBody>
      </p:sp>
      <p:sp>
        <p:nvSpPr>
          <p:cNvPr id="15" name="TextBox 14"/>
          <p:cNvSpPr txBox="1"/>
          <p:nvPr/>
        </p:nvSpPr>
        <p:spPr>
          <a:xfrm>
            <a:off x="457200" y="3291840"/>
            <a:ext cx="8229600" cy="502920"/>
          </a:xfrm>
          <a:prstGeom prst="rect">
            <a:avLst/>
          </a:prstGeom>
          <a:noFill/>
        </p:spPr>
        <p:txBody>
          <a:bodyPr wrap="square">
            <a:spAutoFit/>
          </a:bodyPr>
          <a:lstStyle/>
          <a:p>
            <a:pPr algn="l"/>
            <a:r>
              <a:rPr sz="850" b="0" i="1">
                <a:solidFill>
                  <a:srgbClr val="99AABB"/>
                </a:solidFill>
                <a:latin typeface="Calibri"/>
              </a:rPr>
              <a:t>"We have a way out on which we can absolutely agree, and upon which we can join in brotherly and harmonious action."
— Big Book, p. 17</a:t>
            </a:r>
          </a:p>
        </p:txBody>
      </p:sp>
      <p:sp>
        <p:nvSpPr>
          <p:cNvPr id="16" name="TextBox 15"/>
          <p:cNvSpPr txBox="1"/>
          <p:nvPr/>
        </p:nvSpPr>
        <p:spPr>
          <a:xfrm>
            <a:off x="457200" y="3794760"/>
            <a:ext cx="8229600" cy="502920"/>
          </a:xfrm>
          <a:prstGeom prst="rect">
            <a:avLst/>
          </a:prstGeom>
          <a:noFill/>
        </p:spPr>
        <p:txBody>
          <a:bodyPr wrap="square">
            <a:spAutoFit/>
          </a:bodyPr>
          <a:lstStyle/>
          <a:p>
            <a:pPr algn="l"/>
            <a:r>
              <a:rPr sz="850" b="0" i="1">
                <a:solidFill>
                  <a:srgbClr val="99AABB"/>
                </a:solidFill>
                <a:latin typeface="Calibri"/>
              </a:rPr>
              <a:t>"No satisfaction has been deeper and no joy greater than in a Twelfth Step job well done. To watch the eyes of men and women open with wonder as they move from darkness into light..."
— As Bill Sees It, p. 29</a:t>
            </a:r>
          </a:p>
        </p:txBody>
      </p:sp>
      <p:sp>
        <p:nvSpPr>
          <p:cNvPr id="17" name="TextBox 16"/>
          <p:cNvSpPr txBox="1"/>
          <p:nvPr/>
        </p:nvSpPr>
        <p:spPr>
          <a:xfrm>
            <a:off x="457200" y="4297680"/>
            <a:ext cx="8229600" cy="502920"/>
          </a:xfrm>
          <a:prstGeom prst="rect">
            <a:avLst/>
          </a:prstGeom>
          <a:noFill/>
        </p:spPr>
        <p:txBody>
          <a:bodyPr wrap="square">
            <a:spAutoFit/>
          </a:bodyPr>
          <a:lstStyle/>
          <a:p>
            <a:pPr algn="l"/>
            <a:r>
              <a:rPr sz="850" b="0" i="1">
                <a:solidFill>
                  <a:srgbClr val="99AABB"/>
                </a:solidFill>
                <a:latin typeface="Calibri"/>
              </a:rPr>
              <a:t>"Abandon yourself to God as you understand God. Admit your faults to Him and to your fellows. Clear away the wreckage of your past. Give freely of what you find and join us."
— Big Book, p. 164 — The Great Invitation</a:t>
            </a:r>
          </a:p>
        </p:txBody>
      </p:sp>
      <p:sp>
        <p:nvSpPr>
          <p:cNvPr id="18" name="TextBox 17"/>
          <p:cNvSpPr txBox="1"/>
          <p:nvPr/>
        </p:nvSpPr>
        <p:spPr>
          <a:xfrm>
            <a:off x="457200" y="4800600"/>
            <a:ext cx="8229600" cy="502920"/>
          </a:xfrm>
          <a:prstGeom prst="rect">
            <a:avLst/>
          </a:prstGeom>
          <a:noFill/>
        </p:spPr>
        <p:txBody>
          <a:bodyPr wrap="square">
            <a:spAutoFit/>
          </a:bodyPr>
          <a:lstStyle/>
          <a:p>
            <a:pPr algn="l"/>
            <a:r>
              <a:rPr sz="850" b="0" i="1">
                <a:solidFill>
                  <a:srgbClr val="99AABB"/>
                </a:solidFill>
                <a:latin typeface="Calibri"/>
              </a:rPr>
              <a:t>"It is the great paradox of A.A. that we know we can seldom keep the precious gift of sobriety unless we give it away."
— 12&amp;12, p. 151</a:t>
            </a:r>
          </a:p>
        </p:txBody>
      </p:sp>
    </p:spTree>
  </p:cSld>
  <p:clrMapOvr>
    <a:masterClrMapping/>
  </p:clrMapOvr>
  <p:transition spd="med" advClick="1">
    <p:fade thruBlk="1"/>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274320"/>
            <a:ext cx="1371600" cy="320040"/>
          </a:xfrm>
          <a:prstGeom prst="roundRect">
            <a:avLst>
              <a:gd name="adj" fmla="val 14286"/>
            </a:avLst>
          </a:prstGeom>
          <a:solidFill>
            <a:srgbClr val="D4A84B"/>
          </a:solidFill>
          <a:ln/>
        </p:spPr>
      </p:sp>
      <p:sp>
        <p:nvSpPr>
          <p:cNvPr id="3" name="Text 1"/>
          <p:cNvSpPr/>
          <p:nvPr/>
        </p:nvSpPr>
        <p:spPr>
          <a:xfrm>
            <a:off x="457200" y="274320"/>
            <a:ext cx="137160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SECTION 13</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Literature Reference Guide &amp; Closing</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Your complete guide for further study — take this with you</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3200400"/>
                <a:gridCol w="5029200"/>
              </a:tblGrid>
              <a:tr h="0">
                <a:tc>
                  <a:txBody>
                    <a:bodyPr/>
                    <a:lstStyle/>
                    <a:p>
                      <a:pPr indent="0" marL="0">
                        <a:buNone/>
                      </a:pPr>
                      <a:r>
                        <a:rPr lang="en-US" sz="1000" b="1" dirty="0">
                          <a:solidFill>
                            <a:srgbClr val="0D1B2A"/>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1000" b="1" dirty="0">
                          <a:solidFill>
                            <a:srgbClr val="0D1B2A"/>
                          </a:solidFill>
                          <a:latin typeface="Calibri" pitchFamily="34" charset="0"/>
                          <a:ea typeface="Calibri" pitchFamily="34" charset="-122"/>
                          <a:cs typeface="Calibri" pitchFamily="34" charset="-120"/>
                        </a:rPr>
                        <a:t>Key Pages / Topics</a:t>
                      </a:r>
                      <a:endParaRPr lang="en-US" sz="10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Alcoholics Anonymous (Big Book)</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17, 89, 97, 164 — Fellowship, working with others, invitation</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Twelve Steps &amp; Twelve Traditions</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106–125, 129–154 — Step 12, Traditions 1–5</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P-16 "The A.A. Group"</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12–16, 18–30 — Definition, membership, service, conscience</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P-15 "Sponsorship Q&amp;A"</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7–8, 23–26 — Sponsor-home group connection</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As Bill Sees It</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pp. 9, 29, 90 — Groups, service, loneliness</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AA Service Manual / Living Sober</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Service structure, GSR role / Getting active, trying meetings</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FFFFFF"/>
                          </a:solidFill>
                          <a:latin typeface="Calibri" pitchFamily="34" charset="0"/>
                          <a:ea typeface="Calibri" pitchFamily="34" charset="-122"/>
                          <a:cs typeface="Calibri" pitchFamily="34" charset="-120"/>
                        </a:rPr>
                        <a:t>Grapevine "Home Group: Heartbeat"</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Stories, service, traditions throughout</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bl>
          </a:graphicData>
        </a:graphic>
      </p:graphicFrame>
      <p:sp>
        <p:nvSpPr>
          <p:cNvPr id="16" name="TextBox 15"/>
          <p:cNvSpPr txBox="1"/>
          <p:nvPr/>
        </p:nvSpPr>
        <p:spPr>
          <a:xfrm>
            <a:off x="274320" y="1645920"/>
            <a:ext cx="8595360" cy="2286000"/>
          </a:xfrm>
          <a:prstGeom prst="rect">
            <a:avLst/>
          </a:prstGeom>
          <a:noFill/>
        </p:spPr>
        <p:txBody>
          <a:bodyPr wrap="square">
            <a:spAutoFit/>
          </a:bodyPr>
          <a:lstStyle/>
          <a:p>
            <a:pPr algn="l"/>
            <a:r>
              <a:rPr sz="850" b="0" i="0">
                <a:solidFill>
                  <a:srgbClr val="99AABB"/>
                </a:solidFill>
                <a:latin typeface="Calibri"/>
              </a:rPr>
              <a:t>COMPLETE LITERATURE REFERENCE:
• Big Book: pp. 17, 89, 97, 100, 164 — Fellowship, service, invitation
• 12 Steps &amp; 12 Traditions: pp. 106-125, 129-154, 189 — Step 12, Traditions
• P-16 'The A.A. Group': pp. 12-16, 18-30 — Definition, membership, service
• P-15 'Sponsorship Q&amp;A': pp. 7-8, 12, 23-26 — Home group connection
• As Bill Sees It: pp. 9, 29, 50, 90, 117 — Groups, service, loneliness
• AA Service Manual: Ch. 1-2, pp. S1, S15, S25-31 — Structure, GSR role
• Living Sober: pp. 12-17, 75-81 — Getting active, trying meetings
• AA Comes of Age: pp. 99, 101, 163 — Group conscience, history
• Dr. Bob &amp; Good Oldtimers: pp. 101, 144, 167, 338 — Early groups
• Grapevine 'Home Group: Heartbeat' — Stories, service, traditions
• Twelve Concepts: Concept I — Ultimate authority in Fellowship</a:t>
            </a:r>
          </a:p>
        </p:txBody>
      </p:sp>
      <p:sp>
        <p:nvSpPr>
          <p:cNvPr id="17" name="TextBox 16"/>
          <p:cNvSpPr txBox="1"/>
          <p:nvPr/>
        </p:nvSpPr>
        <p:spPr>
          <a:xfrm>
            <a:off x="274320" y="3840480"/>
            <a:ext cx="8595360" cy="1188720"/>
          </a:xfrm>
          <a:prstGeom prst="rect">
            <a:avLst/>
          </a:prstGeom>
          <a:noFill/>
        </p:spPr>
        <p:txBody>
          <a:bodyPr wrap="square">
            <a:spAutoFit/>
          </a:bodyPr>
          <a:lstStyle/>
          <a:p>
            <a:pPr algn="l"/>
            <a:r>
              <a:rPr sz="900" b="0" i="1">
                <a:solidFill>
                  <a:srgbClr val="D4A84B"/>
                </a:solidFill>
                <a:latin typeface="Calibri"/>
              </a:rPr>
              <a:t>CLOSING ACTIVITY — Personal Commitment:
What is ONE action you will take THIS WEEK to strengthen your home group connection?
If you don't have a home group, what meeting will you visit this week?
"I am responsible. When anyone, anywhere, reaches out for help,
I want the hand of A.A. always to be there. And for that: I am responsible."
— The Responsibility Statement (1965)</a:t>
            </a:r>
          </a:p>
        </p:txBody>
      </p:sp>
    </p:spTree>
  </p:cSld>
  <p:clrMapOvr>
    <a:masterClrMapping/>
  </p:clrMapOvr>
  <p:transition spd="med" advClick="1">
    <p:fade thruBlk="1"/>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274320"/>
            <a:ext cx="868680" cy="320040"/>
          </a:xfrm>
          <a:prstGeom prst="roundRect">
            <a:avLst>
              <a:gd name="adj" fmla="val 14286"/>
            </a:avLst>
          </a:prstGeom>
          <a:solidFill>
            <a:srgbClr val="D4A84B"/>
          </a:solidFill>
          <a:ln/>
        </p:spPr>
      </p:sp>
      <p:sp>
        <p:nvSpPr>
          <p:cNvPr id="3" name="Text 1"/>
          <p:cNvSpPr/>
          <p:nvPr/>
        </p:nvSpPr>
        <p:spPr>
          <a:xfrm>
            <a:off x="457200" y="274320"/>
            <a:ext cx="86868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BONUS</a:t>
            </a:r>
            <a:endParaRPr lang="en-US" sz="1000" dirty="0"/>
          </a:p>
        </p:txBody>
      </p:sp>
      <p:sp>
        <p:nvSpPr>
          <p:cNvPr id="4" name="Text 2"/>
          <p:cNvSpPr/>
          <p:nvPr/>
        </p:nvSpPr>
        <p:spPr>
          <a:xfrm>
            <a:off x="457200" y="73152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Scenario Bank for Discussion</a:t>
            </a:r>
            <a:endParaRPr lang="en-US" sz="3000" dirty="0"/>
          </a:p>
        </p:txBody>
      </p:sp>
      <p:sp>
        <p:nvSpPr>
          <p:cNvPr id="5" name="Text 3"/>
          <p:cNvSpPr/>
          <p:nvPr/>
        </p:nvSpPr>
        <p:spPr>
          <a:xfrm>
            <a:off x="457200" y="132588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Real-world situations for group discussion — use as needed for roundtables</a:t>
            </a:r>
            <a:endParaRPr lang="en-US" sz="1400" dirty="0"/>
          </a:p>
        </p:txBody>
      </p:sp>
      <p:sp>
        <p:nvSpPr>
          <p:cNvPr id="6" name="Shape 4"/>
          <p:cNvSpPr/>
          <p:nvPr/>
        </p:nvSpPr>
        <p:spPr>
          <a:xfrm>
            <a:off x="457200" y="192024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920240"/>
            <a:ext cx="54864" cy="1097280"/>
          </a:xfrm>
          <a:prstGeom prst="rect">
            <a:avLst/>
          </a:prstGeom>
          <a:solidFill>
            <a:srgbClr val="B85042"/>
          </a:solidFill>
          <a:ln/>
        </p:spPr>
      </p:sp>
      <p:sp>
        <p:nvSpPr>
          <p:cNvPr id="8" name="Text 6"/>
          <p:cNvSpPr/>
          <p:nvPr/>
        </p:nvSpPr>
        <p:spPr>
          <a:xfrm>
            <a:off x="64008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Relapsing Member</a:t>
            </a:r>
            <a:endParaRPr lang="en-US" sz="1300" dirty="0"/>
          </a:p>
        </p:txBody>
      </p:sp>
      <p:sp>
        <p:nvSpPr>
          <p:cNvPr id="9" name="Text 7"/>
          <p:cNvSpPr/>
          <p:nvPr/>
        </p:nvSpPr>
        <p:spPr>
          <a:xfrm>
            <a:off x="640080" y="228600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 member with 2 years relapses. Some welcome them warmly; others are uncomfortable. Traditions 1, 3, 5 apply.</a:t>
            </a:r>
            <a:endParaRPr lang="en-US" sz="1100" dirty="0"/>
          </a:p>
        </p:txBody>
      </p:sp>
      <p:sp>
        <p:nvSpPr>
          <p:cNvPr id="10" name="Shape 8"/>
          <p:cNvSpPr/>
          <p:nvPr/>
        </p:nvSpPr>
        <p:spPr>
          <a:xfrm>
            <a:off x="4754880" y="192024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920240"/>
            <a:ext cx="54864" cy="1097280"/>
          </a:xfrm>
          <a:prstGeom prst="rect">
            <a:avLst/>
          </a:prstGeom>
          <a:solidFill>
            <a:srgbClr val="D4A84B"/>
          </a:solidFill>
          <a:ln/>
        </p:spPr>
      </p:sp>
      <p:sp>
        <p:nvSpPr>
          <p:cNvPr id="12" name="Text 10"/>
          <p:cNvSpPr/>
          <p:nvPr/>
        </p:nvSpPr>
        <p:spPr>
          <a:xfrm>
            <a:off x="493776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Non-Alcoholic Attendee</a:t>
            </a:r>
            <a:endParaRPr lang="en-US" sz="1300" dirty="0"/>
          </a:p>
        </p:txBody>
      </p:sp>
      <p:sp>
        <p:nvSpPr>
          <p:cNvPr id="13" name="Text 11"/>
          <p:cNvSpPr/>
          <p:nvPr/>
        </p:nvSpPr>
        <p:spPr>
          <a:xfrm>
            <a:off x="4937760" y="228600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Someone regularly attending open meetings wants to 'join.' Can they vote? What does Tradition 3 say?</a:t>
            </a:r>
            <a:endParaRPr lang="en-US" sz="1100" dirty="0"/>
          </a:p>
        </p:txBody>
      </p:sp>
      <p:sp>
        <p:nvSpPr>
          <p:cNvPr id="14" name="Shape 12"/>
          <p:cNvSpPr/>
          <p:nvPr/>
        </p:nvSpPr>
        <p:spPr>
          <a:xfrm>
            <a:off x="457200" y="320040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200400"/>
            <a:ext cx="54864" cy="1097280"/>
          </a:xfrm>
          <a:prstGeom prst="rect">
            <a:avLst/>
          </a:prstGeom>
          <a:solidFill>
            <a:srgbClr val="B85042"/>
          </a:solidFill>
          <a:ln/>
        </p:spPr>
      </p:sp>
      <p:sp>
        <p:nvSpPr>
          <p:cNvPr id="16" name="Text 14"/>
          <p:cNvSpPr/>
          <p:nvPr/>
        </p:nvSpPr>
        <p:spPr>
          <a:xfrm>
            <a:off x="640080" y="32918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Format War</a:t>
            </a:r>
            <a:endParaRPr lang="en-US" sz="1300" dirty="0"/>
          </a:p>
        </p:txBody>
      </p:sp>
      <p:sp>
        <p:nvSpPr>
          <p:cNvPr id="17" name="Text 15"/>
          <p:cNvSpPr/>
          <p:nvPr/>
        </p:nvSpPr>
        <p:spPr>
          <a:xfrm>
            <a:off x="640080" y="356616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Half the group wants speaker meetings, half wants Big Book study. Attendance is dropping from frustration.</a:t>
            </a:r>
            <a:endParaRPr lang="en-US" sz="1100" dirty="0"/>
          </a:p>
        </p:txBody>
      </p:sp>
      <p:sp>
        <p:nvSpPr>
          <p:cNvPr id="18" name="Shape 16"/>
          <p:cNvSpPr/>
          <p:nvPr/>
        </p:nvSpPr>
        <p:spPr>
          <a:xfrm>
            <a:off x="4754880" y="3200400"/>
            <a:ext cx="39319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3200400"/>
            <a:ext cx="54864" cy="1097280"/>
          </a:xfrm>
          <a:prstGeom prst="rect">
            <a:avLst/>
          </a:prstGeom>
          <a:solidFill>
            <a:srgbClr val="D4A84B"/>
          </a:solidFill>
          <a:ln/>
        </p:spPr>
      </p:sp>
      <p:sp>
        <p:nvSpPr>
          <p:cNvPr id="20" name="Text 18"/>
          <p:cNvSpPr/>
          <p:nvPr/>
        </p:nvSpPr>
        <p:spPr>
          <a:xfrm>
            <a:off x="4937760" y="32918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Online Question</a:t>
            </a:r>
            <a:endParaRPr lang="en-US" sz="1300" dirty="0"/>
          </a:p>
        </p:txBody>
      </p:sp>
      <p:sp>
        <p:nvSpPr>
          <p:cNvPr id="21" name="Text 19"/>
          <p:cNvSpPr/>
          <p:nvPr/>
        </p:nvSpPr>
        <p:spPr>
          <a:xfrm>
            <a:off x="4937760" y="3566160"/>
            <a:ext cx="36118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Since the pandemic, the group has Zoom. Should it be permanent? What does Tradition 4 say about autonomy?</a:t>
            </a:r>
            <a:endParaRPr lang="en-US" sz="1100" dirty="0"/>
          </a:p>
        </p:txBody>
      </p:sp>
      <p:sp>
        <p:nvSpPr>
          <p:cNvPr id="22" name="TextBox 21"/>
          <p:cNvSpPr txBox="1"/>
          <p:nvPr/>
        </p:nvSpPr>
        <p:spPr>
          <a:xfrm>
            <a:off x="274320" y="2286000"/>
            <a:ext cx="8595360" cy="2743200"/>
          </a:xfrm>
          <a:prstGeom prst="rect">
            <a:avLst/>
          </a:prstGeom>
          <a:noFill/>
        </p:spPr>
        <p:txBody>
          <a:bodyPr wrap="square">
            <a:spAutoFit/>
          </a:bodyPr>
          <a:lstStyle/>
          <a:p>
            <a:pPr algn="l"/>
            <a:r>
              <a:rPr sz="800" b="0" i="0">
                <a:solidFill>
                  <a:srgbClr val="99AABB"/>
                </a:solidFill>
                <a:latin typeface="Calibri"/>
              </a:rPr>
              <a:t>ADDITIONAL SCENARIOS:
The Money Question: Group has $3,000 in treasury. Members disagree on whether to donate to intergroup, keep a larger prudent reserve, or split between district, NETA 65, and GSO. What does Tradition 7 say? What is a 'prudent reserve'?
The Online Question: Since the pandemic, group has Zoom option. Should it be permanent? Some say 'real AA' is in person only. What does Tradition 4 say about autonomy?
The Anonymity Break: A member posts a meeting photo on social media, tagging others by name. Some upset, others say 'relax.' What do Traditions 11 and 12 say?
The Crosstalk Debate: Group has 'no crosstalk' guideline. A newer member says it feels cold — wants real dialogue. Old-timer says it protects vulnerable members. Is it a Tradition or a guideline? How does Tradition 4 apply?
The Dying Group: Once had 30 members, now averages 6. All old-timers, no newcomers. Lease is expensive. Should they close? What about the alcoholic who might walk in next week?</a:t>
            </a:r>
          </a:p>
        </p:txBody>
      </p:sp>
    </p:spTree>
  </p:cSld>
  <p:clrMapOvr>
    <a:masterClrMapping/>
  </p:clrMapOvr>
  <p:transition spd="med" advClick="1">
    <p:fade thruBlk="1"/>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188720"/>
            <a:ext cx="8229600" cy="365760"/>
          </a:xfrm>
          <a:prstGeom prst="rect">
            <a:avLst/>
          </a:prstGeom>
          <a:noFill/>
          <a:ln/>
        </p:spPr>
        <p:txBody>
          <a:bodyPr wrap="square" rtlCol="0" anchor="ctr"/>
          <a:lstStyle/>
          <a:p>
            <a:pPr algn="ctr" indent="0" marL="0">
              <a:buNone/>
            </a:pPr>
            <a:r>
              <a:rPr lang="en-US" sz="1300" dirty="0">
                <a:solidFill>
                  <a:srgbClr val="99AABB"/>
                </a:solidFill>
                <a:latin typeface="Calibri" pitchFamily="34" charset="0"/>
                <a:ea typeface="Calibri" pitchFamily="34" charset="-122"/>
                <a:cs typeface="Calibri" pitchFamily="34" charset="-120"/>
              </a:rPr>
              <a:t>Segment 2  •  History Presentation  •  District 22</a:t>
            </a:r>
            <a:endParaRPr lang="en-US" sz="1300" dirty="0"/>
          </a:p>
        </p:txBody>
      </p:sp>
      <p:sp>
        <p:nvSpPr>
          <p:cNvPr id="3" name="Text 1"/>
          <p:cNvSpPr/>
          <p:nvPr/>
        </p:nvSpPr>
        <p:spPr>
          <a:xfrm>
            <a:off x="457200" y="1645920"/>
            <a:ext cx="8229600" cy="1645920"/>
          </a:xfrm>
          <a:prstGeom prst="rect">
            <a:avLst/>
          </a:prstGeom>
          <a:noFill/>
          <a:ln/>
        </p:spPr>
        <p:txBody>
          <a:bodyPr wrap="square" rtlCol="0" anchor="ctr"/>
          <a:lstStyle/>
          <a:p>
            <a:pPr algn="ctr" indent="0" marL="0">
              <a:buNone/>
            </a:pPr>
            <a:r>
              <a:rPr lang="en-US" sz="3800" b="1" dirty="0">
                <a:solidFill>
                  <a:srgbClr val="F0C96E"/>
                </a:solidFill>
                <a:latin typeface="Georgia" pitchFamily="34" charset="0"/>
                <a:ea typeface="Georgia" pitchFamily="34" charset="-122"/>
                <a:cs typeface="Georgia" pitchFamily="34" charset="-120"/>
              </a:rPr>
              <a:t>April 2, 1943:</a:t>
            </a:r>
            <a:endParaRPr lang="en-US" sz="3800" dirty="0"/>
          </a:p>
          <a:p>
            <a:pPr algn="ctr" indent="0" marL="0">
              <a:buNone/>
            </a:pPr>
            <a:r>
              <a:rPr lang="en-US" sz="3800" b="1" dirty="0">
                <a:solidFill>
                  <a:srgbClr val="F0C96E"/>
                </a:solidFill>
                <a:latin typeface="Georgia" pitchFamily="34" charset="0"/>
                <a:ea typeface="Georgia" pitchFamily="34" charset="-122"/>
                <a:cs typeface="Georgia" pitchFamily="34" charset="-120"/>
              </a:rPr>
              <a:t>From One Living Room</a:t>
            </a:r>
            <a:endParaRPr lang="en-US" sz="3800" dirty="0"/>
          </a:p>
          <a:p>
            <a:pPr algn="ctr" indent="0" marL="0">
              <a:buNone/>
            </a:pPr>
            <a:r>
              <a:rPr lang="en-US" sz="3800" b="1" dirty="0">
                <a:solidFill>
                  <a:srgbClr val="F0C96E"/>
                </a:solidFill>
                <a:latin typeface="Georgia" pitchFamily="34" charset="0"/>
                <a:ea typeface="Georgia" pitchFamily="34" charset="-122"/>
                <a:cs typeface="Georgia" pitchFamily="34" charset="-120"/>
              </a:rPr>
              <a:t>to 160 Groups</a:t>
            </a:r>
            <a:endParaRPr lang="en-US" sz="3800" dirty="0"/>
          </a:p>
        </p:txBody>
      </p:sp>
      <p:sp>
        <p:nvSpPr>
          <p:cNvPr id="4" name="Text 2"/>
          <p:cNvSpPr/>
          <p:nvPr/>
        </p:nvSpPr>
        <p:spPr>
          <a:xfrm>
            <a:off x="914400" y="3291840"/>
            <a:ext cx="7315200" cy="640080"/>
          </a:xfrm>
          <a:prstGeom prst="rect">
            <a:avLst/>
          </a:prstGeom>
          <a:noFill/>
          <a:ln/>
        </p:spPr>
        <p:txBody>
          <a:bodyPr wrap="square" rtlCol="0" anchor="ctr"/>
          <a:lstStyle/>
          <a:p>
            <a:pPr algn="ctr" indent="0" marL="0">
              <a:buNone/>
            </a:pPr>
            <a:r>
              <a:rPr lang="en-US" sz="1400" i="1" dirty="0">
                <a:solidFill>
                  <a:srgbClr val="E8E8E8"/>
                </a:solidFill>
                <a:latin typeface="Calibri" pitchFamily="34" charset="0"/>
                <a:ea typeface="Calibri" pitchFamily="34" charset="-122"/>
                <a:cs typeface="Calibri" pitchFamily="34" charset="-120"/>
              </a:rPr>
              <a:t>How Esther E.'s Attraction Succeeded Where Kent W.'s Promotion Failed</a:t>
            </a:r>
            <a:endParaRPr lang="en-US" sz="1400" dirty="0"/>
          </a:p>
          <a:p>
            <a:pPr algn="ctr" indent="0" marL="0">
              <a:buNone/>
            </a:pPr>
            <a:r>
              <a:rPr lang="en-US" sz="1400" i="1" dirty="0">
                <a:solidFill>
                  <a:srgbClr val="E8E8E8"/>
                </a:solidFill>
                <a:latin typeface="Calibri" pitchFamily="34" charset="0"/>
                <a:ea typeface="Calibri" pitchFamily="34" charset="-122"/>
                <a:cs typeface="Calibri" pitchFamily="34" charset="-120"/>
              </a:rPr>
              <a:t>The Dallas lineage every home group inherits today</a:t>
            </a:r>
            <a:endParaRPr lang="en-US" sz="1400" dirty="0"/>
          </a:p>
        </p:txBody>
      </p:sp>
      <p:sp>
        <p:nvSpPr>
          <p:cNvPr id="5" name="Text 3"/>
          <p:cNvSpPr/>
          <p:nvPr/>
        </p:nvSpPr>
        <p:spPr>
          <a:xfrm>
            <a:off x="1371600" y="3931920"/>
            <a:ext cx="1828800" cy="36576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1935</a:t>
            </a:r>
            <a:endParaRPr lang="en-US" sz="2800" dirty="0"/>
          </a:p>
        </p:txBody>
      </p:sp>
      <p:sp>
        <p:nvSpPr>
          <p:cNvPr id="6" name="Text 4"/>
          <p:cNvSpPr/>
          <p:nvPr/>
        </p:nvSpPr>
        <p:spPr>
          <a:xfrm>
            <a:off x="1371600" y="4251960"/>
            <a:ext cx="1828800" cy="27432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AA Founded</a:t>
            </a:r>
            <a:endParaRPr lang="en-US" sz="1000" dirty="0"/>
          </a:p>
        </p:txBody>
      </p:sp>
      <p:sp>
        <p:nvSpPr>
          <p:cNvPr id="7" name="Text 5"/>
          <p:cNvSpPr/>
          <p:nvPr/>
        </p:nvSpPr>
        <p:spPr>
          <a:xfrm>
            <a:off x="3931920" y="3931920"/>
            <a:ext cx="1828800" cy="36576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1943</a:t>
            </a:r>
            <a:endParaRPr lang="en-US" sz="2800" dirty="0"/>
          </a:p>
        </p:txBody>
      </p:sp>
      <p:sp>
        <p:nvSpPr>
          <p:cNvPr id="8" name="Text 6"/>
          <p:cNvSpPr/>
          <p:nvPr/>
        </p:nvSpPr>
        <p:spPr>
          <a:xfrm>
            <a:off x="3931920" y="4251960"/>
            <a:ext cx="1828800" cy="27432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Dallas AA Founded</a:t>
            </a:r>
            <a:endParaRPr lang="en-US" sz="1000" dirty="0"/>
          </a:p>
        </p:txBody>
      </p:sp>
      <p:sp>
        <p:nvSpPr>
          <p:cNvPr id="9" name="Text 7"/>
          <p:cNvSpPr/>
          <p:nvPr/>
        </p:nvSpPr>
        <p:spPr>
          <a:xfrm>
            <a:off x="6492240" y="3931920"/>
            <a:ext cx="1828800" cy="36576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160+</a:t>
            </a:r>
            <a:endParaRPr lang="en-US" sz="2800" dirty="0"/>
          </a:p>
        </p:txBody>
      </p:sp>
      <p:sp>
        <p:nvSpPr>
          <p:cNvPr id="10" name="Text 8"/>
          <p:cNvSpPr/>
          <p:nvPr/>
        </p:nvSpPr>
        <p:spPr>
          <a:xfrm>
            <a:off x="6492240" y="4251960"/>
            <a:ext cx="1828800" cy="27432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DFW Groups Today</a:t>
            </a:r>
            <a:endParaRPr lang="en-US" sz="1000" dirty="0"/>
          </a:p>
        </p:txBody>
      </p:sp>
    </p:spTree>
  </p:cSld>
  <p:clrMapOvr>
    <a:masterClrMapping/>
  </p:clrMapOvr>
  <p:transition spd="med" advClick="1">
    <p:fade thruBlk="1"/>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1</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Larry J.: The Man Who Carried</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AA to Texas with Only a Book</a:t>
            </a:r>
            <a:endParaRPr lang="en-US" sz="24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Houston, 1940 — AA arrives in Texas through desperation, not planning</a:t>
            </a:r>
            <a:endParaRPr lang="en-US" sz="1400" dirty="0"/>
          </a:p>
        </p:txBody>
      </p:sp>
      <p:sp>
        <p:nvSpPr>
          <p:cNvPr id="6" name="Shape 4"/>
          <p:cNvSpPr/>
          <p:nvPr/>
        </p:nvSpPr>
        <p:spPr>
          <a:xfrm>
            <a:off x="45720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188720"/>
          </a:xfrm>
          <a:prstGeom prst="rect">
            <a:avLst/>
          </a:prstGeom>
          <a:solidFill>
            <a:srgbClr val="D4A84B"/>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Desperate Messenger</a:t>
            </a:r>
            <a:endParaRPr lang="en-US" sz="1300" dirty="0"/>
          </a:p>
        </p:txBody>
      </p:sp>
      <p:sp>
        <p:nvSpPr>
          <p:cNvPr id="9" name="Text 7"/>
          <p:cNvSpPr/>
          <p:nvPr/>
        </p:nvSpPr>
        <p:spPr>
          <a:xfrm>
            <a:off x="64008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Found in freezing Cleveland weather. One lung collapsed from TB. Sponsors: Dr. Bob Smith &amp; Clarence Snyder. He had never attended a single AA meeting. On the train to Houston, reading the Big Book, Larry experienced a spiritual awakening.</a:t>
            </a:r>
            <a:endParaRPr lang="en-US" sz="1100" dirty="0"/>
          </a:p>
        </p:txBody>
      </p:sp>
      <p:sp>
        <p:nvSpPr>
          <p:cNvPr id="10" name="Shape 8"/>
          <p:cNvSpPr/>
          <p:nvPr/>
        </p:nvSpPr>
        <p:spPr>
          <a:xfrm>
            <a:off x="475488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188720"/>
          </a:xfrm>
          <a:prstGeom prst="rect">
            <a:avLst/>
          </a:prstGeom>
          <a:solidFill>
            <a:srgbClr val="4CAF50"/>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Larry Accomplished</a:t>
            </a:r>
            <a:endParaRPr lang="en-US" sz="1300" dirty="0"/>
          </a:p>
        </p:txBody>
      </p:sp>
      <p:sp>
        <p:nvSpPr>
          <p:cNvPr id="13" name="Text 11"/>
          <p:cNvSpPr/>
          <p:nvPr/>
        </p:nvSpPr>
        <p:spPr>
          <a:xfrm>
            <a:off x="493776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Mar 15, 1940 — First Houston Meeting (YWCA)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Feb 8, 1940 — First AA Pamphlet Ever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Apr 1, 1940 — "The Texas Prayer" Written</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Houston became one of only 9 "secure" AA groups in the entire U.S.</a:t>
            </a:r>
            <a:endParaRPr lang="en-US" sz="1100" dirty="0"/>
          </a:p>
        </p:txBody>
      </p:sp>
      <p:sp>
        <p:nvSpPr>
          <p:cNvPr id="14" name="Shape 12"/>
          <p:cNvSpPr/>
          <p:nvPr/>
        </p:nvSpPr>
        <p:spPr>
          <a:xfrm>
            <a:off x="457200" y="2971800"/>
            <a:ext cx="822960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971800"/>
            <a:ext cx="54864" cy="1188720"/>
          </a:xfrm>
          <a:prstGeom prst="rect">
            <a:avLst/>
          </a:prstGeom>
          <a:solidFill>
            <a:srgbClr val="B85042"/>
          </a:solidFill>
          <a:ln/>
        </p:spPr>
      </p:sp>
      <p:sp>
        <p:nvSpPr>
          <p:cNvPr id="16" name="Text 14"/>
          <p:cNvSpPr/>
          <p:nvPr/>
        </p:nvSpPr>
        <p:spPr>
          <a:xfrm>
            <a:off x="640080" y="306324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Cautionary Lesson</a:t>
            </a:r>
            <a:endParaRPr lang="en-US" sz="1300" dirty="0"/>
          </a:p>
        </p:txBody>
      </p:sp>
      <p:sp>
        <p:nvSpPr>
          <p:cNvPr id="17" name="Text 15"/>
          <p:cNvSpPr/>
          <p:nvPr/>
        </p:nvSpPr>
        <p:spPr>
          <a:xfrm>
            <a:off x="640080" y="3337560"/>
            <a:ext cx="790956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Larry ran the Houston group with "something of an iron hand." When the group voted for a steering committee based on Eastern AA practices, Larry pulled out resentfully and relapsed. He returned in 1943 but died later that year.</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His legacy endured: the people he helped included Esther E., who would carry the message to Dallas.</a:t>
            </a:r>
            <a:endParaRPr lang="en-US" sz="1100" dirty="0"/>
          </a:p>
        </p:txBody>
      </p:sp>
    </p:spTree>
  </p:cSld>
  <p:clrMapOvr>
    <a:masterClrMapping/>
  </p:clrMapOvr>
  <p:transition spd="med" advClick="1">
    <p:fade thruBlk="1"/>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2</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False Start: Kent W. &amp;</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the Lessons of Promotion</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Dallas, 1941–1942 — Why publicity alone cannot sustain a spiritual fellowship</a:t>
            </a:r>
            <a:endParaRPr lang="en-US" sz="1400" dirty="0"/>
          </a:p>
        </p:txBody>
      </p:sp>
      <p:sp>
        <p:nvSpPr>
          <p:cNvPr id="6" name="Shape 4"/>
          <p:cNvSpPr/>
          <p:nvPr/>
        </p:nvSpPr>
        <p:spPr>
          <a:xfrm>
            <a:off x="45720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188720"/>
          </a:xfrm>
          <a:prstGeom prst="rect">
            <a:avLst/>
          </a:prstGeom>
          <a:solidFill>
            <a:srgbClr val="B85042"/>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Kent W. Did</a:t>
            </a:r>
            <a:endParaRPr lang="en-US" sz="1300" dirty="0"/>
          </a:p>
        </p:txBody>
      </p:sp>
      <p:sp>
        <p:nvSpPr>
          <p:cNvPr id="9" name="Text 7"/>
          <p:cNvSpPr/>
          <p:nvPr/>
        </p:nvSpPr>
        <p:spPr>
          <a:xfrm>
            <a:off x="64008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Arrived Dec 1, 1941 from Florida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Called himself "Chief Sponsor"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Venue: White Plaza Hotel (commercial)</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Method: Newspaper publicity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Result: 12 attendees, 72 inquiries...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then complete collapse.</a:t>
            </a:r>
            <a:endParaRPr lang="en-US" sz="1100" dirty="0"/>
          </a:p>
        </p:txBody>
      </p:sp>
      <p:sp>
        <p:nvSpPr>
          <p:cNvPr id="10" name="Shape 8"/>
          <p:cNvSpPr/>
          <p:nvPr/>
        </p:nvSpPr>
        <p:spPr>
          <a:xfrm>
            <a:off x="475488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188720"/>
          </a:xfrm>
          <a:prstGeom prst="rect">
            <a:avLst/>
          </a:prstGeom>
          <a:solidFill>
            <a:srgbClr val="4CAF50"/>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Would Work (Preview)</a:t>
            </a:r>
            <a:endParaRPr lang="en-US" sz="1300" dirty="0"/>
          </a:p>
        </p:txBody>
      </p:sp>
      <p:sp>
        <p:nvSpPr>
          <p:cNvPr id="13" name="Text 11"/>
          <p:cNvSpPr/>
          <p:nvPr/>
        </p:nvSpPr>
        <p:spPr>
          <a:xfrm>
            <a:off x="493776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Venue: A living room — intimate, safe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Method: Word of mouth, doctor referrals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Style: Service, humility, attraction</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Result: Slow but sustainable growth</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still alive 80+ years later.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This is what Esther E. would do.</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914400"/>
        </p:xfrm>
        <a:graphic>
          <a:graphicData uri="http://schemas.openxmlformats.org/drawingml/2006/table">
            <a:tbl>
              <a:tblPr/>
              <a:tblGrid>
                <a:gridCol w="1828800"/>
                <a:gridCol w="4572000"/>
                <a:gridCol w="1828800"/>
              </a:tblGrid>
              <a:tr h="0">
                <a:tc>
                  <a:txBody>
                    <a:bodyPr/>
                    <a:lstStyle/>
                    <a:p>
                      <a:pPr indent="0" marL="0">
                        <a:buNone/>
                      </a:pPr>
                      <a:r>
                        <a:rPr lang="en-US" sz="900" b="1" dirty="0">
                          <a:solidFill>
                            <a:srgbClr val="0D1B2A"/>
                          </a:solidFill>
                          <a:latin typeface="Calibri" pitchFamily="34" charset="0"/>
                          <a:ea typeface="Calibri" pitchFamily="34" charset="-122"/>
                          <a:cs typeface="Calibri" pitchFamily="34" charset="-120"/>
                        </a:rPr>
                        <a:t>Feature</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900" b="1" dirty="0">
                          <a:solidFill>
                            <a:srgbClr val="0D1B2A"/>
                          </a:solidFill>
                          <a:latin typeface="Calibri" pitchFamily="34" charset="0"/>
                          <a:ea typeface="Calibri" pitchFamily="34" charset="-122"/>
                          <a:cs typeface="Calibri" pitchFamily="34" charset="-120"/>
                        </a:rPr>
                        <a:t>Kent W.'s Approach</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c>
                  <a:txBody>
                    <a:bodyPr/>
                    <a:lstStyle/>
                    <a:p>
                      <a:pPr indent="0" marL="0">
                        <a:buNone/>
                      </a:pPr>
                      <a:r>
                        <a:rPr lang="en-US" sz="900" b="1" dirty="0">
                          <a:solidFill>
                            <a:srgbClr val="0D1B2A"/>
                          </a:solidFill>
                          <a:latin typeface="Calibri" pitchFamily="34" charset="0"/>
                          <a:ea typeface="Calibri" pitchFamily="34" charset="-122"/>
                          <a:cs typeface="Calibri" pitchFamily="34" charset="-120"/>
                        </a:rPr>
                        <a:t>Tradition Violated</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D4A84B"/>
                    </a:solidFill>
                  </a:tcPr>
                </a:tc>
              </a:tr>
              <a:tr h="0">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Leadership</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"Chief Sponsor" (hierarchical)</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Tradition 2</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r h="0">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Venue</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Hotel (public, impersonal)</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Tradition 5</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3293D"/>
                    </a:solidFill>
                  </a:tcPr>
                </a:tc>
              </a:tr>
              <a:tr h="0">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Method</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Newspaper publicity</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c>
                  <a:txBody>
                    <a:bodyPr/>
                    <a:lstStyle/>
                    <a:p>
                      <a:pPr indent="0" marL="0">
                        <a:buNone/>
                      </a:pPr>
                      <a:r>
                        <a:rPr lang="en-US" sz="900" dirty="0">
                          <a:solidFill>
                            <a:srgbClr val="E8E8E8"/>
                          </a:solidFill>
                          <a:latin typeface="Calibri" pitchFamily="34" charset="0"/>
                          <a:ea typeface="Calibri" pitchFamily="34" charset="-122"/>
                          <a:cs typeface="Calibri" pitchFamily="34" charset="-120"/>
                        </a:rPr>
                        <a:t>Tradition 11</a:t>
                      </a:r>
                      <a:endParaRPr lang="en-US" sz="900" dirty="0">
                        <a:latin typeface="Calibri" charset="0"/>
                        <a:ea typeface="Calibri" charset="0"/>
                        <a:cs typeface="Calibri" charset="0"/>
                      </a:endParaRPr>
                    </a:p>
                  </a:txBody>
                  <a:tcPr marL="91440" marR="91440" marT="45720" marB="45720">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B3A52"/>
                    </a:solidFill>
                  </a:tcPr>
                </a:tc>
              </a:tr>
            </a:tbl>
          </a:graphicData>
        </a:graphic>
      </p:graphicFrame>
    </p:spTree>
  </p:cSld>
  <p:clrMapOvr>
    <a:masterClrMapping/>
  </p:clrMapOvr>
  <p:transition spd="med" advClick="1">
    <p:fade thruBlk="1"/>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3</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Esther E.: A Flower of the South</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true foundation of Dallas AA — April 2, 1943</a:t>
            </a:r>
            <a:endParaRPr lang="en-US" sz="1400" dirty="0"/>
          </a:p>
        </p:txBody>
      </p:sp>
      <p:sp>
        <p:nvSpPr>
          <p:cNvPr id="6" name="Shape 4"/>
          <p:cNvSpPr/>
          <p:nvPr/>
        </p:nvSpPr>
        <p:spPr>
          <a:xfrm>
            <a:off x="457200" y="1600200"/>
            <a:ext cx="530352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097280"/>
          </a:xfrm>
          <a:prstGeom prst="rect">
            <a:avLst/>
          </a:prstGeom>
          <a:solidFill>
            <a:srgbClr val="D4A84B"/>
          </a:solidFill>
          <a:ln/>
        </p:spPr>
      </p:sp>
      <p:sp>
        <p:nvSpPr>
          <p:cNvPr id="8" name="Text 6"/>
          <p:cNvSpPr/>
          <p:nvPr/>
        </p:nvSpPr>
        <p:spPr>
          <a:xfrm>
            <a:off x="640080" y="1691640"/>
            <a:ext cx="49834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Journey to Dallas</a:t>
            </a:r>
            <a:endParaRPr lang="en-US" sz="1300" dirty="0"/>
          </a:p>
        </p:txBody>
      </p:sp>
      <p:sp>
        <p:nvSpPr>
          <p:cNvPr id="9" name="Text 7"/>
          <p:cNvSpPr/>
          <p:nvPr/>
        </p:nvSpPr>
        <p:spPr>
          <a:xfrm>
            <a:off x="640080" y="1965960"/>
            <a:ext cx="498348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Esther's husband read the Jack Alexander article in the Saturday Evening Post (March 1, 1941). Ultimatum: "If you will try this thing, I'll go along with you. If you don't, you will have to go home."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Sobriety date: May 16, 1941 (Houston). Got sober after writing to the GSO in New York.</a:t>
            </a:r>
            <a:endParaRPr lang="en-US" sz="1100" dirty="0"/>
          </a:p>
        </p:txBody>
      </p:sp>
      <p:sp>
        <p:nvSpPr>
          <p:cNvPr id="10" name="Shape 8"/>
          <p:cNvSpPr/>
          <p:nvPr/>
        </p:nvSpPr>
        <p:spPr>
          <a:xfrm>
            <a:off x="6035040" y="1600200"/>
            <a:ext cx="265176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6035040" y="1600200"/>
            <a:ext cx="54864" cy="1097280"/>
          </a:xfrm>
          <a:prstGeom prst="rect">
            <a:avLst/>
          </a:prstGeom>
          <a:solidFill>
            <a:srgbClr val="2C5F8A"/>
          </a:solidFill>
          <a:ln/>
        </p:spPr>
      </p:sp>
      <p:sp>
        <p:nvSpPr>
          <p:cNvPr id="12" name="Text 10"/>
          <p:cNvSpPr/>
          <p:nvPr/>
        </p:nvSpPr>
        <p:spPr>
          <a:xfrm>
            <a:off x="6217920" y="1691640"/>
            <a:ext cx="233172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Key Dates</a:t>
            </a:r>
            <a:endParaRPr lang="en-US" sz="1300" dirty="0"/>
          </a:p>
        </p:txBody>
      </p:sp>
      <p:sp>
        <p:nvSpPr>
          <p:cNvPr id="13" name="Text 11"/>
          <p:cNvSpPr/>
          <p:nvPr/>
        </p:nvSpPr>
        <p:spPr>
          <a:xfrm>
            <a:off x="6217920" y="1965960"/>
            <a:ext cx="233172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May 16, 1941 — Sobriety date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Mar 29, 1943 — Letter to NY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April 2, 1943 — First meeting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Tues &amp; Fri, 8 PM — Weekly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20 sober by 1945</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19+ yrs sobriety</a:t>
            </a:r>
            <a:endParaRPr lang="en-US" sz="1100" dirty="0"/>
          </a:p>
        </p:txBody>
      </p:sp>
      <p:sp>
        <p:nvSpPr>
          <p:cNvPr id="14" name="Shape 12"/>
          <p:cNvSpPr/>
          <p:nvPr/>
        </p:nvSpPr>
        <p:spPr>
          <a:xfrm>
            <a:off x="457200" y="2880360"/>
            <a:ext cx="8229600" cy="7772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880360"/>
            <a:ext cx="54864" cy="777240"/>
          </a:xfrm>
          <a:prstGeom prst="rect">
            <a:avLst/>
          </a:prstGeom>
          <a:solidFill>
            <a:srgbClr val="D4A84B"/>
          </a:solidFill>
          <a:ln/>
        </p:spPr>
      </p:sp>
      <p:sp>
        <p:nvSpPr>
          <p:cNvPr id="16" name="Text 14"/>
          <p:cNvSpPr/>
          <p:nvPr/>
        </p:nvSpPr>
        <p:spPr>
          <a:xfrm>
            <a:off x="640080" y="29718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April 2, 1943 — THE FOUNDING OF DALLAS AA</a:t>
            </a:r>
            <a:endParaRPr lang="en-US" sz="1300" dirty="0"/>
          </a:p>
        </p:txBody>
      </p:sp>
      <p:sp>
        <p:nvSpPr>
          <p:cNvPr id="17" name="Text 15"/>
          <p:cNvSpPr/>
          <p:nvPr/>
        </p:nvSpPr>
        <p:spPr>
          <a:xfrm>
            <a:off x="640080" y="3246120"/>
            <a:ext cx="7909560" cy="3200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first meeting of "The Dallas Group" in Esther's home. Ruth T. was present — the woman who had written the initial inquiry letter in 1941. The seeker and the carrier of the message finally united. This date marks the lineage point for EVERY AA group in the Dallas metroplex today.</a:t>
            </a:r>
            <a:endParaRPr lang="en-US" sz="1100" dirty="0"/>
          </a:p>
        </p:txBody>
      </p:sp>
      <p:sp>
        <p:nvSpPr>
          <p:cNvPr id="18" name="Shape 16"/>
          <p:cNvSpPr/>
          <p:nvPr/>
        </p:nvSpPr>
        <p:spPr>
          <a:xfrm>
            <a:off x="457200" y="3840480"/>
            <a:ext cx="8229600" cy="5943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840480"/>
            <a:ext cx="54864" cy="594360"/>
          </a:xfrm>
          <a:prstGeom prst="rect">
            <a:avLst/>
          </a:prstGeom>
          <a:solidFill>
            <a:srgbClr val="B85042"/>
          </a:solidFill>
          <a:ln/>
        </p:spPr>
      </p:sp>
      <p:sp>
        <p:nvSpPr>
          <p:cNvPr id="20" name="Text 18"/>
          <p:cNvSpPr/>
          <p:nvPr/>
        </p:nvSpPr>
        <p:spPr>
          <a:xfrm>
            <a:off x="640080" y="393192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Contrast That Teaches</a:t>
            </a:r>
            <a:endParaRPr lang="en-US" sz="1300" dirty="0"/>
          </a:p>
        </p:txBody>
      </p:sp>
      <p:sp>
        <p:nvSpPr>
          <p:cNvPr id="21" name="Text 19"/>
          <p:cNvSpPr/>
          <p:nvPr/>
        </p:nvSpPr>
        <p:spPr>
          <a:xfrm>
            <a:off x="640080" y="4206240"/>
            <a:ext cx="7909560" cy="1371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Kent W.'s hotel attracted curiosity. Esther's living room fostered intimacy. Kent called himself "Chief Sponsor." Esther simply said she had "lots to do." The home group concept didn't begin in a conference room — it began in a home.</a:t>
            </a:r>
            <a:endParaRPr lang="en-US" sz="1100" dirty="0"/>
          </a:p>
        </p:txBody>
      </p:sp>
    </p:spTree>
  </p:cSld>
  <p:clrMapOvr>
    <a:masterClrMapping/>
  </p:clrMapOvr>
  <p:transition spd="med" advClick="1">
    <p:fade thruBlk="1"/>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4</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Post-War Expansion: Searcy W.</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&amp; the Suburban Shift</a:t>
            </a:r>
            <a:endParaRPr lang="en-US" sz="24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1946–1947 — Decentralizing AA from downtown to where people lived</a:t>
            </a:r>
            <a:endParaRPr lang="en-US" sz="1400" dirty="0"/>
          </a:p>
        </p:txBody>
      </p:sp>
      <p:sp>
        <p:nvSpPr>
          <p:cNvPr id="6" name="Shape 4"/>
          <p:cNvSpPr/>
          <p:nvPr/>
        </p:nvSpPr>
        <p:spPr>
          <a:xfrm>
            <a:off x="45720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188720"/>
          </a:xfrm>
          <a:prstGeom prst="rect">
            <a:avLst/>
          </a:prstGeom>
          <a:solidFill>
            <a:srgbClr val="D4A84B"/>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Searcy W. (Whaley)</a:t>
            </a:r>
            <a:endParaRPr lang="en-US" sz="1300" dirty="0"/>
          </a:p>
        </p:txBody>
      </p:sp>
      <p:sp>
        <p:nvSpPr>
          <p:cNvPr id="9" name="Text 7"/>
          <p:cNvSpPr/>
          <p:nvPr/>
        </p:nvSpPr>
        <p:spPr>
          <a:xfrm>
            <a:off x="64008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First heard about AA in 1945. Lost his job, stayed drunk until April 1946. On his 3rd day in a drying-out place, taken to a meeting at 912 Main St.</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Sobriety: May 5, 1946</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57 years of continuous sobriety until death in 2003</a:t>
            </a:r>
            <a:endParaRPr lang="en-US" sz="1100" dirty="0"/>
          </a:p>
        </p:txBody>
      </p:sp>
      <p:sp>
        <p:nvSpPr>
          <p:cNvPr id="10" name="Shape 8"/>
          <p:cNvSpPr/>
          <p:nvPr/>
        </p:nvSpPr>
        <p:spPr>
          <a:xfrm>
            <a:off x="4754880" y="160020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188720"/>
          </a:xfrm>
          <a:prstGeom prst="rect">
            <a:avLst/>
          </a:prstGeom>
          <a:solidFill>
            <a:srgbClr val="4CAF50"/>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The Suburban Group — Sept 1946</a:t>
            </a:r>
            <a:endParaRPr lang="en-US" sz="1300" dirty="0"/>
          </a:p>
        </p:txBody>
      </p:sp>
      <p:sp>
        <p:nvSpPr>
          <p:cNvPr id="13" name="Text 11"/>
          <p:cNvSpPr/>
          <p:nvPr/>
        </p:nvSpPr>
        <p:spPr>
          <a:xfrm>
            <a:off x="4937760" y="196596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Founded at Dickason and Sale Streets, near Lee Park. Just 4 months after getting sober, Searcy helped create the prototype neighborhood group.</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Birthed: Preston, Belmont, Belwood, Central, Town North, Oak Cliff, and many more groups.</a:t>
            </a:r>
            <a:endParaRPr lang="en-US" sz="1100" dirty="0"/>
          </a:p>
        </p:txBody>
      </p:sp>
      <p:sp>
        <p:nvSpPr>
          <p:cNvPr id="14" name="Shape 12"/>
          <p:cNvSpPr/>
          <p:nvPr/>
        </p:nvSpPr>
        <p:spPr>
          <a:xfrm>
            <a:off x="45720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Text 13"/>
          <p:cNvSpPr/>
          <p:nvPr/>
        </p:nvSpPr>
        <p:spPr>
          <a:xfrm>
            <a:off x="45720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2</a:t>
            </a:r>
            <a:endParaRPr lang="en-US" sz="2800" dirty="0"/>
          </a:p>
        </p:txBody>
      </p:sp>
      <p:sp>
        <p:nvSpPr>
          <p:cNvPr id="16" name="Text 14"/>
          <p:cNvSpPr/>
          <p:nvPr/>
        </p:nvSpPr>
        <p:spPr>
          <a:xfrm>
            <a:off x="45720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in 1947</a:t>
            </a:r>
            <a:endParaRPr lang="en-US" sz="1000" dirty="0"/>
          </a:p>
        </p:txBody>
      </p:sp>
      <p:sp>
        <p:nvSpPr>
          <p:cNvPr id="17" name="Shape 15"/>
          <p:cNvSpPr/>
          <p:nvPr/>
        </p:nvSpPr>
        <p:spPr>
          <a:xfrm>
            <a:off x="260604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Text 16"/>
          <p:cNvSpPr/>
          <p:nvPr/>
        </p:nvSpPr>
        <p:spPr>
          <a:xfrm>
            <a:off x="260604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8</a:t>
            </a:r>
            <a:endParaRPr lang="en-US" sz="2800" dirty="0"/>
          </a:p>
        </p:txBody>
      </p:sp>
      <p:sp>
        <p:nvSpPr>
          <p:cNvPr id="19" name="Text 17"/>
          <p:cNvSpPr/>
          <p:nvPr/>
        </p:nvSpPr>
        <p:spPr>
          <a:xfrm>
            <a:off x="260604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by 1968</a:t>
            </a:r>
            <a:endParaRPr lang="en-US" sz="1000" dirty="0"/>
          </a:p>
        </p:txBody>
      </p:sp>
      <p:sp>
        <p:nvSpPr>
          <p:cNvPr id="20" name="Shape 18"/>
          <p:cNvSpPr/>
          <p:nvPr/>
        </p:nvSpPr>
        <p:spPr>
          <a:xfrm>
            <a:off x="475488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1" name="Text 19"/>
          <p:cNvSpPr/>
          <p:nvPr/>
        </p:nvSpPr>
        <p:spPr>
          <a:xfrm>
            <a:off x="475488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30</a:t>
            </a:r>
            <a:endParaRPr lang="en-US" sz="2800" dirty="0"/>
          </a:p>
        </p:txBody>
      </p:sp>
      <p:sp>
        <p:nvSpPr>
          <p:cNvPr id="22" name="Text 20"/>
          <p:cNvSpPr/>
          <p:nvPr/>
        </p:nvSpPr>
        <p:spPr>
          <a:xfrm>
            <a:off x="475488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by 1973</a:t>
            </a:r>
            <a:endParaRPr lang="en-US" sz="1000" dirty="0"/>
          </a:p>
        </p:txBody>
      </p:sp>
      <p:sp>
        <p:nvSpPr>
          <p:cNvPr id="23" name="Shape 21"/>
          <p:cNvSpPr/>
          <p:nvPr/>
        </p:nvSpPr>
        <p:spPr>
          <a:xfrm>
            <a:off x="6903720" y="3063240"/>
            <a:ext cx="18288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4" name="Text 22"/>
          <p:cNvSpPr/>
          <p:nvPr/>
        </p:nvSpPr>
        <p:spPr>
          <a:xfrm>
            <a:off x="6903720" y="3108960"/>
            <a:ext cx="1828800" cy="502920"/>
          </a:xfrm>
          <a:prstGeom prst="rect">
            <a:avLst/>
          </a:prstGeom>
          <a:noFill/>
          <a:ln/>
        </p:spPr>
        <p:txBody>
          <a:bodyPr wrap="square" rtlCol="0" anchor="ctr"/>
          <a:lstStyle/>
          <a:p>
            <a:pPr algn="ctr" indent="0" marL="0">
              <a:buNone/>
            </a:pPr>
            <a:r>
              <a:rPr lang="en-US" sz="2800" b="1" dirty="0">
                <a:solidFill>
                  <a:srgbClr val="D4A84B"/>
                </a:solidFill>
                <a:latin typeface="Georgia" pitchFamily="34" charset="0"/>
                <a:ea typeface="Georgia" pitchFamily="34" charset="-122"/>
                <a:cs typeface="Georgia" pitchFamily="34" charset="-120"/>
              </a:rPr>
              <a:t>160+</a:t>
            </a:r>
            <a:endParaRPr lang="en-US" sz="2800" dirty="0"/>
          </a:p>
        </p:txBody>
      </p:sp>
      <p:sp>
        <p:nvSpPr>
          <p:cNvPr id="25" name="Text 23"/>
          <p:cNvSpPr/>
          <p:nvPr/>
        </p:nvSpPr>
        <p:spPr>
          <a:xfrm>
            <a:off x="6903720" y="3566160"/>
            <a:ext cx="1828800" cy="320040"/>
          </a:xfrm>
          <a:prstGeom prst="rect">
            <a:avLst/>
          </a:prstGeom>
          <a:noFill/>
          <a:ln/>
        </p:spPr>
        <p:txBody>
          <a:bodyPr wrap="square" rtlCol="0" anchor="ctr"/>
          <a:lstStyle/>
          <a:p>
            <a:pPr algn="ctr" indent="0" marL="0">
              <a:buNone/>
            </a:pPr>
            <a:r>
              <a:rPr lang="en-US" sz="1000" dirty="0">
                <a:solidFill>
                  <a:srgbClr val="99AABB"/>
                </a:solidFill>
                <a:latin typeface="Calibri" pitchFamily="34" charset="0"/>
                <a:ea typeface="Calibri" pitchFamily="34" charset="-122"/>
                <a:cs typeface="Calibri" pitchFamily="34" charset="-120"/>
              </a:rPr>
              <a:t>Groups Today</a:t>
            </a:r>
            <a:endParaRPr lang="en-US" sz="1000" dirty="0"/>
          </a:p>
        </p:txBody>
      </p:sp>
      <p:sp>
        <p:nvSpPr>
          <p:cNvPr id="26" name="Text 24"/>
          <p:cNvSpPr/>
          <p:nvPr/>
        </p:nvSpPr>
        <p:spPr>
          <a:xfrm>
            <a:off x="457200" y="4160520"/>
            <a:ext cx="8229600" cy="365760"/>
          </a:xfrm>
          <a:prstGeom prst="rect">
            <a:avLst/>
          </a:prstGeom>
          <a:noFill/>
          <a:ln/>
        </p:spPr>
        <p:txBody>
          <a:bodyPr wrap="square" rtlCol="0" anchor="ctr"/>
          <a:lstStyle/>
          <a:p>
            <a:pPr indent="0" marL="0">
              <a:buNone/>
            </a:pPr>
            <a:r>
              <a:rPr lang="en-US" sz="1000" i="1" dirty="0">
                <a:solidFill>
                  <a:srgbClr val="E8E8E8"/>
                </a:solidFill>
                <a:latin typeface="Calibri" pitchFamily="34" charset="0"/>
                <a:ea typeface="Calibri" pitchFamily="34" charset="-122"/>
                <a:cs typeface="Calibri" pitchFamily="34" charset="-120"/>
              </a:rPr>
              <a:t>Dallas Central Office opened September 18, 1947 — Dick P., first manager, suffered from "Jake Leg" paralysis yet managed phones and coordinated 12th Step calls.</a:t>
            </a:r>
            <a:endParaRPr lang="en-US" sz="1000" dirty="0"/>
          </a:p>
        </p:txBody>
      </p:sp>
    </p:spTree>
  </p:cSld>
  <p:clrMapOvr>
    <a:masterClrMapping/>
  </p:clrMapOvr>
  <p:transition spd="med" advClick="1">
    <p:fade thruBlk="1"/>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5</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Ebby Thacher: Bill's Sponsor</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Saved in Dallas</a:t>
            </a:r>
            <a:endParaRPr lang="en-US" sz="26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The most remarkable chapter in Dallas AA history — and a lesson about never giving up</a:t>
            </a:r>
            <a:endParaRPr lang="en-US" sz="1400" dirty="0"/>
          </a:p>
        </p:txBody>
      </p:sp>
      <p:sp>
        <p:nvSpPr>
          <p:cNvPr id="6" name="Shape 4"/>
          <p:cNvSpPr/>
          <p:nvPr/>
        </p:nvSpPr>
        <p:spPr>
          <a:xfrm>
            <a:off x="457200" y="1600200"/>
            <a:ext cx="3931920" cy="12801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00200"/>
            <a:ext cx="54864" cy="1280160"/>
          </a:xfrm>
          <a:prstGeom prst="rect">
            <a:avLst/>
          </a:prstGeom>
          <a:solidFill>
            <a:srgbClr val="D4A84B"/>
          </a:solidFill>
          <a:ln/>
        </p:spPr>
      </p:sp>
      <p:sp>
        <p:nvSpPr>
          <p:cNvPr id="8" name="Text 6"/>
          <p:cNvSpPr/>
          <p:nvPr/>
        </p:nvSpPr>
        <p:spPr>
          <a:xfrm>
            <a:off x="64008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Searcy &amp; the Twelve Traditions (1948)</a:t>
            </a:r>
            <a:endParaRPr lang="en-US" sz="1300" dirty="0"/>
          </a:p>
        </p:txBody>
      </p:sp>
      <p:sp>
        <p:nvSpPr>
          <p:cNvPr id="9" name="Text 7"/>
          <p:cNvSpPr/>
          <p:nvPr/>
        </p:nvSpPr>
        <p:spPr>
          <a:xfrm>
            <a:off x="640080" y="1965960"/>
            <a:ext cx="3611880" cy="8229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25 AA members met in Lubbock. Searcy arranged for Bill Wilson to attend. On the airplane, Bill showed Searcy his handwritten notes — the original Twelve Traditions.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Searcy's response: "We don't need this down here. We love each other."</a:t>
            </a:r>
            <a:endParaRPr lang="en-US" sz="1100" dirty="0"/>
          </a:p>
        </p:txBody>
      </p:sp>
      <p:sp>
        <p:nvSpPr>
          <p:cNvPr id="10" name="Shape 8"/>
          <p:cNvSpPr/>
          <p:nvPr/>
        </p:nvSpPr>
        <p:spPr>
          <a:xfrm>
            <a:off x="4754880" y="1600200"/>
            <a:ext cx="3931920" cy="12801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00200"/>
            <a:ext cx="54864" cy="1280160"/>
          </a:xfrm>
          <a:prstGeom prst="rect">
            <a:avLst/>
          </a:prstGeom>
          <a:solidFill>
            <a:srgbClr val="2C5F8A"/>
          </a:solidFill>
          <a:ln/>
        </p:spPr>
      </p:sp>
      <p:sp>
        <p:nvSpPr>
          <p:cNvPr id="12" name="Text 10"/>
          <p:cNvSpPr/>
          <p:nvPr/>
        </p:nvSpPr>
        <p:spPr>
          <a:xfrm>
            <a:off x="4937760" y="169164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Who Was Ebby Thacher?</a:t>
            </a:r>
            <a:endParaRPr lang="en-US" sz="1300" dirty="0"/>
          </a:p>
        </p:txBody>
      </p:sp>
      <p:sp>
        <p:nvSpPr>
          <p:cNvPr id="13" name="Text 11"/>
          <p:cNvSpPr/>
          <p:nvPr/>
        </p:nvSpPr>
        <p:spPr>
          <a:xfrm>
            <a:off x="4937760" y="1965960"/>
            <a:ext cx="3611880" cy="8229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Ebby first carried the message to Bill Wilson in November 1934. Without Ebby, there is no Bill W. Without Bill W., there is no AA.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But Ebby struggled with sobriety for 18 years after helping Bill get sober.</a:t>
            </a:r>
            <a:endParaRPr lang="en-US" sz="1100" dirty="0"/>
          </a:p>
        </p:txBody>
      </p:sp>
      <p:sp>
        <p:nvSpPr>
          <p:cNvPr id="14" name="Shape 12"/>
          <p:cNvSpPr/>
          <p:nvPr/>
        </p:nvSpPr>
        <p:spPr>
          <a:xfrm>
            <a:off x="457200" y="3063240"/>
            <a:ext cx="8229600" cy="10972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063240"/>
            <a:ext cx="54864" cy="1097280"/>
          </a:xfrm>
          <a:prstGeom prst="rect">
            <a:avLst/>
          </a:prstGeom>
          <a:solidFill>
            <a:srgbClr val="B85042"/>
          </a:solidFill>
          <a:ln/>
        </p:spPr>
      </p:sp>
      <p:sp>
        <p:nvSpPr>
          <p:cNvPr id="16" name="Text 14"/>
          <p:cNvSpPr/>
          <p:nvPr/>
        </p:nvSpPr>
        <p:spPr>
          <a:xfrm>
            <a:off x="640080" y="315468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Ebby Gets Sober in Dallas (1953)</a:t>
            </a:r>
            <a:endParaRPr lang="en-US" sz="1300" dirty="0"/>
          </a:p>
        </p:txBody>
      </p:sp>
      <p:sp>
        <p:nvSpPr>
          <p:cNvPr id="17" name="Text 15"/>
          <p:cNvSpPr/>
          <p:nvPr/>
        </p:nvSpPr>
        <p:spPr>
          <a:xfrm>
            <a:off x="640080" y="3429000"/>
            <a:ext cx="7909560" cy="6400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Bill Wilson visited Dallas and told Searcy: "I'd rather see Ebby have a chance to get sober." Friends found Ebby on the Bowery in NYC, dried him out, and sent him to Dallas with a pint of whiskey. He arrived "cussing out Bill and Dr. Bob and everybody else."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Eventually he asked to attend a meeting. He got sober at the Suburban Club — the same fellowship that grew from his original message to Bill Wilson. Ebby died March 21, 1966, with 2 years of sobriety.</a:t>
            </a:r>
            <a:endParaRPr lang="en-US" sz="1100" dirty="0"/>
          </a:p>
        </p:txBody>
      </p:sp>
    </p:spTree>
  </p:cSld>
  <p:clrMapOvr>
    <a:masterClrMapping/>
  </p:clrMapOvr>
  <p:transition spd="med" advClick="1">
    <p:fade thruBlk="1"/>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6</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Fort Worth, NETA 65 &amp;</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the Bigger Picture</a:t>
            </a:r>
            <a:endParaRPr lang="en-US" sz="2600" dirty="0"/>
          </a:p>
        </p:txBody>
      </p:sp>
      <p:sp>
        <p:nvSpPr>
          <p:cNvPr id="5" name="Shape 3"/>
          <p:cNvSpPr/>
          <p:nvPr/>
        </p:nvSpPr>
        <p:spPr>
          <a:xfrm>
            <a:off x="457200" y="12801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1188720"/>
          </a:xfrm>
          <a:prstGeom prst="rect">
            <a:avLst/>
          </a:prstGeom>
          <a:solidFill>
            <a:srgbClr val="D4A84B"/>
          </a:solidFill>
          <a:ln/>
        </p:spPr>
      </p:sp>
      <p:sp>
        <p:nvSpPr>
          <p:cNvPr id="7" name="Text 5"/>
          <p:cNvSpPr/>
          <p:nvPr/>
        </p:nvSpPr>
        <p:spPr>
          <a:xfrm>
            <a:off x="640080" y="13716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Fort Worth's Parallel History</a:t>
            </a:r>
            <a:endParaRPr lang="en-US" sz="1300" dirty="0"/>
          </a:p>
        </p:txBody>
      </p:sp>
      <p:sp>
        <p:nvSpPr>
          <p:cNvPr id="8" name="Text 6"/>
          <p:cNvSpPr/>
          <p:nvPr/>
        </p:nvSpPr>
        <p:spPr>
          <a:xfrm>
            <a:off x="640080" y="16459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June 4, 1941 — George McL. writes to New York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July 23, 1941 — First Fort Worth meeting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Aug 28, 1943 — Continuous activity begins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Ralph the railroad switchman became "the most zealous 12th-Stepper of all time."</a:t>
            </a:r>
            <a:endParaRPr lang="en-US" sz="1100" dirty="0"/>
          </a:p>
        </p:txBody>
      </p:sp>
      <p:sp>
        <p:nvSpPr>
          <p:cNvPr id="9" name="Shape 7"/>
          <p:cNvSpPr/>
          <p:nvPr/>
        </p:nvSpPr>
        <p:spPr>
          <a:xfrm>
            <a:off x="4754880" y="12801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280160"/>
            <a:ext cx="54864" cy="1188720"/>
          </a:xfrm>
          <a:prstGeom prst="rect">
            <a:avLst/>
          </a:prstGeom>
          <a:solidFill>
            <a:srgbClr val="2C5F8A"/>
          </a:solidFill>
          <a:ln/>
        </p:spPr>
      </p:sp>
      <p:sp>
        <p:nvSpPr>
          <p:cNvPr id="11" name="Text 9"/>
          <p:cNvSpPr/>
          <p:nvPr/>
        </p:nvSpPr>
        <p:spPr>
          <a:xfrm>
            <a:off x="4937760" y="13716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Two Types of Service</a:t>
            </a:r>
            <a:endParaRPr lang="en-US" sz="1300" dirty="0"/>
          </a:p>
        </p:txBody>
      </p:sp>
      <p:sp>
        <p:nvSpPr>
          <p:cNvPr id="12" name="Text 10"/>
          <p:cNvSpPr/>
          <p:nvPr/>
        </p:nvSpPr>
        <p:spPr>
          <a:xfrm>
            <a:off x="4937760" y="16459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Intergroup/Central Office — Carrying the message: meeting schedules, website, 24/7 hotline (214-887-6699), aadallas.org</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General Service/NETA 65 — Protecting the message: Traditions &amp; Concepts, connecting region to GSC. neta65.org — 29 districts, 512+ groups</a:t>
            </a:r>
            <a:endParaRPr lang="en-US" sz="1100" dirty="0"/>
          </a:p>
        </p:txBody>
      </p:sp>
      <p:sp>
        <p:nvSpPr>
          <p:cNvPr id="13" name="Shape 11"/>
          <p:cNvSpPr/>
          <p:nvPr/>
        </p:nvSpPr>
        <p:spPr>
          <a:xfrm>
            <a:off x="548640" y="2752344"/>
            <a:ext cx="146304" cy="146304"/>
          </a:xfrm>
          <a:prstGeom prst="ellipse">
            <a:avLst/>
          </a:prstGeom>
          <a:solidFill>
            <a:srgbClr val="D4A84B"/>
          </a:solidFill>
          <a:ln/>
        </p:spPr>
      </p:sp>
      <p:sp>
        <p:nvSpPr>
          <p:cNvPr id="14" name="Text 12"/>
          <p:cNvSpPr/>
          <p:nvPr/>
        </p:nvSpPr>
        <p:spPr>
          <a:xfrm>
            <a:off x="822960" y="2697480"/>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1947</a:t>
            </a:r>
            <a:endParaRPr lang="en-US" sz="1000" dirty="0"/>
          </a:p>
        </p:txBody>
      </p:sp>
      <p:sp>
        <p:nvSpPr>
          <p:cNvPr id="15" name="Text 13"/>
          <p:cNvSpPr/>
          <p:nvPr/>
        </p:nvSpPr>
        <p:spPr>
          <a:xfrm>
            <a:off x="1554480" y="2697480"/>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Dallas Central Office Opens (Akard St.) — 2 groups</a:t>
            </a:r>
            <a:endParaRPr lang="en-US" sz="1000" dirty="0"/>
          </a:p>
        </p:txBody>
      </p:sp>
      <p:sp>
        <p:nvSpPr>
          <p:cNvPr id="16" name="Shape 14"/>
          <p:cNvSpPr/>
          <p:nvPr/>
        </p:nvSpPr>
        <p:spPr>
          <a:xfrm>
            <a:off x="548640" y="3099816"/>
            <a:ext cx="146304" cy="146304"/>
          </a:xfrm>
          <a:prstGeom prst="ellipse">
            <a:avLst/>
          </a:prstGeom>
          <a:solidFill>
            <a:srgbClr val="D4A84B"/>
          </a:solidFill>
          <a:ln/>
        </p:spPr>
      </p:sp>
      <p:sp>
        <p:nvSpPr>
          <p:cNvPr id="17" name="Text 15"/>
          <p:cNvSpPr/>
          <p:nvPr/>
        </p:nvSpPr>
        <p:spPr>
          <a:xfrm>
            <a:off x="822960" y="3044952"/>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1968</a:t>
            </a:r>
            <a:endParaRPr lang="en-US" sz="1000" dirty="0"/>
          </a:p>
        </p:txBody>
      </p:sp>
      <p:sp>
        <p:nvSpPr>
          <p:cNvPr id="18" name="Text 16"/>
          <p:cNvSpPr/>
          <p:nvPr/>
        </p:nvSpPr>
        <p:spPr>
          <a:xfrm>
            <a:off x="1554480" y="3044952"/>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Central Office → Intergroup — 89 groups</a:t>
            </a:r>
            <a:endParaRPr lang="en-US" sz="1000" dirty="0"/>
          </a:p>
        </p:txBody>
      </p:sp>
      <p:sp>
        <p:nvSpPr>
          <p:cNvPr id="19" name="Shape 17"/>
          <p:cNvSpPr/>
          <p:nvPr/>
        </p:nvSpPr>
        <p:spPr>
          <a:xfrm>
            <a:off x="548640" y="3447288"/>
            <a:ext cx="146304" cy="146304"/>
          </a:xfrm>
          <a:prstGeom prst="ellipse">
            <a:avLst/>
          </a:prstGeom>
          <a:solidFill>
            <a:srgbClr val="D4A84B"/>
          </a:solidFill>
          <a:ln/>
        </p:spPr>
      </p:sp>
      <p:sp>
        <p:nvSpPr>
          <p:cNvPr id="20" name="Text 18"/>
          <p:cNvSpPr/>
          <p:nvPr/>
        </p:nvSpPr>
        <p:spPr>
          <a:xfrm>
            <a:off x="822960" y="3392424"/>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1977</a:t>
            </a:r>
            <a:endParaRPr lang="en-US" sz="1000" dirty="0"/>
          </a:p>
        </p:txBody>
      </p:sp>
      <p:sp>
        <p:nvSpPr>
          <p:cNvPr id="21" name="Text 19"/>
          <p:cNvSpPr/>
          <p:nvPr/>
        </p:nvSpPr>
        <p:spPr>
          <a:xfrm>
            <a:off x="1554480" y="3392424"/>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Fort Worth Central Office Established</a:t>
            </a:r>
            <a:endParaRPr lang="en-US" sz="1000" dirty="0"/>
          </a:p>
        </p:txBody>
      </p:sp>
      <p:sp>
        <p:nvSpPr>
          <p:cNvPr id="22" name="Shape 20"/>
          <p:cNvSpPr/>
          <p:nvPr/>
        </p:nvSpPr>
        <p:spPr>
          <a:xfrm>
            <a:off x="548640" y="3794760"/>
            <a:ext cx="146304" cy="146304"/>
          </a:xfrm>
          <a:prstGeom prst="ellipse">
            <a:avLst/>
          </a:prstGeom>
          <a:solidFill>
            <a:srgbClr val="D4A84B"/>
          </a:solidFill>
          <a:ln/>
        </p:spPr>
      </p:sp>
      <p:sp>
        <p:nvSpPr>
          <p:cNvPr id="23" name="Text 21"/>
          <p:cNvSpPr/>
          <p:nvPr/>
        </p:nvSpPr>
        <p:spPr>
          <a:xfrm>
            <a:off x="822960" y="3739896"/>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1989</a:t>
            </a:r>
            <a:endParaRPr lang="en-US" sz="1000" dirty="0"/>
          </a:p>
        </p:txBody>
      </p:sp>
      <p:sp>
        <p:nvSpPr>
          <p:cNvPr id="24" name="Text 22"/>
          <p:cNvSpPr/>
          <p:nvPr/>
        </p:nvSpPr>
        <p:spPr>
          <a:xfrm>
            <a:off x="1554480" y="3739896"/>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Dallas Intergroup Association Incorporated (501c3)</a:t>
            </a:r>
            <a:endParaRPr lang="en-US" sz="1000" dirty="0"/>
          </a:p>
        </p:txBody>
      </p:sp>
      <p:sp>
        <p:nvSpPr>
          <p:cNvPr id="25" name="Shape 23"/>
          <p:cNvSpPr/>
          <p:nvPr/>
        </p:nvSpPr>
        <p:spPr>
          <a:xfrm>
            <a:off x="548640" y="4142232"/>
            <a:ext cx="146304" cy="146304"/>
          </a:xfrm>
          <a:prstGeom prst="ellipse">
            <a:avLst/>
          </a:prstGeom>
          <a:solidFill>
            <a:srgbClr val="D4A84B"/>
          </a:solidFill>
          <a:ln/>
        </p:spPr>
      </p:sp>
      <p:sp>
        <p:nvSpPr>
          <p:cNvPr id="26" name="Text 24"/>
          <p:cNvSpPr/>
          <p:nvPr/>
        </p:nvSpPr>
        <p:spPr>
          <a:xfrm>
            <a:off x="822960" y="4087368"/>
            <a:ext cx="640080" cy="256032"/>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2000</a:t>
            </a:r>
            <a:endParaRPr lang="en-US" sz="1000" dirty="0"/>
          </a:p>
        </p:txBody>
      </p:sp>
      <p:sp>
        <p:nvSpPr>
          <p:cNvPr id="27" name="Text 25"/>
          <p:cNvSpPr/>
          <p:nvPr/>
        </p:nvSpPr>
        <p:spPr>
          <a:xfrm>
            <a:off x="1554480" y="4087368"/>
            <a:ext cx="7132320" cy="256032"/>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Renamed: Dallas AA Central Office</a:t>
            </a:r>
            <a:endParaRPr lang="en-US" sz="1000" dirty="0"/>
          </a:p>
        </p:txBody>
      </p:sp>
      <p:sp>
        <p:nvSpPr>
          <p:cNvPr id="28" name="Text 26"/>
          <p:cNvSpPr/>
          <p:nvPr/>
        </p:nvSpPr>
        <p:spPr>
          <a:xfrm>
            <a:off x="457200" y="4251960"/>
            <a:ext cx="8229600" cy="320040"/>
          </a:xfrm>
          <a:prstGeom prst="rect">
            <a:avLst/>
          </a:prstGeom>
          <a:noFill/>
          <a:ln/>
        </p:spPr>
        <p:txBody>
          <a:bodyPr wrap="square" rtlCol="0" anchor="ctr"/>
          <a:lstStyle/>
          <a:p>
            <a:pPr indent="0" marL="0">
              <a:buNone/>
            </a:pPr>
            <a:r>
              <a:rPr lang="en-US" sz="1000" b="1" dirty="0">
                <a:solidFill>
                  <a:srgbClr val="F5E6C8"/>
                </a:solidFill>
                <a:latin typeface="Calibri" pitchFamily="34" charset="0"/>
                <a:ea typeface="Calibri" pitchFamily="34" charset="-122"/>
                <a:cs typeface="Calibri" pitchFamily="34" charset="-120"/>
              </a:rPr>
              <a:t>District 22 — That's Us. Through your home group's GSR → District 22 → NETA Area 65 → General Service Conference, YOUR voice reaches all of AA.</a:t>
            </a:r>
            <a:endParaRPr lang="en-US" sz="1000" dirty="0"/>
          </a:p>
        </p:txBody>
      </p:sp>
    </p:spTree>
  </p:cSld>
  <p:clrMapOvr>
    <a:masterClrMapping/>
  </p:clrMapOvr>
  <p:transition spd="med" advClick="1">
    <p:fade thruBlk="1"/>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274320"/>
            <a:ext cx="1773936" cy="320040"/>
          </a:xfrm>
          <a:prstGeom prst="roundRect">
            <a:avLst>
              <a:gd name="adj" fmla="val 14286"/>
            </a:avLst>
          </a:prstGeom>
          <a:solidFill>
            <a:srgbClr val="D4A84B"/>
          </a:solidFill>
          <a:ln/>
        </p:spPr>
      </p:sp>
      <p:sp>
        <p:nvSpPr>
          <p:cNvPr id="3" name="Text 1"/>
          <p:cNvSpPr/>
          <p:nvPr/>
        </p:nvSpPr>
        <p:spPr>
          <a:xfrm>
            <a:off x="457200" y="274320"/>
            <a:ext cx="1773936"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PART 7</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3000" b="1" dirty="0">
                <a:solidFill>
                  <a:srgbClr val="F0C96E"/>
                </a:solidFill>
                <a:latin typeface="Georgia" pitchFamily="34" charset="0"/>
                <a:ea typeface="Georgia" pitchFamily="34" charset="-122"/>
                <a:cs typeface="Georgia" pitchFamily="34" charset="-120"/>
              </a:rPr>
              <a:t>Dallas AA Fun Facts &amp; Trivia</a:t>
            </a:r>
            <a:endParaRPr lang="en-US" sz="3000" dirty="0"/>
          </a:p>
        </p:txBody>
      </p:sp>
      <p:sp>
        <p:nvSpPr>
          <p:cNvPr id="5" name="Text 3"/>
          <p:cNvSpPr/>
          <p:nvPr/>
        </p:nvSpPr>
        <p:spPr>
          <a:xfrm>
            <a:off x="457200" y="123444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How well do you know your local AA history?</a:t>
            </a:r>
            <a:endParaRPr lang="en-US" sz="1400" dirty="0"/>
          </a:p>
        </p:txBody>
      </p:sp>
      <p:sp>
        <p:nvSpPr>
          <p:cNvPr id="6" name="Shape 4"/>
          <p:cNvSpPr/>
          <p:nvPr/>
        </p:nvSpPr>
        <p:spPr>
          <a:xfrm>
            <a:off x="457200" y="173736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737360"/>
            <a:ext cx="54864" cy="731520"/>
          </a:xfrm>
          <a:prstGeom prst="rect">
            <a:avLst/>
          </a:prstGeom>
          <a:solidFill>
            <a:srgbClr val="D4A84B"/>
          </a:solidFill>
          <a:ln/>
        </p:spPr>
      </p:sp>
      <p:sp>
        <p:nvSpPr>
          <p:cNvPr id="8" name="Text 6"/>
          <p:cNvSpPr/>
          <p:nvPr/>
        </p:nvSpPr>
        <p:spPr>
          <a:xfrm>
            <a:off x="640080" y="1828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First AA pamphlet ever published?</a:t>
            </a:r>
            <a:endParaRPr lang="en-US" sz="1300" dirty="0"/>
          </a:p>
        </p:txBody>
      </p:sp>
      <p:sp>
        <p:nvSpPr>
          <p:cNvPr id="9" name="Text 7"/>
          <p:cNvSpPr/>
          <p:nvPr/>
        </p:nvSpPr>
        <p:spPr>
          <a:xfrm>
            <a:off x="640080" y="210312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Larry J.'s Houston Press articles (Feb 1940) — born in Texas!</a:t>
            </a:r>
            <a:endParaRPr lang="en-US" sz="1100" dirty="0"/>
          </a:p>
        </p:txBody>
      </p:sp>
      <p:sp>
        <p:nvSpPr>
          <p:cNvPr id="10" name="Shape 8"/>
          <p:cNvSpPr/>
          <p:nvPr/>
        </p:nvSpPr>
        <p:spPr>
          <a:xfrm>
            <a:off x="4754880" y="173736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737360"/>
            <a:ext cx="54864" cy="731520"/>
          </a:xfrm>
          <a:prstGeom prst="rect">
            <a:avLst/>
          </a:prstGeom>
          <a:solidFill>
            <a:srgbClr val="2C5F8A"/>
          </a:solidFill>
          <a:ln/>
        </p:spPr>
      </p:sp>
      <p:sp>
        <p:nvSpPr>
          <p:cNvPr id="12" name="Text 10"/>
          <p:cNvSpPr/>
          <p:nvPr/>
        </p:nvSpPr>
        <p:spPr>
          <a:xfrm>
            <a:off x="4937760" y="1828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When was Dallas AA founded?</a:t>
            </a:r>
            <a:endParaRPr lang="en-US" sz="1300" dirty="0"/>
          </a:p>
        </p:txBody>
      </p:sp>
      <p:sp>
        <p:nvSpPr>
          <p:cNvPr id="13" name="Text 11"/>
          <p:cNvSpPr/>
          <p:nvPr/>
        </p:nvSpPr>
        <p:spPr>
          <a:xfrm>
            <a:off x="4937760" y="210312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April 2, 1943 — by Esther E. in her living room.</a:t>
            </a:r>
            <a:endParaRPr lang="en-US" sz="1100" dirty="0"/>
          </a:p>
        </p:txBody>
      </p:sp>
      <p:sp>
        <p:nvSpPr>
          <p:cNvPr id="14" name="Shape 12"/>
          <p:cNvSpPr/>
          <p:nvPr/>
        </p:nvSpPr>
        <p:spPr>
          <a:xfrm>
            <a:off x="457200" y="260604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606040"/>
            <a:ext cx="54864" cy="731520"/>
          </a:xfrm>
          <a:prstGeom prst="rect">
            <a:avLst/>
          </a:prstGeom>
          <a:solidFill>
            <a:srgbClr val="B85042"/>
          </a:solidFill>
          <a:ln/>
        </p:spPr>
      </p:sp>
      <p:sp>
        <p:nvSpPr>
          <p:cNvPr id="16" name="Text 14"/>
          <p:cNvSpPr/>
          <p:nvPr/>
        </p:nvSpPr>
        <p:spPr>
          <a:xfrm>
            <a:off x="640080" y="26974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Who was the 'Chief Sponsor'?</a:t>
            </a:r>
            <a:endParaRPr lang="en-US" sz="1300" dirty="0"/>
          </a:p>
        </p:txBody>
      </p:sp>
      <p:sp>
        <p:nvSpPr>
          <p:cNvPr id="17" name="Text 15"/>
          <p:cNvSpPr/>
          <p:nvPr/>
        </p:nvSpPr>
        <p:spPr>
          <a:xfrm>
            <a:off x="640080" y="297180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Kent W. — his publicity-driven effort collapsed entirely.</a:t>
            </a:r>
            <a:endParaRPr lang="en-US" sz="1100" dirty="0"/>
          </a:p>
        </p:txBody>
      </p:sp>
      <p:sp>
        <p:nvSpPr>
          <p:cNvPr id="18" name="Shape 16"/>
          <p:cNvSpPr/>
          <p:nvPr/>
        </p:nvSpPr>
        <p:spPr>
          <a:xfrm>
            <a:off x="4754880" y="260604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2606040"/>
            <a:ext cx="54864" cy="731520"/>
          </a:xfrm>
          <a:prstGeom prst="rect">
            <a:avLst/>
          </a:prstGeom>
          <a:solidFill>
            <a:srgbClr val="D4A84B"/>
          </a:solidFill>
          <a:ln/>
        </p:spPr>
      </p:sp>
      <p:sp>
        <p:nvSpPr>
          <p:cNvPr id="20" name="Text 18"/>
          <p:cNvSpPr/>
          <p:nvPr/>
        </p:nvSpPr>
        <p:spPr>
          <a:xfrm>
            <a:off x="4937760" y="26974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How many sober in Dallas by 1945?</a:t>
            </a:r>
            <a:endParaRPr lang="en-US" sz="1300" dirty="0"/>
          </a:p>
        </p:txBody>
      </p:sp>
      <p:sp>
        <p:nvSpPr>
          <p:cNvPr id="21" name="Text 19"/>
          <p:cNvSpPr/>
          <p:nvPr/>
        </p:nvSpPr>
        <p:spPr>
          <a:xfrm>
            <a:off x="4937760" y="297180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Fewer than twenty! Today: 160+ groups, thousands of members.</a:t>
            </a:r>
            <a:endParaRPr lang="en-US" sz="1100" dirty="0"/>
          </a:p>
        </p:txBody>
      </p:sp>
      <p:sp>
        <p:nvSpPr>
          <p:cNvPr id="22" name="Shape 20"/>
          <p:cNvSpPr/>
          <p:nvPr/>
        </p:nvSpPr>
        <p:spPr>
          <a:xfrm>
            <a:off x="457200" y="347472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3" name="Shape 21"/>
          <p:cNvSpPr/>
          <p:nvPr/>
        </p:nvSpPr>
        <p:spPr>
          <a:xfrm>
            <a:off x="457200" y="3474720"/>
            <a:ext cx="54864" cy="731520"/>
          </a:xfrm>
          <a:prstGeom prst="rect">
            <a:avLst/>
          </a:prstGeom>
          <a:solidFill>
            <a:srgbClr val="2C5F8A"/>
          </a:solidFill>
          <a:ln/>
        </p:spPr>
      </p:sp>
      <p:sp>
        <p:nvSpPr>
          <p:cNvPr id="24" name="Text 22"/>
          <p:cNvSpPr/>
          <p:nvPr/>
        </p:nvSpPr>
        <p:spPr>
          <a:xfrm>
            <a:off x="640080" y="3566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Who told Bill W. Texas didn't need Traditions?</a:t>
            </a:r>
            <a:endParaRPr lang="en-US" sz="1300" dirty="0"/>
          </a:p>
        </p:txBody>
      </p:sp>
      <p:sp>
        <p:nvSpPr>
          <p:cNvPr id="25" name="Text 23"/>
          <p:cNvSpPr/>
          <p:nvPr/>
        </p:nvSpPr>
        <p:spPr>
          <a:xfrm>
            <a:off x="640080" y="384048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Searcy W. in 1948: 'We don't need this down here. We love each other.'</a:t>
            </a:r>
            <a:endParaRPr lang="en-US" sz="1100" dirty="0"/>
          </a:p>
        </p:txBody>
      </p:sp>
      <p:sp>
        <p:nvSpPr>
          <p:cNvPr id="26" name="Shape 24"/>
          <p:cNvSpPr/>
          <p:nvPr/>
        </p:nvSpPr>
        <p:spPr>
          <a:xfrm>
            <a:off x="4754880" y="3474720"/>
            <a:ext cx="3931920" cy="7315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7" name="Shape 25"/>
          <p:cNvSpPr/>
          <p:nvPr/>
        </p:nvSpPr>
        <p:spPr>
          <a:xfrm>
            <a:off x="4754880" y="3474720"/>
            <a:ext cx="54864" cy="731520"/>
          </a:xfrm>
          <a:prstGeom prst="rect">
            <a:avLst/>
          </a:prstGeom>
          <a:solidFill>
            <a:srgbClr val="B85042"/>
          </a:solidFill>
          <a:ln/>
        </p:spPr>
      </p:sp>
      <p:sp>
        <p:nvSpPr>
          <p:cNvPr id="28" name="Text 26"/>
          <p:cNvSpPr/>
          <p:nvPr/>
        </p:nvSpPr>
        <p:spPr>
          <a:xfrm>
            <a:off x="4937760" y="35661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Where did Ebby Thacher get sober?</a:t>
            </a:r>
            <a:endParaRPr lang="en-US" sz="1300" dirty="0"/>
          </a:p>
        </p:txBody>
      </p:sp>
      <p:sp>
        <p:nvSpPr>
          <p:cNvPr id="29" name="Text 27"/>
          <p:cNvSpPr/>
          <p:nvPr/>
        </p:nvSpPr>
        <p:spPr>
          <a:xfrm>
            <a:off x="4937760" y="3840480"/>
            <a:ext cx="3611880" cy="2743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 the Suburban Club in Dallas (1953), after 18 years of struggle.</a:t>
            </a:r>
            <a:endParaRPr lang="en-US" sz="1100" dirty="0"/>
          </a:p>
        </p:txBody>
      </p:sp>
      <p:sp>
        <p:nvSpPr>
          <p:cNvPr id="30" name="TextBox 29"/>
          <p:cNvSpPr txBox="1"/>
          <p:nvPr/>
        </p:nvSpPr>
        <p:spPr>
          <a:xfrm>
            <a:off x="274320" y="3200400"/>
            <a:ext cx="8595360" cy="1828800"/>
          </a:xfrm>
          <a:prstGeom prst="rect">
            <a:avLst/>
          </a:prstGeom>
          <a:noFill/>
        </p:spPr>
        <p:txBody>
          <a:bodyPr wrap="square">
            <a:spAutoFit/>
          </a:bodyPr>
          <a:lstStyle/>
          <a:p>
            <a:pPr algn="l"/>
            <a:r>
              <a:rPr sz="900" b="0" i="0">
                <a:solidFill>
                  <a:srgbClr val="99AABB"/>
                </a:solidFill>
                <a:latin typeface="Calibri"/>
              </a:rPr>
              <a:t>MORE TRIVIA:
What is 'Jake Leg' and who at Dallas Central Office had it?
→ Jamaica Ginger Paralysis — caused by toxic Prohibition-era alcohol. Dick P., the first Central Office manager, suffered from it.
What article quadrupled AA membership — and directly led to Dallas AA's founding?
→ Jack Alexander's Saturday Evening Post article (March 1, 1941). Esther E.'s husband read it, gave her an ultimatum, and she contacted GSO.</a:t>
            </a:r>
          </a:p>
        </p:txBody>
      </p:sp>
    </p:spTree>
  </p:cSld>
  <p:clrMapOvr>
    <a:masterClrMapping/>
  </p:clrMapOvr>
  <p:transition spd="med" advClick="1">
    <p:fade thruBlk="1"/>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274320"/>
            <a:ext cx="1874520" cy="320040"/>
          </a:xfrm>
          <a:prstGeom prst="roundRect">
            <a:avLst>
              <a:gd name="adj" fmla="val 14286"/>
            </a:avLst>
          </a:prstGeom>
          <a:solidFill>
            <a:srgbClr val="D4A84B"/>
          </a:solidFill>
          <a:ln/>
        </p:spPr>
      </p:sp>
      <p:sp>
        <p:nvSpPr>
          <p:cNvPr id="3" name="Text 1"/>
          <p:cNvSpPr/>
          <p:nvPr/>
        </p:nvSpPr>
        <p:spPr>
          <a:xfrm>
            <a:off x="457200" y="274320"/>
            <a:ext cx="1874520"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HISTORY CLOSING</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From One Woman's Living Room</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to a Thousand Meetings</a:t>
            </a:r>
            <a:endParaRPr lang="en-US" sz="2800" dirty="0"/>
          </a:p>
        </p:txBody>
      </p:sp>
      <p:sp>
        <p:nvSpPr>
          <p:cNvPr id="5" name="Text 3"/>
          <p:cNvSpPr/>
          <p:nvPr/>
        </p:nvSpPr>
        <p:spPr>
          <a:xfrm>
            <a:off x="457200" y="1508760"/>
            <a:ext cx="8229600" cy="548640"/>
          </a:xfrm>
          <a:prstGeom prst="rect">
            <a:avLst/>
          </a:prstGeom>
          <a:noFill/>
          <a:ln/>
        </p:spPr>
        <p:txBody>
          <a:bodyPr wrap="square" rtlCol="0" anchor="ctr"/>
          <a:lstStyle/>
          <a:p>
            <a:pPr algn="ctr" indent="0" marL="0">
              <a:buNone/>
            </a:pPr>
            <a:r>
              <a:rPr lang="en-US" sz="1300" i="1" dirty="0">
                <a:solidFill>
                  <a:srgbClr val="F5E6C8"/>
                </a:solidFill>
                <a:latin typeface="Calibri" pitchFamily="34" charset="0"/>
                <a:ea typeface="Calibri" pitchFamily="34" charset="-122"/>
                <a:cs typeface="Calibri" pitchFamily="34" charset="-120"/>
              </a:rPr>
              <a:t>Every AA group in the Dallas-Fort Worth metroplex today is a leaf on a tree whose roots trace directly to Akron in 1935, through Houston in 1940, to Esther E.'s home on April 2, 1943.</a:t>
            </a:r>
            <a:endParaRPr lang="en-US" sz="1300" dirty="0"/>
          </a:p>
        </p:txBody>
      </p:sp>
      <p:sp>
        <p:nvSpPr>
          <p:cNvPr id="6" name="Shape 4"/>
          <p:cNvSpPr/>
          <p:nvPr/>
        </p:nvSpPr>
        <p:spPr>
          <a:xfrm>
            <a:off x="457200" y="224028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2240280"/>
            <a:ext cx="54864" cy="868680"/>
          </a:xfrm>
          <a:prstGeom prst="rect">
            <a:avLst/>
          </a:prstGeom>
          <a:solidFill>
            <a:srgbClr val="D4A84B"/>
          </a:solidFill>
          <a:ln/>
        </p:spPr>
      </p:sp>
      <p:sp>
        <p:nvSpPr>
          <p:cNvPr id="8" name="Text 6"/>
          <p:cNvSpPr/>
          <p:nvPr/>
        </p:nvSpPr>
        <p:spPr>
          <a:xfrm>
            <a:off x="640080" y="23317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Heritage &amp; Identity</a:t>
            </a:r>
            <a:endParaRPr lang="en-US" sz="1300" dirty="0"/>
          </a:p>
        </p:txBody>
      </p:sp>
      <p:sp>
        <p:nvSpPr>
          <p:cNvPr id="9" name="Text 7"/>
          <p:cNvSpPr/>
          <p:nvPr/>
        </p:nvSpPr>
        <p:spPr>
          <a:xfrm>
            <a:off x="640080" y="260604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How does knowing this history affect how you view your home group today?</a:t>
            </a:r>
            <a:endParaRPr lang="en-US" sz="1100" dirty="0"/>
          </a:p>
        </p:txBody>
      </p:sp>
      <p:sp>
        <p:nvSpPr>
          <p:cNvPr id="10" name="Shape 8"/>
          <p:cNvSpPr/>
          <p:nvPr/>
        </p:nvSpPr>
        <p:spPr>
          <a:xfrm>
            <a:off x="4754880" y="224028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2240280"/>
            <a:ext cx="54864" cy="868680"/>
          </a:xfrm>
          <a:prstGeom prst="rect">
            <a:avLst/>
          </a:prstGeom>
          <a:solidFill>
            <a:srgbClr val="D4A84B"/>
          </a:solidFill>
          <a:ln/>
        </p:spPr>
      </p:sp>
      <p:sp>
        <p:nvSpPr>
          <p:cNvPr id="12" name="Text 10"/>
          <p:cNvSpPr/>
          <p:nvPr/>
        </p:nvSpPr>
        <p:spPr>
          <a:xfrm>
            <a:off x="4937760" y="23317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Attraction vs. Promotion</a:t>
            </a:r>
            <a:endParaRPr lang="en-US" sz="1300" dirty="0"/>
          </a:p>
        </p:txBody>
      </p:sp>
      <p:sp>
        <p:nvSpPr>
          <p:cNvPr id="13" name="Text 11"/>
          <p:cNvSpPr/>
          <p:nvPr/>
        </p:nvSpPr>
        <p:spPr>
          <a:xfrm>
            <a:off x="4937760" y="260604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How does your group practice 'attraction rather than promotion' in the digital age?</a:t>
            </a:r>
            <a:endParaRPr lang="en-US" sz="1100" dirty="0"/>
          </a:p>
        </p:txBody>
      </p:sp>
      <p:sp>
        <p:nvSpPr>
          <p:cNvPr id="14" name="Shape 12"/>
          <p:cNvSpPr/>
          <p:nvPr/>
        </p:nvSpPr>
        <p:spPr>
          <a:xfrm>
            <a:off x="457200" y="324612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246120"/>
            <a:ext cx="54864" cy="868680"/>
          </a:xfrm>
          <a:prstGeom prst="rect">
            <a:avLst/>
          </a:prstGeom>
          <a:solidFill>
            <a:srgbClr val="D4A84B"/>
          </a:solidFill>
          <a:ln/>
        </p:spPr>
      </p:sp>
      <p:sp>
        <p:nvSpPr>
          <p:cNvPr id="16" name="Text 14"/>
          <p:cNvSpPr/>
          <p:nvPr/>
        </p:nvSpPr>
        <p:spPr>
          <a:xfrm>
            <a:off x="640080" y="33375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Service &amp; Sacrifice</a:t>
            </a:r>
            <a:endParaRPr lang="en-US" sz="1300" dirty="0"/>
          </a:p>
        </p:txBody>
      </p:sp>
      <p:sp>
        <p:nvSpPr>
          <p:cNvPr id="17" name="Text 15"/>
          <p:cNvSpPr/>
          <p:nvPr/>
        </p:nvSpPr>
        <p:spPr>
          <a:xfrm>
            <a:off x="640080" y="361188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Dick P. managed phones despite paralysis. Searcy served 57 years. What does their example teach us?</a:t>
            </a:r>
            <a:endParaRPr lang="en-US" sz="1100" dirty="0"/>
          </a:p>
        </p:txBody>
      </p:sp>
      <p:sp>
        <p:nvSpPr>
          <p:cNvPr id="18" name="Shape 16"/>
          <p:cNvSpPr/>
          <p:nvPr/>
        </p:nvSpPr>
        <p:spPr>
          <a:xfrm>
            <a:off x="4754880" y="3246120"/>
            <a:ext cx="3931920" cy="86868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3246120"/>
            <a:ext cx="54864" cy="868680"/>
          </a:xfrm>
          <a:prstGeom prst="rect">
            <a:avLst/>
          </a:prstGeom>
          <a:solidFill>
            <a:srgbClr val="D4A84B"/>
          </a:solidFill>
          <a:ln/>
        </p:spPr>
      </p:sp>
      <p:sp>
        <p:nvSpPr>
          <p:cNvPr id="20" name="Text 18"/>
          <p:cNvSpPr/>
          <p:nvPr/>
        </p:nvSpPr>
        <p:spPr>
          <a:xfrm>
            <a:off x="4937760" y="33375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Never Give Up</a:t>
            </a:r>
            <a:endParaRPr lang="en-US" sz="1300" dirty="0"/>
          </a:p>
        </p:txBody>
      </p:sp>
      <p:sp>
        <p:nvSpPr>
          <p:cNvPr id="21" name="Text 19"/>
          <p:cNvSpPr/>
          <p:nvPr/>
        </p:nvSpPr>
        <p:spPr>
          <a:xfrm>
            <a:off x="4937760" y="3611880"/>
            <a:ext cx="3611880" cy="41148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Ebby struggled 18 years. Ruth T. waited 2 years. What does persistence teach us?</a:t>
            </a:r>
            <a:endParaRPr lang="en-US" sz="1100" dirty="0"/>
          </a:p>
        </p:txBody>
      </p:sp>
      <p:sp>
        <p:nvSpPr>
          <p:cNvPr id="22" name="Shape 20"/>
          <p:cNvSpPr/>
          <p:nvPr/>
        </p:nvSpPr>
        <p:spPr>
          <a:xfrm>
            <a:off x="457200" y="4160520"/>
            <a:ext cx="8229600" cy="45720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23" name="Shape 21"/>
          <p:cNvSpPr/>
          <p:nvPr/>
        </p:nvSpPr>
        <p:spPr>
          <a:xfrm>
            <a:off x="457200" y="4160520"/>
            <a:ext cx="54864" cy="457200"/>
          </a:xfrm>
          <a:prstGeom prst="rect">
            <a:avLst/>
          </a:prstGeom>
          <a:solidFill>
            <a:srgbClr val="D4A84B"/>
          </a:solidFill>
          <a:ln/>
        </p:spPr>
      </p:sp>
      <p:sp>
        <p:nvSpPr>
          <p:cNvPr id="24" name="Text 22"/>
          <p:cNvSpPr/>
          <p:nvPr/>
        </p:nvSpPr>
        <p:spPr>
          <a:xfrm>
            <a:off x="640080" y="4251960"/>
            <a:ext cx="7909560" cy="27432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"I am responsible. When anyone, anywhere, reaches out for help, I want the hand of A.A. always to be there. And for that: I am responsible."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The Responsibility Statement (1965)</a:t>
            </a:r>
            <a:endParaRPr lang="en-US" sz="1100" dirty="0"/>
          </a:p>
        </p:txBody>
      </p:sp>
    </p:spTree>
  </p:cSld>
  <p:clrMapOvr>
    <a:masterClrMapping/>
  </p:clrMapOvr>
  <p:transition spd="med" advClick="1">
    <p:fade thruBlk="1"/>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algn="ctr" indent="0" marL="0">
              <a:buNone/>
            </a:pPr>
            <a:r>
              <a:rPr lang="en-US" sz="1300" dirty="0">
                <a:solidFill>
                  <a:srgbClr val="99AABB"/>
                </a:solidFill>
                <a:latin typeface="Calibri" pitchFamily="34" charset="0"/>
                <a:ea typeface="Calibri" pitchFamily="34" charset="-122"/>
                <a:cs typeface="Calibri" pitchFamily="34" charset="-120"/>
              </a:rPr>
              <a:t>Evening Session  •  Anonymity Panel  •  8:00 PM – 10:00 PM</a:t>
            </a:r>
            <a:endParaRPr lang="en-US" sz="1300" dirty="0"/>
          </a:p>
        </p:txBody>
      </p:sp>
      <p:sp>
        <p:nvSpPr>
          <p:cNvPr id="3" name="Text 1"/>
          <p:cNvSpPr/>
          <p:nvPr/>
        </p:nvSpPr>
        <p:spPr>
          <a:xfrm>
            <a:off x="457200" y="1371600"/>
            <a:ext cx="8229600" cy="1645920"/>
          </a:xfrm>
          <a:prstGeom prst="rect">
            <a:avLst/>
          </a:prstGeom>
          <a:noFill/>
          <a:ln/>
        </p:spPr>
        <p:txBody>
          <a:bodyPr wrap="square" rtlCol="0" anchor="ctr"/>
          <a:lstStyle/>
          <a:p>
            <a:pPr algn="ctr" indent="0" marL="0">
              <a:buNone/>
            </a:pPr>
            <a:r>
              <a:rPr lang="en-US" sz="3600" b="1" dirty="0">
                <a:solidFill>
                  <a:srgbClr val="F0C96E"/>
                </a:solidFill>
                <a:latin typeface="Georgia" pitchFamily="34" charset="0"/>
                <a:ea typeface="Georgia" pitchFamily="34" charset="-122"/>
                <a:cs typeface="Georgia" pitchFamily="34" charset="-120"/>
              </a:rPr>
              <a:t>First Names Only:</a:t>
            </a:r>
            <a:endParaRPr lang="en-US" sz="3600" dirty="0"/>
          </a:p>
          <a:p>
            <a:pPr algn="ctr" indent="0" marL="0">
              <a:buNone/>
            </a:pPr>
            <a:r>
              <a:rPr lang="en-US" sz="3600" b="1" dirty="0">
                <a:solidFill>
                  <a:srgbClr val="F0C96E"/>
                </a:solidFill>
                <a:latin typeface="Georgia" pitchFamily="34" charset="0"/>
                <a:ea typeface="Georgia" pitchFamily="34" charset="-122"/>
                <a:cs typeface="Georgia" pitchFamily="34" charset="-120"/>
              </a:rPr>
              <a:t>The Spiritual Discipline</a:t>
            </a:r>
            <a:endParaRPr lang="en-US" sz="3600" dirty="0"/>
          </a:p>
          <a:p>
            <a:pPr algn="ctr" indent="0" marL="0">
              <a:buNone/>
            </a:pPr>
            <a:r>
              <a:rPr lang="en-US" sz="3600" b="1" dirty="0">
                <a:solidFill>
                  <a:srgbClr val="F0C96E"/>
                </a:solidFill>
                <a:latin typeface="Georgia" pitchFamily="34" charset="0"/>
                <a:ea typeface="Georgia" pitchFamily="34" charset="-122"/>
                <a:cs typeface="Georgia" pitchFamily="34" charset="-120"/>
              </a:rPr>
              <a:t>We Practice at Home</a:t>
            </a:r>
            <a:endParaRPr lang="en-US" sz="3600" dirty="0"/>
          </a:p>
        </p:txBody>
      </p:sp>
      <p:sp>
        <p:nvSpPr>
          <p:cNvPr id="4" name="Text 2"/>
          <p:cNvSpPr/>
          <p:nvPr/>
        </p:nvSpPr>
        <p:spPr>
          <a:xfrm>
            <a:off x="914400" y="3017520"/>
            <a:ext cx="7315200" cy="640080"/>
          </a:xfrm>
          <a:prstGeom prst="rect">
            <a:avLst/>
          </a:prstGeom>
          <a:noFill/>
          <a:ln/>
        </p:spPr>
        <p:txBody>
          <a:bodyPr wrap="square" rtlCol="0" anchor="ctr"/>
          <a:lstStyle/>
          <a:p>
            <a:pPr algn="ctr" indent="0" marL="0">
              <a:buNone/>
            </a:pPr>
            <a:r>
              <a:rPr lang="en-US" sz="1400" i="1" dirty="0">
                <a:solidFill>
                  <a:srgbClr val="E8E8E8"/>
                </a:solidFill>
                <a:latin typeface="Calibri" pitchFamily="34" charset="0"/>
                <a:ea typeface="Calibri" pitchFamily="34" charset="-122"/>
                <a:cs typeface="Calibri" pitchFamily="34" charset="-120"/>
              </a:rPr>
              <a:t>Two Levels of Anonymity in the Digital Age</a:t>
            </a:r>
            <a:endParaRPr lang="en-US" sz="1400" dirty="0"/>
          </a:p>
          <a:p>
            <a:pPr algn="ctr" indent="0" marL="0">
              <a:buNone/>
            </a:pPr>
            <a:r>
              <a:rPr lang="en-US" sz="1400" i="1" dirty="0">
                <a:solidFill>
                  <a:srgbClr val="E8E8E8"/>
                </a:solidFill>
                <a:latin typeface="Calibri" pitchFamily="34" charset="0"/>
                <a:ea typeface="Calibri" pitchFamily="34" charset="-122"/>
                <a:cs typeface="Calibri" pitchFamily="34" charset="-120"/>
              </a:rPr>
              <a:t>Personal protection, organizational humility, spiritual practice</a:t>
            </a:r>
            <a:endParaRPr lang="en-US" sz="1400" dirty="0"/>
          </a:p>
        </p:txBody>
      </p:sp>
      <p:sp>
        <p:nvSpPr>
          <p:cNvPr id="5" name="Shape 3"/>
          <p:cNvSpPr/>
          <p:nvPr/>
        </p:nvSpPr>
        <p:spPr>
          <a:xfrm>
            <a:off x="914400" y="3794760"/>
            <a:ext cx="73152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914400" y="3794760"/>
            <a:ext cx="54864" cy="502920"/>
          </a:xfrm>
          <a:prstGeom prst="rect">
            <a:avLst/>
          </a:prstGeom>
          <a:solidFill>
            <a:srgbClr val="D4A84B"/>
          </a:solidFill>
          <a:ln/>
        </p:spPr>
      </p:sp>
      <p:sp>
        <p:nvSpPr>
          <p:cNvPr id="7" name="Text 5"/>
          <p:cNvSpPr/>
          <p:nvPr/>
        </p:nvSpPr>
        <p:spPr>
          <a:xfrm>
            <a:off x="1097280" y="3886200"/>
            <a:ext cx="69951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the spiritual foundation of all our Traditions, ever reminding us to place principles before personalities."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Tradition Twelve, 12&amp;12, p. 184</a:t>
            </a:r>
            <a:endParaRPr lang="en-US" sz="1100" dirty="0"/>
          </a:p>
        </p:txBody>
      </p:sp>
    </p:spTree>
  </p:cSld>
  <p:clrMapOvr>
    <a:masterClrMapping/>
  </p:clrMapOvr>
  <p:transition spd="med" advClick="1">
    <p:fade thruBlk="1"/>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1</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The Foundation: Why Does</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Anonymity Exist?</a:t>
            </a:r>
            <a:endParaRPr lang="en-US" sz="2600" dirty="0"/>
          </a:p>
        </p:txBody>
      </p:sp>
      <p:sp>
        <p:nvSpPr>
          <p:cNvPr id="5" name="Shape 3"/>
          <p:cNvSpPr/>
          <p:nvPr/>
        </p:nvSpPr>
        <p:spPr>
          <a:xfrm>
            <a:off x="457200" y="1280160"/>
            <a:ext cx="82296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502920"/>
          </a:xfrm>
          <a:prstGeom prst="rect">
            <a:avLst/>
          </a:prstGeom>
          <a:solidFill>
            <a:srgbClr val="D4A84B"/>
          </a:solidFill>
          <a:ln/>
        </p:spPr>
      </p:sp>
      <p:sp>
        <p:nvSpPr>
          <p:cNvPr id="7" name="Text 5"/>
          <p:cNvSpPr/>
          <p:nvPr/>
        </p:nvSpPr>
        <p:spPr>
          <a:xfrm>
            <a:off x="640080" y="1371600"/>
            <a:ext cx="79095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the greatest protection our Society can ever have."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Dr. Bob, AA Co-Founder — AA Comes of Age, p. 139</a:t>
            </a:r>
            <a:endParaRPr lang="en-US" sz="1100" dirty="0"/>
          </a:p>
        </p:txBody>
      </p:sp>
      <p:sp>
        <p:nvSpPr>
          <p:cNvPr id="8" name="Shape 6"/>
          <p:cNvSpPr/>
          <p:nvPr/>
        </p:nvSpPr>
        <p:spPr>
          <a:xfrm>
            <a:off x="457200" y="1965960"/>
            <a:ext cx="2560320" cy="12344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9" name="Shape 7"/>
          <p:cNvSpPr/>
          <p:nvPr/>
        </p:nvSpPr>
        <p:spPr>
          <a:xfrm>
            <a:off x="457200" y="1965960"/>
            <a:ext cx="54864" cy="1234440"/>
          </a:xfrm>
          <a:prstGeom prst="rect">
            <a:avLst/>
          </a:prstGeom>
          <a:solidFill>
            <a:srgbClr val="D4A84B"/>
          </a:solidFill>
          <a:ln/>
        </p:spPr>
      </p:sp>
      <p:sp>
        <p:nvSpPr>
          <p:cNvPr id="10" name="Text 8"/>
          <p:cNvSpPr/>
          <p:nvPr/>
        </p:nvSpPr>
        <p:spPr>
          <a:xfrm>
            <a:off x="640080" y="20574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1. Personal Protection</a:t>
            </a:r>
            <a:endParaRPr lang="en-US" sz="1300" dirty="0"/>
          </a:p>
        </p:txBody>
      </p:sp>
      <p:sp>
        <p:nvSpPr>
          <p:cNvPr id="11" name="Text 9"/>
          <p:cNvSpPr/>
          <p:nvPr/>
        </p:nvSpPr>
        <p:spPr>
          <a:xfrm>
            <a:off x="640080" y="2331720"/>
            <a:ext cx="2240280" cy="7772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In 1935, alcoholism was a moral failing. Anonymity protected members from job loss, social ostracism, and family shame. Still vital today.</a:t>
            </a:r>
            <a:endParaRPr lang="en-US" sz="1100" dirty="0"/>
          </a:p>
        </p:txBody>
      </p:sp>
      <p:sp>
        <p:nvSpPr>
          <p:cNvPr id="12" name="Shape 10"/>
          <p:cNvSpPr/>
          <p:nvPr/>
        </p:nvSpPr>
        <p:spPr>
          <a:xfrm>
            <a:off x="3291840" y="1965960"/>
            <a:ext cx="2560320" cy="12344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3" name="Shape 11"/>
          <p:cNvSpPr/>
          <p:nvPr/>
        </p:nvSpPr>
        <p:spPr>
          <a:xfrm>
            <a:off x="3291840" y="1965960"/>
            <a:ext cx="54864" cy="1234440"/>
          </a:xfrm>
          <a:prstGeom prst="rect">
            <a:avLst/>
          </a:prstGeom>
          <a:solidFill>
            <a:srgbClr val="2C5F8A"/>
          </a:solidFill>
          <a:ln/>
        </p:spPr>
      </p:sp>
      <p:sp>
        <p:nvSpPr>
          <p:cNvPr id="14" name="Text 12"/>
          <p:cNvSpPr/>
          <p:nvPr/>
        </p:nvSpPr>
        <p:spPr>
          <a:xfrm>
            <a:off x="3474720" y="20574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2. Organizational Protection</a:t>
            </a:r>
            <a:endParaRPr lang="en-US" sz="1300" dirty="0"/>
          </a:p>
        </p:txBody>
      </p:sp>
      <p:sp>
        <p:nvSpPr>
          <p:cNvPr id="15" name="Text 13"/>
          <p:cNvSpPr/>
          <p:nvPr/>
        </p:nvSpPr>
        <p:spPr>
          <a:xfrm>
            <a:off x="3474720" y="2331720"/>
            <a:ext cx="2240280" cy="7772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AA feared cults of personality. If spokespeople relapsed, public trust in AA itself could be destroyed.</a:t>
            </a:r>
            <a:endParaRPr lang="en-US" sz="1100" dirty="0"/>
          </a:p>
        </p:txBody>
      </p:sp>
      <p:sp>
        <p:nvSpPr>
          <p:cNvPr id="16" name="Shape 14"/>
          <p:cNvSpPr/>
          <p:nvPr/>
        </p:nvSpPr>
        <p:spPr>
          <a:xfrm>
            <a:off x="6126480" y="1965960"/>
            <a:ext cx="2560320" cy="12344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7" name="Shape 15"/>
          <p:cNvSpPr/>
          <p:nvPr/>
        </p:nvSpPr>
        <p:spPr>
          <a:xfrm>
            <a:off x="6126480" y="1965960"/>
            <a:ext cx="54864" cy="1234440"/>
          </a:xfrm>
          <a:prstGeom prst="rect">
            <a:avLst/>
          </a:prstGeom>
          <a:solidFill>
            <a:srgbClr val="B85042"/>
          </a:solidFill>
          <a:ln/>
        </p:spPr>
      </p:sp>
      <p:sp>
        <p:nvSpPr>
          <p:cNvPr id="18" name="Text 16"/>
          <p:cNvSpPr/>
          <p:nvPr/>
        </p:nvSpPr>
        <p:spPr>
          <a:xfrm>
            <a:off x="6309360" y="205740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3. Spiritual Practice</a:t>
            </a:r>
            <a:endParaRPr lang="en-US" sz="1300" dirty="0"/>
          </a:p>
        </p:txBody>
      </p:sp>
      <p:sp>
        <p:nvSpPr>
          <p:cNvPr id="19" name="Text 17"/>
          <p:cNvSpPr/>
          <p:nvPr/>
        </p:nvSpPr>
        <p:spPr>
          <a:xfrm>
            <a:off x="6309360" y="2331720"/>
            <a:ext cx="2240280" cy="7772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 daily discipline in humility. Principles come before personalities — the message matters more than the messenger.</a:t>
            </a:r>
            <a:endParaRPr lang="en-US" sz="1100" dirty="0"/>
          </a:p>
        </p:txBody>
      </p:sp>
      <p:sp>
        <p:nvSpPr>
          <p:cNvPr id="20" name="Shape 18"/>
          <p:cNvSpPr/>
          <p:nvPr/>
        </p:nvSpPr>
        <p:spPr>
          <a:xfrm>
            <a:off x="457200" y="3383280"/>
            <a:ext cx="8229600" cy="7772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1" name="Shape 19"/>
          <p:cNvSpPr/>
          <p:nvPr/>
        </p:nvSpPr>
        <p:spPr>
          <a:xfrm>
            <a:off x="457200" y="3383280"/>
            <a:ext cx="54864" cy="777240"/>
          </a:xfrm>
          <a:prstGeom prst="rect">
            <a:avLst/>
          </a:prstGeom>
          <a:solidFill>
            <a:srgbClr val="0D1B2A"/>
          </a:solidFill>
          <a:ln/>
        </p:spPr>
      </p:sp>
      <p:sp>
        <p:nvSpPr>
          <p:cNvPr id="22" name="Text 20"/>
          <p:cNvSpPr/>
          <p:nvPr/>
        </p:nvSpPr>
        <p:spPr>
          <a:xfrm>
            <a:off x="640080" y="347472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What Anonymity Is NOT</a:t>
            </a:r>
            <a:endParaRPr lang="en-US" sz="1300" dirty="0"/>
          </a:p>
        </p:txBody>
      </p:sp>
      <p:sp>
        <p:nvSpPr>
          <p:cNvPr id="23" name="Text 21"/>
          <p:cNvSpPr/>
          <p:nvPr/>
        </p:nvSpPr>
        <p:spPr>
          <a:xfrm>
            <a:off x="640080" y="3749040"/>
            <a:ext cx="7909560" cy="3200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NOT secrecy within the fellowship — we share openly within AA.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NOT that you can't tell anyone — many members are open with family, friends, employers.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NOT a loophole for bad behavior — group conscience can address misconduct.</a:t>
            </a:r>
            <a:endParaRPr lang="en-US" sz="1100" dirty="0"/>
          </a:p>
        </p:txBody>
      </p:sp>
      <p:sp>
        <p:nvSpPr>
          <p:cNvPr id="24" name="TextBox 23"/>
          <p:cNvSpPr txBox="1"/>
          <p:nvPr/>
        </p:nvSpPr>
        <p:spPr>
          <a:xfrm>
            <a:off x="274320" y="2926080"/>
            <a:ext cx="8595360" cy="2103120"/>
          </a:xfrm>
          <a:prstGeom prst="rect">
            <a:avLst/>
          </a:prstGeom>
          <a:noFill/>
        </p:spPr>
        <p:txBody>
          <a:bodyPr wrap="square">
            <a:spAutoFit/>
          </a:bodyPr>
          <a:lstStyle/>
          <a:p>
            <a:pPr algn="l"/>
            <a:r>
              <a:rPr sz="900" b="0" i="0">
                <a:solidFill>
                  <a:srgbClr val="99AABB"/>
                </a:solidFill>
                <a:latin typeface="Calibri"/>
              </a:rPr>
              <a:t>What Anonymity Is NOT:
✗ NOT secrecy within the fellowship — we share openly within AA. First names are for humility, not hiding.
✗ NOT that you can't tell anyone — many members are open with family, friends, employers. Anonymity is about PUBLIC media, not private conversations.
✗ NOT a loophole for bad behavior — group conscience can address misconduct. Anonymity protects AA's public reputation, not individual behavior within the fellowship.
"The spiritual substance of anonymity is sacrifice." — Bill W., AA Grapevine, Jan 1955</a:t>
            </a:r>
          </a:p>
        </p:txBody>
      </p:sp>
    </p:spTree>
  </p:cSld>
  <p:clrMapOvr>
    <a:masterClrMapping/>
  </p:clrMapOvr>
  <p:transition spd="med" advClick="1">
    <p:fade thruBlk="1"/>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2</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Historical Evolution of Anonymity</a:t>
            </a:r>
            <a:endParaRPr lang="en-US" sz="2600" dirty="0"/>
          </a:p>
        </p:txBody>
      </p:sp>
      <p:sp>
        <p:nvSpPr>
          <p:cNvPr id="5" name="Shape 3"/>
          <p:cNvSpPr/>
          <p:nvPr/>
        </p:nvSpPr>
        <p:spPr>
          <a:xfrm>
            <a:off x="457200" y="1472184"/>
            <a:ext cx="146304" cy="146304"/>
          </a:xfrm>
          <a:prstGeom prst="ellipse">
            <a:avLst/>
          </a:prstGeom>
          <a:solidFill>
            <a:srgbClr val="D4A84B"/>
          </a:solidFill>
          <a:ln/>
        </p:spPr>
      </p:sp>
      <p:sp>
        <p:nvSpPr>
          <p:cNvPr id="6" name="Shape 4"/>
          <p:cNvSpPr/>
          <p:nvPr/>
        </p:nvSpPr>
        <p:spPr>
          <a:xfrm>
            <a:off x="521208" y="1618488"/>
            <a:ext cx="0" cy="347472"/>
          </a:xfrm>
          <a:prstGeom prst="line">
            <a:avLst/>
          </a:prstGeom>
          <a:noFill/>
          <a:ln w="12700">
            <a:solidFill>
              <a:srgbClr val="D4A84B"/>
            </a:solidFill>
            <a:prstDash val="solid"/>
          </a:ln>
        </p:spPr>
      </p:sp>
      <p:sp>
        <p:nvSpPr>
          <p:cNvPr id="7" name="Text 5"/>
          <p:cNvSpPr/>
          <p:nvPr/>
        </p:nvSpPr>
        <p:spPr>
          <a:xfrm>
            <a:off x="731520" y="1399032"/>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1935–39</a:t>
            </a:r>
            <a:endParaRPr lang="en-US" sz="1000" dirty="0"/>
          </a:p>
        </p:txBody>
      </p:sp>
      <p:sp>
        <p:nvSpPr>
          <p:cNvPr id="8" name="Text 6"/>
          <p:cNvSpPr/>
          <p:nvPr/>
        </p:nvSpPr>
        <p:spPr>
          <a:xfrm>
            <a:off x="1737360" y="1399032"/>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Early Days: Safety from Stigma</a:t>
            </a:r>
            <a:endParaRPr lang="en-US" sz="1100" dirty="0"/>
          </a:p>
        </p:txBody>
      </p:sp>
      <p:sp>
        <p:nvSpPr>
          <p:cNvPr id="9" name="Text 7"/>
          <p:cNvSpPr/>
          <p:nvPr/>
        </p:nvSpPr>
        <p:spPr>
          <a:xfrm>
            <a:off x="1737360" y="1618488"/>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Complete secrecy. Members used only first names, even with each other.</a:t>
            </a:r>
            <a:endParaRPr lang="en-US" sz="1000" dirty="0"/>
          </a:p>
        </p:txBody>
      </p:sp>
      <p:sp>
        <p:nvSpPr>
          <p:cNvPr id="10" name="Shape 8"/>
          <p:cNvSpPr/>
          <p:nvPr/>
        </p:nvSpPr>
        <p:spPr>
          <a:xfrm>
            <a:off x="457200" y="2002536"/>
            <a:ext cx="146304" cy="146304"/>
          </a:xfrm>
          <a:prstGeom prst="ellipse">
            <a:avLst/>
          </a:prstGeom>
          <a:solidFill>
            <a:srgbClr val="D4A84B"/>
          </a:solidFill>
          <a:ln/>
        </p:spPr>
      </p:sp>
      <p:sp>
        <p:nvSpPr>
          <p:cNvPr id="11" name="Shape 9"/>
          <p:cNvSpPr/>
          <p:nvPr/>
        </p:nvSpPr>
        <p:spPr>
          <a:xfrm>
            <a:off x="521208" y="2148840"/>
            <a:ext cx="0" cy="347472"/>
          </a:xfrm>
          <a:prstGeom prst="line">
            <a:avLst/>
          </a:prstGeom>
          <a:noFill/>
          <a:ln w="12700">
            <a:solidFill>
              <a:srgbClr val="D4A84B"/>
            </a:solidFill>
            <a:prstDash val="solid"/>
          </a:ln>
        </p:spPr>
      </p:sp>
      <p:sp>
        <p:nvSpPr>
          <p:cNvPr id="12" name="Text 10"/>
          <p:cNvSpPr/>
          <p:nvPr/>
        </p:nvSpPr>
        <p:spPr>
          <a:xfrm>
            <a:off x="731520" y="1929384"/>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1939</a:t>
            </a:r>
            <a:endParaRPr lang="en-US" sz="1000" dirty="0"/>
          </a:p>
        </p:txBody>
      </p:sp>
      <p:sp>
        <p:nvSpPr>
          <p:cNvPr id="13" name="Text 11"/>
          <p:cNvSpPr/>
          <p:nvPr/>
        </p:nvSpPr>
        <p:spPr>
          <a:xfrm>
            <a:off x="1737360" y="1929384"/>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Cleveland Plain Dealer Break</a:t>
            </a:r>
            <a:endParaRPr lang="en-US" sz="1100" dirty="0"/>
          </a:p>
        </p:txBody>
      </p:sp>
      <p:sp>
        <p:nvSpPr>
          <p:cNvPr id="14" name="Text 12"/>
          <p:cNvSpPr/>
          <p:nvPr/>
        </p:nvSpPr>
        <p:spPr>
          <a:xfrm>
            <a:off x="1737360" y="2148840"/>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Elgie R. gave full name, was photographed. Relapsed. Nearly collapsed Cleveland AA.</a:t>
            </a:r>
            <a:endParaRPr lang="en-US" sz="1000" dirty="0"/>
          </a:p>
        </p:txBody>
      </p:sp>
      <p:sp>
        <p:nvSpPr>
          <p:cNvPr id="15" name="Shape 13"/>
          <p:cNvSpPr/>
          <p:nvPr/>
        </p:nvSpPr>
        <p:spPr>
          <a:xfrm>
            <a:off x="457200" y="2532888"/>
            <a:ext cx="146304" cy="146304"/>
          </a:xfrm>
          <a:prstGeom prst="ellipse">
            <a:avLst/>
          </a:prstGeom>
          <a:solidFill>
            <a:srgbClr val="D4A84B"/>
          </a:solidFill>
          <a:ln/>
        </p:spPr>
      </p:sp>
      <p:sp>
        <p:nvSpPr>
          <p:cNvPr id="16" name="Shape 14"/>
          <p:cNvSpPr/>
          <p:nvPr/>
        </p:nvSpPr>
        <p:spPr>
          <a:xfrm>
            <a:off x="521208" y="2679192"/>
            <a:ext cx="0" cy="347472"/>
          </a:xfrm>
          <a:prstGeom prst="line">
            <a:avLst/>
          </a:prstGeom>
          <a:noFill/>
          <a:ln w="12700">
            <a:solidFill>
              <a:srgbClr val="D4A84B"/>
            </a:solidFill>
            <a:prstDash val="solid"/>
          </a:ln>
        </p:spPr>
      </p:sp>
      <p:sp>
        <p:nvSpPr>
          <p:cNvPr id="17" name="Text 15"/>
          <p:cNvSpPr/>
          <p:nvPr/>
        </p:nvSpPr>
        <p:spPr>
          <a:xfrm>
            <a:off x="731520" y="2459736"/>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1941</a:t>
            </a:r>
            <a:endParaRPr lang="en-US" sz="1000" dirty="0"/>
          </a:p>
        </p:txBody>
      </p:sp>
      <p:sp>
        <p:nvSpPr>
          <p:cNvPr id="18" name="Text 16"/>
          <p:cNvSpPr/>
          <p:nvPr/>
        </p:nvSpPr>
        <p:spPr>
          <a:xfrm>
            <a:off x="1737360" y="2459736"/>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Jack Alexander Article</a:t>
            </a:r>
            <a:endParaRPr lang="en-US" sz="1100" dirty="0"/>
          </a:p>
        </p:txBody>
      </p:sp>
      <p:sp>
        <p:nvSpPr>
          <p:cNvPr id="19" name="Text 17"/>
          <p:cNvSpPr/>
          <p:nvPr/>
        </p:nvSpPr>
        <p:spPr>
          <a:xfrm>
            <a:off x="1737360" y="2679192"/>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Saturday Evening Post respected anonymity. No full names. Quadrupled AA membership safely.</a:t>
            </a:r>
            <a:endParaRPr lang="en-US" sz="1000" dirty="0"/>
          </a:p>
        </p:txBody>
      </p:sp>
      <p:sp>
        <p:nvSpPr>
          <p:cNvPr id="20" name="Shape 18"/>
          <p:cNvSpPr/>
          <p:nvPr/>
        </p:nvSpPr>
        <p:spPr>
          <a:xfrm>
            <a:off x="457200" y="3063240"/>
            <a:ext cx="146304" cy="146304"/>
          </a:xfrm>
          <a:prstGeom prst="ellipse">
            <a:avLst/>
          </a:prstGeom>
          <a:solidFill>
            <a:srgbClr val="D4A84B"/>
          </a:solidFill>
          <a:ln/>
        </p:spPr>
      </p:sp>
      <p:sp>
        <p:nvSpPr>
          <p:cNvPr id="21" name="Shape 19"/>
          <p:cNvSpPr/>
          <p:nvPr/>
        </p:nvSpPr>
        <p:spPr>
          <a:xfrm>
            <a:off x="521208" y="3209544"/>
            <a:ext cx="0" cy="347472"/>
          </a:xfrm>
          <a:prstGeom prst="line">
            <a:avLst/>
          </a:prstGeom>
          <a:noFill/>
          <a:ln w="12700">
            <a:solidFill>
              <a:srgbClr val="D4A84B"/>
            </a:solidFill>
            <a:prstDash val="solid"/>
          </a:ln>
        </p:spPr>
      </p:sp>
      <p:sp>
        <p:nvSpPr>
          <p:cNvPr id="22" name="Text 20"/>
          <p:cNvSpPr/>
          <p:nvPr/>
        </p:nvSpPr>
        <p:spPr>
          <a:xfrm>
            <a:off x="731520" y="2990088"/>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1944</a:t>
            </a:r>
            <a:endParaRPr lang="en-US" sz="1000" dirty="0"/>
          </a:p>
        </p:txBody>
      </p:sp>
      <p:sp>
        <p:nvSpPr>
          <p:cNvPr id="23" name="Text 21"/>
          <p:cNvSpPr/>
          <p:nvPr/>
        </p:nvSpPr>
        <p:spPr>
          <a:xfrm>
            <a:off x="1737360" y="2990088"/>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Bill W.'s Anonymity Break</a:t>
            </a:r>
            <a:endParaRPr lang="en-US" sz="1100" dirty="0"/>
          </a:p>
        </p:txBody>
      </p:sp>
      <p:sp>
        <p:nvSpPr>
          <p:cNvPr id="24" name="Text 22"/>
          <p:cNvSpPr/>
          <p:nvPr/>
        </p:nvSpPr>
        <p:spPr>
          <a:xfrm>
            <a:off x="1737360" y="3209544"/>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Bill agreed to appear on camera for 'The Big World.' Dr. Bob opposed it. Bill backed down.</a:t>
            </a:r>
            <a:endParaRPr lang="en-US" sz="1000" dirty="0"/>
          </a:p>
        </p:txBody>
      </p:sp>
      <p:sp>
        <p:nvSpPr>
          <p:cNvPr id="25" name="Shape 23"/>
          <p:cNvSpPr/>
          <p:nvPr/>
        </p:nvSpPr>
        <p:spPr>
          <a:xfrm>
            <a:off x="457200" y="3593592"/>
            <a:ext cx="146304" cy="146304"/>
          </a:xfrm>
          <a:prstGeom prst="ellipse">
            <a:avLst/>
          </a:prstGeom>
          <a:solidFill>
            <a:srgbClr val="D4A84B"/>
          </a:solidFill>
          <a:ln/>
        </p:spPr>
      </p:sp>
      <p:sp>
        <p:nvSpPr>
          <p:cNvPr id="26" name="Shape 24"/>
          <p:cNvSpPr/>
          <p:nvPr/>
        </p:nvSpPr>
        <p:spPr>
          <a:xfrm>
            <a:off x="521208" y="3739896"/>
            <a:ext cx="0" cy="347472"/>
          </a:xfrm>
          <a:prstGeom prst="line">
            <a:avLst/>
          </a:prstGeom>
          <a:noFill/>
          <a:ln w="12700">
            <a:solidFill>
              <a:srgbClr val="D4A84B"/>
            </a:solidFill>
            <a:prstDash val="solid"/>
          </a:ln>
        </p:spPr>
      </p:sp>
      <p:sp>
        <p:nvSpPr>
          <p:cNvPr id="27" name="Text 25"/>
          <p:cNvSpPr/>
          <p:nvPr/>
        </p:nvSpPr>
        <p:spPr>
          <a:xfrm>
            <a:off x="731520" y="3520440"/>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1946</a:t>
            </a:r>
            <a:endParaRPr lang="en-US" sz="1000" dirty="0"/>
          </a:p>
        </p:txBody>
      </p:sp>
      <p:sp>
        <p:nvSpPr>
          <p:cNvPr id="28" name="Text 26"/>
          <p:cNvSpPr/>
          <p:nvPr/>
        </p:nvSpPr>
        <p:spPr>
          <a:xfrm>
            <a:off x="1737360" y="3520440"/>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Twelve Traditions Drafted</a:t>
            </a:r>
            <a:endParaRPr lang="en-US" sz="1100" dirty="0"/>
          </a:p>
        </p:txBody>
      </p:sp>
      <p:sp>
        <p:nvSpPr>
          <p:cNvPr id="29" name="Text 27"/>
          <p:cNvSpPr/>
          <p:nvPr/>
        </p:nvSpPr>
        <p:spPr>
          <a:xfrm>
            <a:off x="1737360" y="3739896"/>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Traditions 11 &amp; 12 codified anonymity lessons learned through painful experience.</a:t>
            </a:r>
            <a:endParaRPr lang="en-US" sz="1000" dirty="0"/>
          </a:p>
        </p:txBody>
      </p:sp>
      <p:sp>
        <p:nvSpPr>
          <p:cNvPr id="30" name="Shape 28"/>
          <p:cNvSpPr/>
          <p:nvPr/>
        </p:nvSpPr>
        <p:spPr>
          <a:xfrm>
            <a:off x="457200" y="4123944"/>
            <a:ext cx="146304" cy="146304"/>
          </a:xfrm>
          <a:prstGeom prst="ellipse">
            <a:avLst/>
          </a:prstGeom>
          <a:solidFill>
            <a:srgbClr val="D4A84B"/>
          </a:solidFill>
          <a:ln/>
        </p:spPr>
      </p:sp>
      <p:sp>
        <p:nvSpPr>
          <p:cNvPr id="31" name="Text 29"/>
          <p:cNvSpPr/>
          <p:nvPr/>
        </p:nvSpPr>
        <p:spPr>
          <a:xfrm>
            <a:off x="731520" y="4050792"/>
            <a:ext cx="914400" cy="237744"/>
          </a:xfrm>
          <a:prstGeom prst="rect">
            <a:avLst/>
          </a:prstGeom>
          <a:noFill/>
          <a:ln/>
        </p:spPr>
        <p:txBody>
          <a:bodyPr wrap="square" lIns="0" tIns="0" rIns="0" bIns="0" rtlCol="0" anchor="ctr"/>
          <a:lstStyle/>
          <a:p>
            <a:pPr indent="0" marL="0">
              <a:buNone/>
            </a:pPr>
            <a:r>
              <a:rPr lang="en-US" sz="1000" b="1" dirty="0">
                <a:solidFill>
                  <a:srgbClr val="D4A84B"/>
                </a:solidFill>
                <a:latin typeface="Calibri" pitchFamily="34" charset="0"/>
                <a:ea typeface="Calibri" pitchFamily="34" charset="-122"/>
                <a:cs typeface="Calibri" pitchFamily="34" charset="-120"/>
              </a:rPr>
              <a:t>Today</a:t>
            </a:r>
            <a:endParaRPr lang="en-US" sz="1000" dirty="0"/>
          </a:p>
        </p:txBody>
      </p:sp>
      <p:sp>
        <p:nvSpPr>
          <p:cNvPr id="32" name="Text 30"/>
          <p:cNvSpPr/>
          <p:nvPr/>
        </p:nvSpPr>
        <p:spPr>
          <a:xfrm>
            <a:off x="1737360" y="4050792"/>
            <a:ext cx="2286000" cy="23774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Digital Age Challenges</a:t>
            </a:r>
            <a:endParaRPr lang="en-US" sz="1100" dirty="0"/>
          </a:p>
        </p:txBody>
      </p:sp>
      <p:sp>
        <p:nvSpPr>
          <p:cNvPr id="33" name="Text 31"/>
          <p:cNvSpPr/>
          <p:nvPr/>
        </p:nvSpPr>
        <p:spPr>
          <a:xfrm>
            <a:off x="1737360" y="4270248"/>
            <a:ext cx="6858000" cy="237744"/>
          </a:xfrm>
          <a:prstGeom prst="rect">
            <a:avLst/>
          </a:prstGeom>
          <a:noFill/>
          <a:ln/>
        </p:spPr>
        <p:txBody>
          <a:bodyPr wrap="square" lIns="0" tIns="0" rIns="0" bIns="0" rtlCol="0" anchor="ctr"/>
          <a:lstStyle/>
          <a:p>
            <a:pPr indent="0" marL="0">
              <a:buNone/>
            </a:pPr>
            <a:r>
              <a:rPr lang="en-US" sz="1000" dirty="0">
                <a:solidFill>
                  <a:srgbClr val="E8E8E8"/>
                </a:solidFill>
                <a:latin typeface="Calibri" pitchFamily="34" charset="0"/>
                <a:ea typeface="Calibri" pitchFamily="34" charset="-122"/>
                <a:cs typeface="Calibri" pitchFamily="34" charset="-120"/>
              </a:rPr>
              <a:t>Social media, Zoom, smartphones create unprecedented new challenges.</a:t>
            </a:r>
            <a:endParaRPr lang="en-US" sz="1000" dirty="0"/>
          </a:p>
        </p:txBody>
      </p:sp>
    </p:spTree>
  </p:cSld>
  <p:clrMapOvr>
    <a:masterClrMapping/>
  </p:clrMapOvr>
  <p:transition spd="med" advClick="1">
    <p:fade thruBlk="1"/>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3</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The Two Levels of Anonymity</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Clarifying this distinction resolves 90% of anonymity questions</a:t>
            </a:r>
            <a:endParaRPr lang="en-US" sz="1400" dirty="0"/>
          </a:p>
        </p:txBody>
      </p:sp>
      <p:sp>
        <p:nvSpPr>
          <p:cNvPr id="6" name="Shape 4"/>
          <p:cNvSpPr/>
          <p:nvPr/>
        </p:nvSpPr>
        <p:spPr>
          <a:xfrm>
            <a:off x="457200" y="1645920"/>
            <a:ext cx="3931920" cy="18288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45920"/>
            <a:ext cx="54864" cy="1828800"/>
          </a:xfrm>
          <a:prstGeom prst="rect">
            <a:avLst/>
          </a:prstGeom>
          <a:solidFill>
            <a:srgbClr val="4CAF50"/>
          </a:solidFill>
          <a:ln/>
        </p:spPr>
      </p:sp>
      <p:sp>
        <p:nvSpPr>
          <p:cNvPr id="8" name="Text 6"/>
          <p:cNvSpPr/>
          <p:nvPr/>
        </p:nvSpPr>
        <p:spPr>
          <a:xfrm>
            <a:off x="64008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Personal Level: Your Choice</a:t>
            </a:r>
            <a:endParaRPr lang="en-US" sz="1300" dirty="0"/>
          </a:p>
        </p:txBody>
      </p:sp>
      <p:sp>
        <p:nvSpPr>
          <p:cNvPr id="9" name="Text 7"/>
          <p:cNvSpPr/>
          <p:nvPr/>
        </p:nvSpPr>
        <p:spPr>
          <a:xfrm>
            <a:off x="640080" y="2011680"/>
            <a:ext cx="3611880" cy="13716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 the personal level, anonymity is optional.</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You MAY: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Tell family, friends, coworkers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Discuss recovery privately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Wear AA-themed clothing</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Identify as AA member in non-public settings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"Many of us are willing to declare our membership in ordinary affairs."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12&amp;12, p. 184</a:t>
            </a:r>
            <a:endParaRPr lang="en-US" sz="1100" dirty="0"/>
          </a:p>
        </p:txBody>
      </p:sp>
      <p:sp>
        <p:nvSpPr>
          <p:cNvPr id="10" name="Shape 8"/>
          <p:cNvSpPr/>
          <p:nvPr/>
        </p:nvSpPr>
        <p:spPr>
          <a:xfrm>
            <a:off x="4754880" y="1645920"/>
            <a:ext cx="3931920" cy="18288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45920"/>
            <a:ext cx="54864" cy="1828800"/>
          </a:xfrm>
          <a:prstGeom prst="rect">
            <a:avLst/>
          </a:prstGeom>
          <a:solidFill>
            <a:srgbClr val="B85042"/>
          </a:solidFill>
          <a:ln/>
        </p:spPr>
      </p:sp>
      <p:sp>
        <p:nvSpPr>
          <p:cNvPr id="12" name="Text 10"/>
          <p:cNvSpPr/>
          <p:nvPr/>
        </p:nvSpPr>
        <p:spPr>
          <a:xfrm>
            <a:off x="493776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Public Media Level: Protected</a:t>
            </a:r>
            <a:endParaRPr lang="en-US" sz="1300" dirty="0"/>
          </a:p>
        </p:txBody>
      </p:sp>
      <p:sp>
        <p:nvSpPr>
          <p:cNvPr id="13" name="Text 11"/>
          <p:cNvSpPr/>
          <p:nvPr/>
        </p:nvSpPr>
        <p:spPr>
          <a:xfrm>
            <a:off x="4937760" y="2011680"/>
            <a:ext cx="3611880" cy="13716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 the level of public media, anonymity is required.</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You MAY NOT:</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Use full name + AA in press/radio/films/TV</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Appear in documentaries as AA member</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Post on social media with real name + AA</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Connect face and full name to AA publicly</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"We must always maintain personal anonymity at the level of press, radio, and films."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 Tradition Eleven</a:t>
            </a:r>
            <a:endParaRPr lang="en-US" sz="1100" dirty="0"/>
          </a:p>
        </p:txBody>
      </p:sp>
      <p:sp>
        <p:nvSpPr>
          <p:cNvPr id="14" name="Shape 12"/>
          <p:cNvSpPr/>
          <p:nvPr/>
        </p:nvSpPr>
        <p:spPr>
          <a:xfrm>
            <a:off x="457200" y="3657600"/>
            <a:ext cx="8229600" cy="5943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3657600"/>
            <a:ext cx="54864" cy="594360"/>
          </a:xfrm>
          <a:prstGeom prst="rect">
            <a:avLst/>
          </a:prstGeom>
          <a:solidFill>
            <a:srgbClr val="D4A84B"/>
          </a:solidFill>
          <a:ln/>
        </p:spPr>
      </p:sp>
      <p:sp>
        <p:nvSpPr>
          <p:cNvPr id="16" name="Text 14"/>
          <p:cNvSpPr/>
          <p:nvPr/>
        </p:nvSpPr>
        <p:spPr>
          <a:xfrm>
            <a:off x="640080" y="374904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Why the Distinction Matters</a:t>
            </a:r>
            <a:endParaRPr lang="en-US" sz="1300" dirty="0"/>
          </a:p>
        </p:txBody>
      </p:sp>
      <p:sp>
        <p:nvSpPr>
          <p:cNvPr id="17" name="Text 15"/>
          <p:cNvSpPr/>
          <p:nvPr/>
        </p:nvSpPr>
        <p:spPr>
          <a:xfrm>
            <a:off x="640080" y="4023360"/>
            <a:ext cx="7909560" cy="1371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If a well-known member holds a press conference declaring AA membership and later relapses, the headlines read: "AA Member Arrested — Does AA Work?" That member's relapse becomes AA's problem. Tradition Eleven exists to prevent this.</a:t>
            </a:r>
            <a:endParaRPr lang="en-US" sz="1100" dirty="0"/>
          </a:p>
        </p:txBody>
      </p:sp>
    </p:spTree>
  </p:cSld>
  <p:clrMapOvr>
    <a:masterClrMapping/>
  </p:clrMapOvr>
  <p:transition spd="med" advClick="1">
    <p:fade thruBlk="1"/>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4</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Tradition Eleven: Our Public</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Relations Policy</a:t>
            </a:r>
            <a:endParaRPr lang="en-US" sz="2600" dirty="0"/>
          </a:p>
        </p:txBody>
      </p:sp>
      <p:sp>
        <p:nvSpPr>
          <p:cNvPr id="5" name="Shape 3"/>
          <p:cNvSpPr/>
          <p:nvPr/>
        </p:nvSpPr>
        <p:spPr>
          <a:xfrm>
            <a:off x="457200" y="1280160"/>
            <a:ext cx="82296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502920"/>
          </a:xfrm>
          <a:prstGeom prst="rect">
            <a:avLst/>
          </a:prstGeom>
          <a:solidFill>
            <a:srgbClr val="D4A84B"/>
          </a:solidFill>
          <a:ln/>
        </p:spPr>
      </p:sp>
      <p:sp>
        <p:nvSpPr>
          <p:cNvPr id="7" name="Text 5"/>
          <p:cNvSpPr/>
          <p:nvPr/>
        </p:nvSpPr>
        <p:spPr>
          <a:xfrm>
            <a:off x="640080" y="1371600"/>
            <a:ext cx="79095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"Our public relations policy is based on attraction rather than promotion; we need always maintain personal anonymity at the level of press, radio, and films."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Tradition Eleven</a:t>
            </a:r>
            <a:endParaRPr lang="en-US" sz="1100" dirty="0"/>
          </a:p>
        </p:txBody>
      </p:sp>
      <p:sp>
        <p:nvSpPr>
          <p:cNvPr id="8" name="Shape 6"/>
          <p:cNvSpPr/>
          <p:nvPr/>
        </p:nvSpPr>
        <p:spPr>
          <a:xfrm>
            <a:off x="457200" y="19659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9" name="Shape 7"/>
          <p:cNvSpPr/>
          <p:nvPr/>
        </p:nvSpPr>
        <p:spPr>
          <a:xfrm>
            <a:off x="457200" y="1965960"/>
            <a:ext cx="54864" cy="1188720"/>
          </a:xfrm>
          <a:prstGeom prst="rect">
            <a:avLst/>
          </a:prstGeom>
          <a:solidFill>
            <a:srgbClr val="D4A84B"/>
          </a:solidFill>
          <a:ln/>
        </p:spPr>
      </p:sp>
      <p:sp>
        <p:nvSpPr>
          <p:cNvPr id="10" name="Text 8"/>
          <p:cNvSpPr/>
          <p:nvPr/>
        </p:nvSpPr>
        <p:spPr>
          <a:xfrm>
            <a:off x="640080" y="20574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Part 1: Attraction, Not Promotion</a:t>
            </a:r>
            <a:endParaRPr lang="en-US" sz="1300" dirty="0"/>
          </a:p>
        </p:txBody>
      </p:sp>
      <p:sp>
        <p:nvSpPr>
          <p:cNvPr id="11" name="Text 9"/>
          <p:cNvSpPr/>
          <p:nvPr/>
        </p:nvSpPr>
        <p:spPr>
          <a:xfrm>
            <a:off x="640080" y="23317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Attraction: letting results speak for themselves. We don't advertise or hire spokespeople.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Promotion: actively marketing, seeking endorsements.</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Historical lesson: The Washingtonian Society (1840s) used celebrity speakers and rallies — collapsed within 5 years.</a:t>
            </a:r>
            <a:endParaRPr lang="en-US" sz="1100" dirty="0"/>
          </a:p>
        </p:txBody>
      </p:sp>
      <p:sp>
        <p:nvSpPr>
          <p:cNvPr id="12" name="Shape 10"/>
          <p:cNvSpPr/>
          <p:nvPr/>
        </p:nvSpPr>
        <p:spPr>
          <a:xfrm>
            <a:off x="4754880" y="196596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3" name="Shape 11"/>
          <p:cNvSpPr/>
          <p:nvPr/>
        </p:nvSpPr>
        <p:spPr>
          <a:xfrm>
            <a:off x="4754880" y="1965960"/>
            <a:ext cx="54864" cy="1188720"/>
          </a:xfrm>
          <a:prstGeom prst="rect">
            <a:avLst/>
          </a:prstGeom>
          <a:solidFill>
            <a:srgbClr val="2C5F8A"/>
          </a:solidFill>
          <a:ln/>
        </p:spPr>
      </p:sp>
      <p:sp>
        <p:nvSpPr>
          <p:cNvPr id="14" name="Text 12"/>
          <p:cNvSpPr/>
          <p:nvPr/>
        </p:nvSpPr>
        <p:spPr>
          <a:xfrm>
            <a:off x="4937760" y="20574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Part 2: Anonymity at Public Level</a:t>
            </a:r>
            <a:endParaRPr lang="en-US" sz="1300" dirty="0"/>
          </a:p>
        </p:txBody>
      </p:sp>
      <p:sp>
        <p:nvSpPr>
          <p:cNvPr id="15" name="Text 13"/>
          <p:cNvSpPr/>
          <p:nvPr/>
        </p:nvSpPr>
        <p:spPr>
          <a:xfrm>
            <a:off x="4937760" y="233172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full names or faces at the level of press, radio, films, TV, internet, social media.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Why? Individual relapses harm AA's public image. If AA promoted individual success stories, every relapse becomes a scandal.</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"We must never let any desire for personal prestige tempt us." — 12&amp;12, p. 183</a:t>
            </a:r>
            <a:endParaRPr lang="en-US" sz="1100" dirty="0"/>
          </a:p>
        </p:txBody>
      </p:sp>
      <p:sp>
        <p:nvSpPr>
          <p:cNvPr id="16" name="Shape 14"/>
          <p:cNvSpPr/>
          <p:nvPr/>
        </p:nvSpPr>
        <p:spPr>
          <a:xfrm>
            <a:off x="457200" y="3337560"/>
            <a:ext cx="8229600" cy="8229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7" name="Shape 15"/>
          <p:cNvSpPr/>
          <p:nvPr/>
        </p:nvSpPr>
        <p:spPr>
          <a:xfrm>
            <a:off x="457200" y="3337560"/>
            <a:ext cx="54864" cy="822960"/>
          </a:xfrm>
          <a:prstGeom prst="rect">
            <a:avLst/>
          </a:prstGeom>
          <a:solidFill>
            <a:srgbClr val="B85042"/>
          </a:solidFill>
          <a:ln/>
        </p:spPr>
      </p:sp>
      <p:sp>
        <p:nvSpPr>
          <p:cNvPr id="18" name="Text 16"/>
          <p:cNvSpPr/>
          <p:nvPr/>
        </p:nvSpPr>
        <p:spPr>
          <a:xfrm>
            <a:off x="640080" y="34290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How Your Home Group Practices Attraction</a:t>
            </a:r>
            <a:endParaRPr lang="en-US" sz="1300" dirty="0"/>
          </a:p>
        </p:txBody>
      </p:sp>
      <p:sp>
        <p:nvSpPr>
          <p:cNvPr id="19" name="Text 17"/>
          <p:cNvSpPr/>
          <p:nvPr/>
        </p:nvSpPr>
        <p:spPr>
          <a:xfrm>
            <a:off x="640080" y="3703320"/>
            <a:ext cx="7909560" cy="3657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Showing up consistently — the meeting is there every week, rain or shine.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Being welcoming — greeting newcomers, offering phone numbers, making coffee.</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Carrying the message — speaking at treatment centers and jails using first names only.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Living sober — members' transformed lives inspire others without promotion.</a:t>
            </a:r>
            <a:endParaRPr lang="en-US" sz="1100" dirty="0"/>
          </a:p>
        </p:txBody>
      </p:sp>
    </p:spTree>
  </p:cSld>
  <p:clrMapOvr>
    <a:masterClrMapping/>
  </p:clrMapOvr>
  <p:transition spd="med" advClick="1">
    <p:fade thruBlk="1"/>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5</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600" b="1" dirty="0">
                <a:solidFill>
                  <a:srgbClr val="F0C96E"/>
                </a:solidFill>
                <a:latin typeface="Georgia" pitchFamily="34" charset="0"/>
                <a:ea typeface="Georgia" pitchFamily="34" charset="-122"/>
                <a:cs typeface="Georgia" pitchFamily="34" charset="-120"/>
              </a:rPr>
              <a:t>Tradition Twelve: The Spiritual</a:t>
            </a:r>
            <a:endParaRPr lang="en-US" sz="2600" dirty="0"/>
          </a:p>
          <a:p>
            <a:pPr indent="0" marL="0">
              <a:buNone/>
            </a:pPr>
            <a:r>
              <a:rPr lang="en-US" sz="2600" b="1" dirty="0">
                <a:solidFill>
                  <a:srgbClr val="F0C96E"/>
                </a:solidFill>
                <a:latin typeface="Georgia" pitchFamily="34" charset="0"/>
                <a:ea typeface="Georgia" pitchFamily="34" charset="-122"/>
                <a:cs typeface="Georgia" pitchFamily="34" charset="-120"/>
              </a:rPr>
              <a:t>Foundation</a:t>
            </a:r>
            <a:endParaRPr lang="en-US" sz="2600" dirty="0"/>
          </a:p>
        </p:txBody>
      </p:sp>
      <p:sp>
        <p:nvSpPr>
          <p:cNvPr id="5" name="Shape 3"/>
          <p:cNvSpPr/>
          <p:nvPr/>
        </p:nvSpPr>
        <p:spPr>
          <a:xfrm>
            <a:off x="457200" y="1280160"/>
            <a:ext cx="8229600" cy="45720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280160"/>
            <a:ext cx="54864" cy="457200"/>
          </a:xfrm>
          <a:prstGeom prst="rect">
            <a:avLst/>
          </a:prstGeom>
          <a:solidFill>
            <a:srgbClr val="D4A84B"/>
          </a:solidFill>
          <a:ln/>
        </p:spPr>
      </p:sp>
      <p:sp>
        <p:nvSpPr>
          <p:cNvPr id="7" name="Text 5"/>
          <p:cNvSpPr/>
          <p:nvPr/>
        </p:nvSpPr>
        <p:spPr>
          <a:xfrm>
            <a:off x="640080" y="1371600"/>
            <a:ext cx="7909560" cy="27432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the spiritual foundation of all our Traditions, ever reminding us to place principles before personalities."</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Tradition Twelve</a:t>
            </a:r>
            <a:endParaRPr lang="en-US" sz="1100" dirty="0"/>
          </a:p>
        </p:txBody>
      </p:sp>
      <p:sp>
        <p:nvSpPr>
          <p:cNvPr id="8" name="Shape 6"/>
          <p:cNvSpPr/>
          <p:nvPr/>
        </p:nvSpPr>
        <p:spPr>
          <a:xfrm>
            <a:off x="457200" y="1920240"/>
            <a:ext cx="393192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9" name="Shape 7"/>
          <p:cNvSpPr/>
          <p:nvPr/>
        </p:nvSpPr>
        <p:spPr>
          <a:xfrm>
            <a:off x="457200" y="1920240"/>
            <a:ext cx="54864" cy="1005840"/>
          </a:xfrm>
          <a:prstGeom prst="rect">
            <a:avLst/>
          </a:prstGeom>
          <a:solidFill>
            <a:srgbClr val="D4A84B"/>
          </a:solidFill>
          <a:ln/>
        </p:spPr>
      </p:sp>
      <p:sp>
        <p:nvSpPr>
          <p:cNvPr id="10" name="Text 8"/>
          <p:cNvSpPr/>
          <p:nvPr/>
        </p:nvSpPr>
        <p:spPr>
          <a:xfrm>
            <a:off x="64008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Why Tradition 12 Is the 'Crown'</a:t>
            </a:r>
            <a:endParaRPr lang="en-US" sz="1300" dirty="0"/>
          </a:p>
        </p:txBody>
      </p:sp>
      <p:sp>
        <p:nvSpPr>
          <p:cNvPr id="11" name="Text 9"/>
          <p:cNvSpPr/>
          <p:nvPr/>
        </p:nvSpPr>
        <p:spPr>
          <a:xfrm>
            <a:off x="640080" y="2286000"/>
            <a:ext cx="3611880" cy="5486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Bill W. made anonymity the FINAL Tradition because it undergirds all the others. Without anonymity, the other 11 Traditions would eventually fail.</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It ensures unity (T1-3), autonomy (T4-6), and financial independence (T7-11).</a:t>
            </a:r>
            <a:endParaRPr lang="en-US" sz="1100" dirty="0"/>
          </a:p>
        </p:txBody>
      </p:sp>
      <p:sp>
        <p:nvSpPr>
          <p:cNvPr id="12" name="Shape 10"/>
          <p:cNvSpPr/>
          <p:nvPr/>
        </p:nvSpPr>
        <p:spPr>
          <a:xfrm>
            <a:off x="4754880" y="1920240"/>
            <a:ext cx="393192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3" name="Shape 11"/>
          <p:cNvSpPr/>
          <p:nvPr/>
        </p:nvSpPr>
        <p:spPr>
          <a:xfrm>
            <a:off x="4754880" y="1920240"/>
            <a:ext cx="54864" cy="1005840"/>
          </a:xfrm>
          <a:prstGeom prst="rect">
            <a:avLst/>
          </a:prstGeom>
          <a:solidFill>
            <a:srgbClr val="2C5F8A"/>
          </a:solidFill>
          <a:ln/>
        </p:spPr>
      </p:sp>
      <p:sp>
        <p:nvSpPr>
          <p:cNvPr id="14" name="Text 12"/>
          <p:cNvSpPr/>
          <p:nvPr/>
        </p:nvSpPr>
        <p:spPr>
          <a:xfrm>
            <a:off x="4937760" y="201168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"Principles Before Personalities"</a:t>
            </a:r>
            <a:endParaRPr lang="en-US" sz="1300" dirty="0"/>
          </a:p>
        </p:txBody>
      </p:sp>
      <p:sp>
        <p:nvSpPr>
          <p:cNvPr id="15" name="Text 13"/>
          <p:cNvSpPr/>
          <p:nvPr/>
        </p:nvSpPr>
        <p:spPr>
          <a:xfrm>
            <a:off x="4937760" y="2286000"/>
            <a:ext cx="3611880" cy="5486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most quoted phrase in AA — and the most misunderstood. It doesn't mean we ignore individual needs. It means when personalities clash with principles, principles win.</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Personality approach: "He's a great speaker, let him talk."</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Principle approach: "Everyone gets equal time (T1)."</a:t>
            </a:r>
            <a:endParaRPr lang="en-US" sz="1100" dirty="0"/>
          </a:p>
        </p:txBody>
      </p:sp>
      <p:sp>
        <p:nvSpPr>
          <p:cNvPr id="16" name="Shape 14"/>
          <p:cNvSpPr/>
          <p:nvPr/>
        </p:nvSpPr>
        <p:spPr>
          <a:xfrm>
            <a:off x="457200" y="3108960"/>
            <a:ext cx="8229600" cy="100584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7" name="Shape 15"/>
          <p:cNvSpPr/>
          <p:nvPr/>
        </p:nvSpPr>
        <p:spPr>
          <a:xfrm>
            <a:off x="457200" y="3108960"/>
            <a:ext cx="54864" cy="1005840"/>
          </a:xfrm>
          <a:prstGeom prst="rect">
            <a:avLst/>
          </a:prstGeom>
          <a:solidFill>
            <a:srgbClr val="B85042"/>
          </a:solidFill>
          <a:ln/>
        </p:spPr>
      </p:sp>
      <p:sp>
        <p:nvSpPr>
          <p:cNvPr id="18" name="Text 16"/>
          <p:cNvSpPr/>
          <p:nvPr/>
        </p:nvSpPr>
        <p:spPr>
          <a:xfrm>
            <a:off x="640080" y="320040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Examples: Principles Winning Over Personalities</a:t>
            </a:r>
            <a:endParaRPr lang="en-US" sz="1300" dirty="0"/>
          </a:p>
        </p:txBody>
      </p:sp>
      <p:sp>
        <p:nvSpPr>
          <p:cNvPr id="19" name="Text 17"/>
          <p:cNvSpPr/>
          <p:nvPr/>
        </p:nvSpPr>
        <p:spPr>
          <a:xfrm>
            <a:off x="640080" y="3474720"/>
            <a:ext cx="7909560" cy="54864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The Long-Winded Speaker: Sharing limit applies to everyone — including the beloved old-timer. (Tradition 1)</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 Wealthy Donor: Contributions above the annual limit declined. One person, one vote. Wealth doesn't buy influence. (Tradition 7)</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 Popular Leader: Secretary served 5 years, beloved. Still rotate — no one is indispensable. (Tradition 2)</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The Celebrity Member: Having a celebrity doesn't mean featuring them. All members equal. (Tradition 12)</a:t>
            </a:r>
            <a:endParaRPr lang="en-US" sz="1100" dirty="0"/>
          </a:p>
        </p:txBody>
      </p:sp>
    </p:spTree>
  </p:cSld>
  <p:clrMapOvr>
    <a:masterClrMapping/>
  </p:clrMapOvr>
  <p:transition spd="med" advClick="1">
    <p:fade thruBlk="1"/>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6</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Anonymity vs. Confidentiality:</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Know the Difference</a:t>
            </a:r>
            <a:endParaRPr lang="en-US" sz="2400" dirty="0"/>
          </a:p>
        </p:txBody>
      </p:sp>
      <p:sp>
        <p:nvSpPr>
          <p:cNvPr id="5" name="Shape 3"/>
          <p:cNvSpPr/>
          <p:nvPr/>
        </p:nvSpPr>
        <p:spPr>
          <a:xfrm>
            <a:off x="457200" y="132588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6" name="Shape 4"/>
          <p:cNvSpPr/>
          <p:nvPr/>
        </p:nvSpPr>
        <p:spPr>
          <a:xfrm>
            <a:off x="457200" y="1325880"/>
            <a:ext cx="54864" cy="1188720"/>
          </a:xfrm>
          <a:prstGeom prst="rect">
            <a:avLst/>
          </a:prstGeom>
          <a:solidFill>
            <a:srgbClr val="D4A84B"/>
          </a:solidFill>
          <a:ln/>
        </p:spPr>
      </p:sp>
      <p:sp>
        <p:nvSpPr>
          <p:cNvPr id="7" name="Text 5"/>
          <p:cNvSpPr/>
          <p:nvPr/>
        </p:nvSpPr>
        <p:spPr>
          <a:xfrm>
            <a:off x="640080" y="1417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Anonymity</a:t>
            </a:r>
            <a:endParaRPr lang="en-US" sz="1300" dirty="0"/>
          </a:p>
        </p:txBody>
      </p:sp>
      <p:sp>
        <p:nvSpPr>
          <p:cNvPr id="8" name="Text 6"/>
          <p:cNvSpPr/>
          <p:nvPr/>
        </p:nvSpPr>
        <p:spPr>
          <a:xfrm>
            <a:off x="640080" y="169164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Not revealing your OWN full name and face as an AA member at the level of public media.</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Scope: Your own identity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Level: Public media (Tradition 11)</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Optional? Personal level: yes. Public level: no.</a:t>
            </a:r>
            <a:endParaRPr lang="en-US" sz="1100" dirty="0"/>
          </a:p>
        </p:txBody>
      </p:sp>
      <p:sp>
        <p:nvSpPr>
          <p:cNvPr id="9" name="Shape 7"/>
          <p:cNvSpPr/>
          <p:nvPr/>
        </p:nvSpPr>
        <p:spPr>
          <a:xfrm>
            <a:off x="4754880" y="1325880"/>
            <a:ext cx="3931920" cy="118872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0" name="Shape 8"/>
          <p:cNvSpPr/>
          <p:nvPr/>
        </p:nvSpPr>
        <p:spPr>
          <a:xfrm>
            <a:off x="4754880" y="1325880"/>
            <a:ext cx="54864" cy="1188720"/>
          </a:xfrm>
          <a:prstGeom prst="rect">
            <a:avLst/>
          </a:prstGeom>
          <a:solidFill>
            <a:srgbClr val="B85042"/>
          </a:solidFill>
          <a:ln/>
        </p:spPr>
      </p:sp>
      <p:sp>
        <p:nvSpPr>
          <p:cNvPr id="11" name="Text 9"/>
          <p:cNvSpPr/>
          <p:nvPr/>
        </p:nvSpPr>
        <p:spPr>
          <a:xfrm>
            <a:off x="4937760" y="141732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Confidentiality</a:t>
            </a:r>
            <a:endParaRPr lang="en-US" sz="1300" dirty="0"/>
          </a:p>
        </p:txBody>
      </p:sp>
      <p:sp>
        <p:nvSpPr>
          <p:cNvPr id="12" name="Text 10"/>
          <p:cNvSpPr/>
          <p:nvPr/>
        </p:nvSpPr>
        <p:spPr>
          <a:xfrm>
            <a:off x="4937760" y="1691640"/>
            <a:ext cx="3611880" cy="73152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Not revealing SOMEONE ELSE'S presence at AA, their story, or any identifying details — ever, anywhere, to anyone.</a:t>
            </a:r>
            <a:endParaRPr lang="en-US" sz="1100" dirty="0"/>
          </a:p>
          <a:p>
            <a:pPr indent="0" marL="0">
              <a:buNone/>
            </a:pP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Scope: Other members' identities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Level: Everywhere, always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Optional? NEVER. Absolute.</a:t>
            </a:r>
            <a:endParaRPr lang="en-US" sz="1100" dirty="0"/>
          </a:p>
        </p:txBody>
      </p:sp>
      <p:sp>
        <p:nvSpPr>
          <p:cNvPr id="13" name="Shape 11"/>
          <p:cNvSpPr/>
          <p:nvPr/>
        </p:nvSpPr>
        <p:spPr>
          <a:xfrm>
            <a:off x="457200" y="269748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4" name="Shape 12"/>
          <p:cNvSpPr/>
          <p:nvPr/>
        </p:nvSpPr>
        <p:spPr>
          <a:xfrm>
            <a:off x="457200" y="2697480"/>
            <a:ext cx="54864" cy="1371600"/>
          </a:xfrm>
          <a:prstGeom prst="rect">
            <a:avLst/>
          </a:prstGeom>
          <a:solidFill>
            <a:srgbClr val="2C5F8A"/>
          </a:solidFill>
          <a:ln/>
        </p:spPr>
      </p:sp>
      <p:sp>
        <p:nvSpPr>
          <p:cNvPr id="15" name="Text 13"/>
          <p:cNvSpPr/>
          <p:nvPr/>
        </p:nvSpPr>
        <p:spPr>
          <a:xfrm>
            <a:off x="640080" y="27889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Saw Your Boss at a Meeting</a:t>
            </a:r>
            <a:endParaRPr lang="en-US" sz="1300" dirty="0"/>
          </a:p>
        </p:txBody>
      </p:sp>
      <p:sp>
        <p:nvSpPr>
          <p:cNvPr id="16" name="Text 14"/>
          <p:cNvSpPr/>
          <p:nvPr/>
        </p:nvSpPr>
        <p:spPr>
          <a:xfrm>
            <a:off x="640080" y="306324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Say NOTHING. Wait for them to bring it up. Their privacy, their choice.</a:t>
            </a:r>
            <a:endParaRPr lang="en-US" sz="1100" dirty="0"/>
          </a:p>
        </p:txBody>
      </p:sp>
      <p:sp>
        <p:nvSpPr>
          <p:cNvPr id="17" name="Shape 15"/>
          <p:cNvSpPr/>
          <p:nvPr/>
        </p:nvSpPr>
        <p:spPr>
          <a:xfrm>
            <a:off x="3291840" y="269748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8" name="Shape 16"/>
          <p:cNvSpPr/>
          <p:nvPr/>
        </p:nvSpPr>
        <p:spPr>
          <a:xfrm>
            <a:off x="3291840" y="2697480"/>
            <a:ext cx="54864" cy="1371600"/>
          </a:xfrm>
          <a:prstGeom prst="rect">
            <a:avLst/>
          </a:prstGeom>
          <a:solidFill>
            <a:srgbClr val="2C5F8A"/>
          </a:solidFill>
          <a:ln/>
        </p:spPr>
      </p:sp>
      <p:sp>
        <p:nvSpPr>
          <p:cNvPr id="19" name="Text 17"/>
          <p:cNvSpPr/>
          <p:nvPr/>
        </p:nvSpPr>
        <p:spPr>
          <a:xfrm>
            <a:off x="3474720" y="27889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Can I Tell My Spouse?</a:t>
            </a:r>
            <a:endParaRPr lang="en-US" sz="1300" dirty="0"/>
          </a:p>
        </p:txBody>
      </p:sp>
      <p:sp>
        <p:nvSpPr>
          <p:cNvPr id="20" name="Text 18"/>
          <p:cNvSpPr/>
          <p:nvPr/>
        </p:nvSpPr>
        <p:spPr>
          <a:xfrm>
            <a:off x="3474720" y="306324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Share your feelings, not others' stories. "Someone shared something intense. I can't share details."</a:t>
            </a:r>
            <a:endParaRPr lang="en-US" sz="1100" dirty="0"/>
          </a:p>
        </p:txBody>
      </p:sp>
      <p:sp>
        <p:nvSpPr>
          <p:cNvPr id="21" name="Shape 19"/>
          <p:cNvSpPr/>
          <p:nvPr/>
        </p:nvSpPr>
        <p:spPr>
          <a:xfrm>
            <a:off x="6126480" y="269748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2" name="Shape 20"/>
          <p:cNvSpPr/>
          <p:nvPr/>
        </p:nvSpPr>
        <p:spPr>
          <a:xfrm>
            <a:off x="6126480" y="2697480"/>
            <a:ext cx="54864" cy="1371600"/>
          </a:xfrm>
          <a:prstGeom prst="rect">
            <a:avLst/>
          </a:prstGeom>
          <a:solidFill>
            <a:srgbClr val="2C5F8A"/>
          </a:solidFill>
          <a:ln/>
        </p:spPr>
      </p:sp>
      <p:sp>
        <p:nvSpPr>
          <p:cNvPr id="23" name="Text 21"/>
          <p:cNvSpPr/>
          <p:nvPr/>
        </p:nvSpPr>
        <p:spPr>
          <a:xfrm>
            <a:off x="6309360" y="278892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Celebrity at My Meeting</a:t>
            </a:r>
            <a:endParaRPr lang="en-US" sz="1300" dirty="0"/>
          </a:p>
        </p:txBody>
      </p:sp>
      <p:sp>
        <p:nvSpPr>
          <p:cNvPr id="24" name="Text 22"/>
          <p:cNvSpPr/>
          <p:nvPr/>
        </p:nvSpPr>
        <p:spPr>
          <a:xfrm>
            <a:off x="6309360" y="306324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Tell no one. Even if they're publicly in recovery, don't confirm their attendance at YOUR meeting.</a:t>
            </a:r>
            <a:endParaRPr lang="en-US" sz="1100" dirty="0"/>
          </a:p>
        </p:txBody>
      </p:sp>
    </p:spTree>
  </p:cSld>
  <p:clrMapOvr>
    <a:masterClrMapping/>
  </p:clrMapOvr>
  <p:transition spd="med" advClick="1">
    <p:fade thruBlk="1"/>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7</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Anonymity in the Digital Age</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Same principles, new challenges — the founders couldn't have imagined smartphones</a:t>
            </a:r>
            <a:endParaRPr lang="en-US" sz="1400" dirty="0"/>
          </a:p>
        </p:txBody>
      </p:sp>
      <p:sp>
        <p:nvSpPr>
          <p:cNvPr id="6" name="Shape 4"/>
          <p:cNvSpPr/>
          <p:nvPr/>
        </p:nvSpPr>
        <p:spPr>
          <a:xfrm>
            <a:off x="457200" y="16916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1371600"/>
          </a:xfrm>
          <a:prstGeom prst="rect">
            <a:avLst/>
          </a:prstGeom>
          <a:solidFill>
            <a:srgbClr val="B85042"/>
          </a:solidFill>
          <a:ln/>
        </p:spPr>
      </p:sp>
      <p:sp>
        <p:nvSpPr>
          <p:cNvPr id="8" name="Text 6"/>
          <p:cNvSpPr/>
          <p:nvPr/>
        </p:nvSpPr>
        <p:spPr>
          <a:xfrm>
            <a:off x="64008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Social Media — Risk: HIGH</a:t>
            </a:r>
            <a:endParaRPr lang="en-US" sz="1300" dirty="0"/>
          </a:p>
        </p:txBody>
      </p:sp>
      <p:sp>
        <p:nvSpPr>
          <p:cNvPr id="9" name="Text 7"/>
          <p:cNvSpPr/>
          <p:nvPr/>
        </p:nvSpPr>
        <p:spPr>
          <a:xfrm>
            <a:off x="640080" y="20574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Posts are permanent, searchable, shareable. Common breaks: anniversary posts with full names, meeting photos, check-ins.</a:t>
            </a:r>
            <a:endParaRPr lang="en-US" sz="1100" dirty="0"/>
          </a:p>
        </p:txBody>
      </p:sp>
      <p:sp>
        <p:nvSpPr>
          <p:cNvPr id="10" name="Shape 8"/>
          <p:cNvSpPr/>
          <p:nvPr/>
        </p:nvSpPr>
        <p:spPr>
          <a:xfrm>
            <a:off x="3291840" y="16916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691640"/>
            <a:ext cx="54864" cy="1371600"/>
          </a:xfrm>
          <a:prstGeom prst="rect">
            <a:avLst/>
          </a:prstGeom>
          <a:solidFill>
            <a:srgbClr val="D4A84B"/>
          </a:solidFill>
          <a:ln/>
        </p:spPr>
      </p:sp>
      <p:sp>
        <p:nvSpPr>
          <p:cNvPr id="12" name="Text 10"/>
          <p:cNvSpPr/>
          <p:nvPr/>
        </p:nvSpPr>
        <p:spPr>
          <a:xfrm>
            <a:off x="347472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Virtual Meetings — Risk: MEDIUM</a:t>
            </a:r>
            <a:endParaRPr lang="en-US" sz="1300" dirty="0"/>
          </a:p>
        </p:txBody>
      </p:sp>
      <p:sp>
        <p:nvSpPr>
          <p:cNvPr id="13" name="Text 11"/>
          <p:cNvSpPr/>
          <p:nvPr/>
        </p:nvSpPr>
        <p:spPr>
          <a:xfrm>
            <a:off x="3474720" y="20574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Can be recorded/screenshotted. Common breaks: screenshots of participant grids, shared recordings.</a:t>
            </a:r>
            <a:endParaRPr lang="en-US" sz="1100" dirty="0"/>
          </a:p>
        </p:txBody>
      </p:sp>
      <p:sp>
        <p:nvSpPr>
          <p:cNvPr id="14" name="Shape 12"/>
          <p:cNvSpPr/>
          <p:nvPr/>
        </p:nvSpPr>
        <p:spPr>
          <a:xfrm>
            <a:off x="6126480" y="1691640"/>
            <a:ext cx="2560320" cy="13716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691640"/>
            <a:ext cx="54864" cy="1371600"/>
          </a:xfrm>
          <a:prstGeom prst="rect">
            <a:avLst/>
          </a:prstGeom>
          <a:solidFill>
            <a:srgbClr val="8B0000"/>
          </a:solidFill>
          <a:ln/>
        </p:spPr>
      </p:sp>
      <p:sp>
        <p:nvSpPr>
          <p:cNvPr id="16" name="Text 14"/>
          <p:cNvSpPr/>
          <p:nvPr/>
        </p:nvSpPr>
        <p:spPr>
          <a:xfrm>
            <a:off x="630936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Blogs &amp; Podcasts — Risk: VERY HIGH</a:t>
            </a:r>
            <a:endParaRPr lang="en-US" sz="1300" dirty="0"/>
          </a:p>
        </p:txBody>
      </p:sp>
      <p:sp>
        <p:nvSpPr>
          <p:cNvPr id="17" name="Text 15"/>
          <p:cNvSpPr/>
          <p:nvPr/>
        </p:nvSpPr>
        <p:spPr>
          <a:xfrm>
            <a:off x="6309360" y="2057400"/>
            <a:ext cx="2240280" cy="9144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Permanent public records. Common breaks: 'My AA Journey' videos, recovery podcasts using full names.</a:t>
            </a:r>
            <a:endParaRPr lang="en-US" sz="1100" dirty="0"/>
          </a:p>
        </p:txBody>
      </p:sp>
      <p:sp>
        <p:nvSpPr>
          <p:cNvPr id="18" name="Shape 16"/>
          <p:cNvSpPr/>
          <p:nvPr/>
        </p:nvSpPr>
        <p:spPr>
          <a:xfrm>
            <a:off x="457200" y="3246120"/>
            <a:ext cx="822960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246120"/>
            <a:ext cx="54864" cy="914400"/>
          </a:xfrm>
          <a:prstGeom prst="rect">
            <a:avLst/>
          </a:prstGeom>
          <a:solidFill>
            <a:srgbClr val="4CAF50"/>
          </a:solidFill>
          <a:ln/>
        </p:spPr>
      </p:sp>
      <p:sp>
        <p:nvSpPr>
          <p:cNvPr id="20" name="Text 18"/>
          <p:cNvSpPr/>
          <p:nvPr/>
        </p:nvSpPr>
        <p:spPr>
          <a:xfrm>
            <a:off x="640080" y="3337560"/>
            <a:ext cx="790956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Better Alternatives</a:t>
            </a:r>
            <a:endParaRPr lang="en-US" sz="1300" dirty="0"/>
          </a:p>
        </p:txBody>
      </p:sp>
      <p:sp>
        <p:nvSpPr>
          <p:cNvPr id="21" name="Text 19"/>
          <p:cNvSpPr/>
          <p:nvPr/>
        </p:nvSpPr>
        <p:spPr>
          <a:xfrm>
            <a:off x="640080" y="3611880"/>
            <a:ext cx="790956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Instead of: "5 years sober in AA! #AA" → Try: "5 years sober in a 12-step program. #Recovery"</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Instead of: Meeting group selfie on Instagram → Keep photos private; get everyone's consent</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Instead of: Facebook check-in at "Central AA Club" → Don't use location services at meetings</a:t>
            </a:r>
            <a:endParaRPr lang="en-US" sz="1100" dirty="0"/>
          </a:p>
          <a:p>
            <a:pPr indent="0" marL="0">
              <a:buNone/>
            </a:pPr>
            <a:r>
              <a:rPr lang="en-US" sz="1100" dirty="0">
                <a:solidFill>
                  <a:srgbClr val="E8E8E8"/>
                </a:solidFill>
                <a:latin typeface="Calibri" pitchFamily="34" charset="0"/>
                <a:ea typeface="Calibri" pitchFamily="34" charset="-122"/>
                <a:cs typeface="Calibri" pitchFamily="34" charset="-120"/>
              </a:rPr>
              <a:t>Instead of: Zoom screenshot of participants → Never screenshot or record virtual meetings</a:t>
            </a:r>
            <a:endParaRPr lang="en-US" sz="1100" dirty="0"/>
          </a:p>
        </p:txBody>
      </p:sp>
    </p:spTree>
  </p:cSld>
  <p:clrMapOvr>
    <a:masterClrMapping/>
  </p:clrMapOvr>
  <p:transition spd="med" advClick="1">
    <p:fade thruBlk="1"/>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8</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Anonymity &amp; Your Home Group</a:t>
            </a:r>
            <a:endParaRPr lang="en-US" sz="28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Where principles are practiced daily — your home group is the laboratory</a:t>
            </a:r>
            <a:endParaRPr lang="en-US" sz="1400" dirty="0"/>
          </a:p>
        </p:txBody>
      </p:sp>
      <p:sp>
        <p:nvSpPr>
          <p:cNvPr id="6" name="Shape 4"/>
          <p:cNvSpPr/>
          <p:nvPr/>
        </p:nvSpPr>
        <p:spPr>
          <a:xfrm>
            <a:off x="457200" y="169164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91640"/>
            <a:ext cx="54864" cy="1143000"/>
          </a:xfrm>
          <a:prstGeom prst="rect">
            <a:avLst/>
          </a:prstGeom>
          <a:solidFill>
            <a:srgbClr val="D4A84B"/>
          </a:solidFill>
          <a:ln/>
        </p:spPr>
      </p:sp>
      <p:sp>
        <p:nvSpPr>
          <p:cNvPr id="8" name="Text 6"/>
          <p:cNvSpPr/>
          <p:nvPr/>
        </p:nvSpPr>
        <p:spPr>
          <a:xfrm>
            <a:off x="64008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Rotating Service Positions</a:t>
            </a:r>
            <a:endParaRPr lang="en-US" sz="1300" dirty="0"/>
          </a:p>
        </p:txBody>
      </p:sp>
      <p:sp>
        <p:nvSpPr>
          <p:cNvPr id="9" name="Text 7"/>
          <p:cNvSpPr/>
          <p:nvPr/>
        </p:nvSpPr>
        <p:spPr>
          <a:xfrm>
            <a:off x="640080" y="205740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one becomes indispensable or 'the face' of the group. Anonymity in action.</a:t>
            </a:r>
            <a:endParaRPr lang="en-US" sz="1100" dirty="0"/>
          </a:p>
        </p:txBody>
      </p:sp>
      <p:sp>
        <p:nvSpPr>
          <p:cNvPr id="10" name="Shape 8"/>
          <p:cNvSpPr/>
          <p:nvPr/>
        </p:nvSpPr>
        <p:spPr>
          <a:xfrm>
            <a:off x="3291840" y="169164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691640"/>
            <a:ext cx="54864" cy="1143000"/>
          </a:xfrm>
          <a:prstGeom prst="rect">
            <a:avLst/>
          </a:prstGeom>
          <a:solidFill>
            <a:srgbClr val="2C5F8A"/>
          </a:solidFill>
          <a:ln/>
        </p:spPr>
      </p:sp>
      <p:sp>
        <p:nvSpPr>
          <p:cNvPr id="12" name="Text 10"/>
          <p:cNvSpPr/>
          <p:nvPr/>
        </p:nvSpPr>
        <p:spPr>
          <a:xfrm>
            <a:off x="347472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Equal Voice in Conscience</a:t>
            </a:r>
            <a:endParaRPr lang="en-US" sz="1300" dirty="0"/>
          </a:p>
        </p:txBody>
      </p:sp>
      <p:sp>
        <p:nvSpPr>
          <p:cNvPr id="13" name="Text 11"/>
          <p:cNvSpPr/>
          <p:nvPr/>
        </p:nvSpPr>
        <p:spPr>
          <a:xfrm>
            <a:off x="3474720" y="205740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Everyone's vote is equal regardless of sobriety time or outside status. One person, one vote.</a:t>
            </a:r>
            <a:endParaRPr lang="en-US" sz="1100" dirty="0"/>
          </a:p>
        </p:txBody>
      </p:sp>
      <p:sp>
        <p:nvSpPr>
          <p:cNvPr id="14" name="Shape 12"/>
          <p:cNvSpPr/>
          <p:nvPr/>
        </p:nvSpPr>
        <p:spPr>
          <a:xfrm>
            <a:off x="6126480" y="169164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691640"/>
            <a:ext cx="54864" cy="1143000"/>
          </a:xfrm>
          <a:prstGeom prst="rect">
            <a:avLst/>
          </a:prstGeom>
          <a:solidFill>
            <a:srgbClr val="4CAF50"/>
          </a:solidFill>
          <a:ln/>
        </p:spPr>
      </p:sp>
      <p:sp>
        <p:nvSpPr>
          <p:cNvPr id="16" name="Text 14"/>
          <p:cNvSpPr/>
          <p:nvPr/>
        </p:nvSpPr>
        <p:spPr>
          <a:xfrm>
            <a:off x="6309360" y="17830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Conference-Approved Lit Only</a:t>
            </a:r>
            <a:endParaRPr lang="en-US" sz="1300" dirty="0"/>
          </a:p>
        </p:txBody>
      </p:sp>
      <p:sp>
        <p:nvSpPr>
          <p:cNvPr id="17" name="Text 15"/>
          <p:cNvSpPr/>
          <p:nvPr/>
        </p:nvSpPr>
        <p:spPr>
          <a:xfrm>
            <a:off x="6309360" y="205740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Ensures we follow principles (AA's collective wisdom) not personalities (individual interpretations).</a:t>
            </a:r>
            <a:endParaRPr lang="en-US" sz="1100" dirty="0"/>
          </a:p>
        </p:txBody>
      </p:sp>
      <p:sp>
        <p:nvSpPr>
          <p:cNvPr id="18" name="Shape 16"/>
          <p:cNvSpPr/>
          <p:nvPr/>
        </p:nvSpPr>
        <p:spPr>
          <a:xfrm>
            <a:off x="457200" y="301752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017520"/>
            <a:ext cx="54864" cy="1143000"/>
          </a:xfrm>
          <a:prstGeom prst="rect">
            <a:avLst/>
          </a:prstGeom>
          <a:solidFill>
            <a:srgbClr val="D4A84B"/>
          </a:solidFill>
          <a:ln/>
        </p:spPr>
      </p:sp>
      <p:sp>
        <p:nvSpPr>
          <p:cNvPr id="20" name="Text 18"/>
          <p:cNvSpPr/>
          <p:nvPr/>
        </p:nvSpPr>
        <p:spPr>
          <a:xfrm>
            <a:off x="64008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First Names Only</a:t>
            </a:r>
            <a:endParaRPr lang="en-US" sz="1300" dirty="0"/>
          </a:p>
        </p:txBody>
      </p:sp>
      <p:sp>
        <p:nvSpPr>
          <p:cNvPr id="21" name="Text 19"/>
          <p:cNvSpPr/>
          <p:nvPr/>
        </p:nvSpPr>
        <p:spPr>
          <a:xfrm>
            <a:off x="640080" y="338328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Removes outside status and credentials. We're all just alcoholics trying to stay sober.</a:t>
            </a:r>
            <a:endParaRPr lang="en-US" sz="1100" dirty="0"/>
          </a:p>
        </p:txBody>
      </p:sp>
      <p:sp>
        <p:nvSpPr>
          <p:cNvPr id="22" name="Shape 20"/>
          <p:cNvSpPr/>
          <p:nvPr/>
        </p:nvSpPr>
        <p:spPr>
          <a:xfrm>
            <a:off x="3291840" y="301752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3" name="Shape 21"/>
          <p:cNvSpPr/>
          <p:nvPr/>
        </p:nvSpPr>
        <p:spPr>
          <a:xfrm>
            <a:off x="3291840" y="3017520"/>
            <a:ext cx="54864" cy="1143000"/>
          </a:xfrm>
          <a:prstGeom prst="rect">
            <a:avLst/>
          </a:prstGeom>
          <a:solidFill>
            <a:srgbClr val="2C5F8A"/>
          </a:solidFill>
          <a:ln/>
        </p:spPr>
      </p:sp>
      <p:sp>
        <p:nvSpPr>
          <p:cNvPr id="24" name="Text 22"/>
          <p:cNvSpPr/>
          <p:nvPr/>
        </p:nvSpPr>
        <p:spPr>
          <a:xfrm>
            <a:off x="347472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No Crosstalk</a:t>
            </a:r>
            <a:endParaRPr lang="en-US" sz="1300" dirty="0"/>
          </a:p>
        </p:txBody>
      </p:sp>
      <p:sp>
        <p:nvSpPr>
          <p:cNvPr id="25" name="Text 23"/>
          <p:cNvSpPr/>
          <p:nvPr/>
        </p:nvSpPr>
        <p:spPr>
          <a:xfrm>
            <a:off x="3474720" y="338328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What is shared matters more than who shares it. We listen without rebutting.</a:t>
            </a:r>
            <a:endParaRPr lang="en-US" sz="1100" dirty="0"/>
          </a:p>
        </p:txBody>
      </p:sp>
      <p:sp>
        <p:nvSpPr>
          <p:cNvPr id="26" name="Shape 24"/>
          <p:cNvSpPr/>
          <p:nvPr/>
        </p:nvSpPr>
        <p:spPr>
          <a:xfrm>
            <a:off x="6126480" y="3017520"/>
            <a:ext cx="2560320" cy="11430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7" name="Shape 25"/>
          <p:cNvSpPr/>
          <p:nvPr/>
        </p:nvSpPr>
        <p:spPr>
          <a:xfrm>
            <a:off x="6126480" y="3017520"/>
            <a:ext cx="54864" cy="1143000"/>
          </a:xfrm>
          <a:prstGeom prst="rect">
            <a:avLst/>
          </a:prstGeom>
          <a:solidFill>
            <a:srgbClr val="4CAF50"/>
          </a:solidFill>
          <a:ln/>
        </p:spPr>
      </p:sp>
      <p:sp>
        <p:nvSpPr>
          <p:cNvPr id="28" name="Text 26"/>
          <p:cNvSpPr/>
          <p:nvPr/>
        </p:nvSpPr>
        <p:spPr>
          <a:xfrm>
            <a:off x="630936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No Promotion or Recognition</a:t>
            </a:r>
            <a:endParaRPr lang="en-US" sz="1300" dirty="0"/>
          </a:p>
        </p:txBody>
      </p:sp>
      <p:sp>
        <p:nvSpPr>
          <p:cNvPr id="29" name="Text 27"/>
          <p:cNvSpPr/>
          <p:nvPr/>
        </p:nvSpPr>
        <p:spPr>
          <a:xfrm>
            <a:off x="6309360" y="3383280"/>
            <a:ext cx="2240280" cy="6858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No 'Member of the Month.' Anniversaries acknowledged humbly — a coin, not a trophy.</a:t>
            </a:r>
            <a:endParaRPr lang="en-US" sz="1100" dirty="0"/>
          </a:p>
        </p:txBody>
      </p:sp>
    </p:spTree>
  </p:cSld>
  <p:clrMapOvr>
    <a:masterClrMapping/>
  </p:clrMapOvr>
  <p:transition spd="med" advClick="1">
    <p:fade thruBlk="1"/>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274320"/>
            <a:ext cx="1975104" cy="320040"/>
          </a:xfrm>
          <a:prstGeom prst="roundRect">
            <a:avLst>
              <a:gd name="adj" fmla="val 14286"/>
            </a:avLst>
          </a:prstGeom>
          <a:solidFill>
            <a:srgbClr val="D4A84B"/>
          </a:solidFill>
          <a:ln/>
        </p:spPr>
      </p:sp>
      <p:sp>
        <p:nvSpPr>
          <p:cNvPr id="3" name="Text 1"/>
          <p:cNvSpPr/>
          <p:nvPr/>
        </p:nvSpPr>
        <p:spPr>
          <a:xfrm>
            <a:off x="457200" y="274320"/>
            <a:ext cx="1975104"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9</a:t>
            </a:r>
            <a:endParaRPr lang="en-US" sz="1000" dirty="0"/>
          </a:p>
        </p:txBody>
      </p:sp>
      <p:sp>
        <p:nvSpPr>
          <p:cNvPr id="4" name="Text 2"/>
          <p:cNvSpPr/>
          <p:nvPr/>
        </p:nvSpPr>
        <p:spPr>
          <a:xfrm>
            <a:off x="457200" y="548640"/>
            <a:ext cx="8229600" cy="640080"/>
          </a:xfrm>
          <a:prstGeom prst="rect">
            <a:avLst/>
          </a:prstGeom>
          <a:noFill/>
          <a:ln/>
        </p:spPr>
        <p:txBody>
          <a:bodyPr wrap="square" lIns="0" tIns="0" rIns="0" bIns="0" rtlCol="0" anchor="ctr"/>
          <a:lstStyle/>
          <a:p>
            <a:pPr indent="0" marL="0">
              <a:buNone/>
            </a:pPr>
            <a:r>
              <a:rPr lang="en-US" sz="2400" b="1" dirty="0">
                <a:solidFill>
                  <a:srgbClr val="F0C96E"/>
                </a:solidFill>
                <a:latin typeface="Georgia" pitchFamily="34" charset="0"/>
                <a:ea typeface="Georgia" pitchFamily="34" charset="-122"/>
                <a:cs typeface="Georgia" pitchFamily="34" charset="-120"/>
              </a:rPr>
              <a:t>Common Anonymity Breaks</a:t>
            </a:r>
            <a:endParaRPr lang="en-US" sz="2400" dirty="0"/>
          </a:p>
          <a:p>
            <a:pPr indent="0" marL="0">
              <a:buNone/>
            </a:pPr>
            <a:r>
              <a:rPr lang="en-US" sz="2400" b="1" dirty="0">
                <a:solidFill>
                  <a:srgbClr val="F0C96E"/>
                </a:solidFill>
                <a:latin typeface="Georgia" pitchFamily="34" charset="0"/>
                <a:ea typeface="Georgia" pitchFamily="34" charset="-122"/>
                <a:cs typeface="Georgia" pitchFamily="34" charset="-120"/>
              </a:rPr>
              <a:t>&amp; How to Address Them</a:t>
            </a:r>
            <a:endParaRPr lang="en-US" sz="2400" dirty="0"/>
          </a:p>
        </p:txBody>
      </p:sp>
      <p:sp>
        <p:nvSpPr>
          <p:cNvPr id="5" name="Text 3"/>
          <p:cNvSpPr/>
          <p:nvPr/>
        </p:nvSpPr>
        <p:spPr>
          <a:xfrm>
            <a:off x="457200" y="118872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Lead with love and education, not shame or punishment</a:t>
            </a:r>
            <a:endParaRPr lang="en-US" sz="1400" dirty="0"/>
          </a:p>
        </p:txBody>
      </p:sp>
      <p:sp>
        <p:nvSpPr>
          <p:cNvPr id="6" name="Shape 4"/>
          <p:cNvSpPr/>
          <p:nvPr/>
        </p:nvSpPr>
        <p:spPr>
          <a:xfrm>
            <a:off x="457200" y="164592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645920"/>
            <a:ext cx="54864" cy="1051560"/>
          </a:xfrm>
          <a:prstGeom prst="rect">
            <a:avLst/>
          </a:prstGeom>
          <a:solidFill>
            <a:srgbClr val="B85042"/>
          </a:solidFill>
          <a:ln/>
        </p:spPr>
      </p:sp>
      <p:sp>
        <p:nvSpPr>
          <p:cNvPr id="8" name="Text 6"/>
          <p:cNvSpPr/>
          <p:nvPr/>
        </p:nvSpPr>
        <p:spPr>
          <a:xfrm>
            <a:off x="64008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Meeting Photo on Facebook</a:t>
            </a:r>
            <a:endParaRPr lang="en-US" sz="1300" dirty="0"/>
          </a:p>
        </p:txBody>
      </p:sp>
      <p:sp>
        <p:nvSpPr>
          <p:cNvPr id="9" name="Text 7"/>
          <p:cNvSpPr/>
          <p:nvPr/>
        </p:nvSpPr>
        <p:spPr>
          <a:xfrm>
            <a:off x="640080" y="201168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Pull Sarah aside privately. Speak lovingly. Ask her to take it down. Offer the anonymity pamphlet.</a:t>
            </a:r>
            <a:endParaRPr lang="en-US" sz="1100" dirty="0"/>
          </a:p>
        </p:txBody>
      </p:sp>
      <p:sp>
        <p:nvSpPr>
          <p:cNvPr id="10" name="Shape 8"/>
          <p:cNvSpPr/>
          <p:nvPr/>
        </p:nvSpPr>
        <p:spPr>
          <a:xfrm>
            <a:off x="4754880" y="164592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4754880" y="1645920"/>
            <a:ext cx="54864" cy="1051560"/>
          </a:xfrm>
          <a:prstGeom prst="rect">
            <a:avLst/>
          </a:prstGeom>
          <a:solidFill>
            <a:srgbClr val="D4A84B"/>
          </a:solidFill>
          <a:ln/>
        </p:spPr>
      </p:sp>
      <p:sp>
        <p:nvSpPr>
          <p:cNvPr id="12" name="Text 10"/>
          <p:cNvSpPr/>
          <p:nvPr/>
        </p:nvSpPr>
        <p:spPr>
          <a:xfrm>
            <a:off x="4937760" y="173736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Discussing Another's Relapse</a:t>
            </a:r>
            <a:endParaRPr lang="en-US" sz="1300" dirty="0"/>
          </a:p>
        </p:txBody>
      </p:sp>
      <p:sp>
        <p:nvSpPr>
          <p:cNvPr id="13" name="Text 11"/>
          <p:cNvSpPr/>
          <p:nvPr/>
        </p:nvSpPr>
        <p:spPr>
          <a:xfrm>
            <a:off x="4937760" y="201168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Speak to John privately: sharing Mike's relapse is a confidentiality breach. Reach out directly or via sponsor.</a:t>
            </a:r>
            <a:endParaRPr lang="en-US" sz="1100" dirty="0"/>
          </a:p>
        </p:txBody>
      </p:sp>
      <p:sp>
        <p:nvSpPr>
          <p:cNvPr id="14" name="Shape 12"/>
          <p:cNvSpPr/>
          <p:nvPr/>
        </p:nvSpPr>
        <p:spPr>
          <a:xfrm>
            <a:off x="457200" y="288036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457200" y="2880360"/>
            <a:ext cx="54864" cy="1051560"/>
          </a:xfrm>
          <a:prstGeom prst="rect">
            <a:avLst/>
          </a:prstGeom>
          <a:solidFill>
            <a:srgbClr val="B85042"/>
          </a:solidFill>
          <a:ln/>
        </p:spPr>
      </p:sp>
      <p:sp>
        <p:nvSpPr>
          <p:cNvPr id="16" name="Text 14"/>
          <p:cNvSpPr/>
          <p:nvPr/>
        </p:nvSpPr>
        <p:spPr>
          <a:xfrm>
            <a:off x="640080" y="2971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Newcomer Posts on Instagram</a:t>
            </a:r>
            <a:endParaRPr lang="en-US" sz="1300" dirty="0"/>
          </a:p>
        </p:txBody>
      </p:sp>
      <p:sp>
        <p:nvSpPr>
          <p:cNvPr id="17" name="Text 15"/>
          <p:cNvSpPr/>
          <p:nvPr/>
        </p:nvSpPr>
        <p:spPr>
          <a:xfrm>
            <a:off x="640080" y="324612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Reach out gently. Educate: don't use full name + AA together publicly. Offer alternative wording.</a:t>
            </a:r>
            <a:endParaRPr lang="en-US" sz="1100" dirty="0"/>
          </a:p>
        </p:txBody>
      </p:sp>
      <p:sp>
        <p:nvSpPr>
          <p:cNvPr id="18" name="Shape 16"/>
          <p:cNvSpPr/>
          <p:nvPr/>
        </p:nvSpPr>
        <p:spPr>
          <a:xfrm>
            <a:off x="4754880" y="2880360"/>
            <a:ext cx="3931920" cy="105156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754880" y="2880360"/>
            <a:ext cx="54864" cy="1051560"/>
          </a:xfrm>
          <a:prstGeom prst="rect">
            <a:avLst/>
          </a:prstGeom>
          <a:solidFill>
            <a:srgbClr val="D4A84B"/>
          </a:solidFill>
          <a:ln/>
        </p:spPr>
      </p:sp>
      <p:sp>
        <p:nvSpPr>
          <p:cNvPr id="20" name="Text 18"/>
          <p:cNvSpPr/>
          <p:nvPr/>
        </p:nvSpPr>
        <p:spPr>
          <a:xfrm>
            <a:off x="4937760" y="2971800"/>
            <a:ext cx="36118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Old-Timer Dominates Meetings</a:t>
            </a:r>
            <a:endParaRPr lang="en-US" sz="1300" dirty="0"/>
          </a:p>
        </p:txBody>
      </p:sp>
      <p:sp>
        <p:nvSpPr>
          <p:cNvPr id="21" name="Text 19"/>
          <p:cNvSpPr/>
          <p:nvPr/>
        </p:nvSpPr>
        <p:spPr>
          <a:xfrm>
            <a:off x="4937760" y="3246120"/>
            <a:ext cx="3611880" cy="59436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Speak privately: sharing limit applies to everyone. Remind of Tradition 12: principles before personalities.</a:t>
            </a:r>
            <a:endParaRPr lang="en-US" sz="1100" dirty="0"/>
          </a:p>
        </p:txBody>
      </p:sp>
      <p:sp>
        <p:nvSpPr>
          <p:cNvPr id="22" name="Text 20"/>
          <p:cNvSpPr/>
          <p:nvPr/>
        </p:nvSpPr>
        <p:spPr>
          <a:xfrm>
            <a:off x="457200" y="4160520"/>
            <a:ext cx="8229600" cy="365760"/>
          </a:xfrm>
          <a:prstGeom prst="rect">
            <a:avLst/>
          </a:prstGeom>
          <a:noFill/>
          <a:ln/>
        </p:spPr>
        <p:txBody>
          <a:bodyPr wrap="square" rtlCol="0" anchor="ctr"/>
          <a:lstStyle/>
          <a:p>
            <a:pPr indent="0" marL="0">
              <a:buNone/>
            </a:pPr>
            <a:r>
              <a:rPr lang="en-US" sz="1000" i="1" dirty="0">
                <a:solidFill>
                  <a:srgbClr val="F5E6C8"/>
                </a:solidFill>
                <a:latin typeface="Calibri" pitchFamily="34" charset="0"/>
                <a:ea typeface="Calibri" pitchFamily="34" charset="-122"/>
                <a:cs typeface="Calibri" pitchFamily="34" charset="-120"/>
              </a:rPr>
              <a:t>The "Loving Correction" Approach: Remember — we're all learning. Even Bill W. broke anonymity multiple times before understanding its importance.</a:t>
            </a:r>
            <a:endParaRPr lang="en-US" sz="1000" dirty="0"/>
          </a:p>
        </p:txBody>
      </p:sp>
    </p:spTree>
  </p:cSld>
  <p:clrMapOvr>
    <a:masterClrMapping/>
  </p:clrMapOvr>
  <p:transition spd="med" advClick="1">
    <p:fade thruBlk="1"/>
  </p:transition>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274320"/>
            <a:ext cx="2075688" cy="320040"/>
          </a:xfrm>
          <a:prstGeom prst="roundRect">
            <a:avLst>
              <a:gd name="adj" fmla="val 14286"/>
            </a:avLst>
          </a:prstGeom>
          <a:solidFill>
            <a:srgbClr val="D4A84B"/>
          </a:solidFill>
          <a:ln/>
        </p:spPr>
      </p:sp>
      <p:sp>
        <p:nvSpPr>
          <p:cNvPr id="3" name="Text 1"/>
          <p:cNvSpPr/>
          <p:nvPr/>
        </p:nvSpPr>
        <p:spPr>
          <a:xfrm>
            <a:off x="457200" y="274320"/>
            <a:ext cx="2075688"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PART 10</a:t>
            </a:r>
            <a:endParaRPr lang="en-US" sz="1000" dirty="0"/>
          </a:p>
        </p:txBody>
      </p:sp>
      <p:sp>
        <p:nvSpPr>
          <p:cNvPr id="4" name="Text 2"/>
          <p:cNvSpPr/>
          <p:nvPr/>
        </p:nvSpPr>
        <p:spPr>
          <a:xfrm>
            <a:off x="457200" y="64008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Panel Discussion: Your Questions</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&amp; Experiences</a:t>
            </a:r>
            <a:endParaRPr lang="en-US" sz="2800" dirty="0"/>
          </a:p>
        </p:txBody>
      </p:sp>
      <p:sp>
        <p:nvSpPr>
          <p:cNvPr id="5" name="Text 3"/>
          <p:cNvSpPr/>
          <p:nvPr/>
        </p:nvSpPr>
        <p:spPr>
          <a:xfrm>
            <a:off x="457200" y="1325880"/>
            <a:ext cx="8229600" cy="457200"/>
          </a:xfrm>
          <a:prstGeom prst="rect">
            <a:avLst/>
          </a:prstGeom>
          <a:noFill/>
          <a:ln/>
        </p:spPr>
        <p:txBody>
          <a:bodyPr wrap="square" lIns="0" tIns="0" rIns="0" bIns="0" rtlCol="0" anchor="ctr"/>
          <a:lstStyle/>
          <a:p>
            <a:pPr indent="0" marL="0">
              <a:buNone/>
            </a:pPr>
            <a:r>
              <a:rPr lang="en-US" sz="1400" i="1" dirty="0">
                <a:solidFill>
                  <a:srgbClr val="99AABB"/>
                </a:solidFill>
                <a:latin typeface="Calibri" pitchFamily="34" charset="0"/>
                <a:ea typeface="Calibri" pitchFamily="34" charset="-122"/>
                <a:cs typeface="Calibri" pitchFamily="34" charset="-120"/>
              </a:rPr>
              <a:t>What questions do you have? What challenges has your home group faced?</a:t>
            </a:r>
            <a:endParaRPr lang="en-US" sz="1400" dirty="0"/>
          </a:p>
        </p:txBody>
      </p:sp>
      <p:sp>
        <p:nvSpPr>
          <p:cNvPr id="6" name="Shape 4"/>
          <p:cNvSpPr/>
          <p:nvPr/>
        </p:nvSpPr>
        <p:spPr>
          <a:xfrm>
            <a:off x="457200" y="192024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7" name="Shape 5"/>
          <p:cNvSpPr/>
          <p:nvPr/>
        </p:nvSpPr>
        <p:spPr>
          <a:xfrm>
            <a:off x="457200" y="1920240"/>
            <a:ext cx="54864" cy="914400"/>
          </a:xfrm>
          <a:prstGeom prst="rect">
            <a:avLst/>
          </a:prstGeom>
          <a:solidFill>
            <a:srgbClr val="D4A84B"/>
          </a:solidFill>
          <a:ln/>
        </p:spPr>
      </p:sp>
      <p:sp>
        <p:nvSpPr>
          <p:cNvPr id="8" name="Text 6"/>
          <p:cNvSpPr/>
          <p:nvPr/>
        </p:nvSpPr>
        <p:spPr>
          <a:xfrm>
            <a:off x="640080" y="20116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Personal Anonymity Decisions</a:t>
            </a:r>
            <a:endParaRPr lang="en-US" sz="1300" dirty="0"/>
          </a:p>
        </p:txBody>
      </p:sp>
      <p:sp>
        <p:nvSpPr>
          <p:cNvPr id="9" name="Text 7"/>
          <p:cNvSpPr/>
          <p:nvPr/>
        </p:nvSpPr>
        <p:spPr>
          <a:xfrm>
            <a:off x="640080" y="228600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Have you struggled with deciding whether to disclose your AA membership?</a:t>
            </a:r>
            <a:endParaRPr lang="en-US" sz="1100" dirty="0"/>
          </a:p>
        </p:txBody>
      </p:sp>
      <p:sp>
        <p:nvSpPr>
          <p:cNvPr id="10" name="Shape 8"/>
          <p:cNvSpPr/>
          <p:nvPr/>
        </p:nvSpPr>
        <p:spPr>
          <a:xfrm>
            <a:off x="3291840" y="192024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1" name="Shape 9"/>
          <p:cNvSpPr/>
          <p:nvPr/>
        </p:nvSpPr>
        <p:spPr>
          <a:xfrm>
            <a:off x="3291840" y="1920240"/>
            <a:ext cx="54864" cy="914400"/>
          </a:xfrm>
          <a:prstGeom prst="rect">
            <a:avLst/>
          </a:prstGeom>
          <a:solidFill>
            <a:srgbClr val="2C5F8A"/>
          </a:solidFill>
          <a:ln/>
        </p:spPr>
      </p:sp>
      <p:sp>
        <p:nvSpPr>
          <p:cNvPr id="12" name="Text 10"/>
          <p:cNvSpPr/>
          <p:nvPr/>
        </p:nvSpPr>
        <p:spPr>
          <a:xfrm>
            <a:off x="3474720" y="20116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Digital Age Challenges</a:t>
            </a:r>
            <a:endParaRPr lang="en-US" sz="1300" dirty="0"/>
          </a:p>
        </p:txBody>
      </p:sp>
      <p:sp>
        <p:nvSpPr>
          <p:cNvPr id="13" name="Text 11"/>
          <p:cNvSpPr/>
          <p:nvPr/>
        </p:nvSpPr>
        <p:spPr>
          <a:xfrm>
            <a:off x="3474720" y="228600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Has your group dealt with social media anonymity breaks?</a:t>
            </a:r>
            <a:endParaRPr lang="en-US" sz="1100" dirty="0"/>
          </a:p>
        </p:txBody>
      </p:sp>
      <p:sp>
        <p:nvSpPr>
          <p:cNvPr id="14" name="Shape 12"/>
          <p:cNvSpPr/>
          <p:nvPr/>
        </p:nvSpPr>
        <p:spPr>
          <a:xfrm>
            <a:off x="6126480" y="192024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5" name="Shape 13"/>
          <p:cNvSpPr/>
          <p:nvPr/>
        </p:nvSpPr>
        <p:spPr>
          <a:xfrm>
            <a:off x="6126480" y="1920240"/>
            <a:ext cx="54864" cy="914400"/>
          </a:xfrm>
          <a:prstGeom prst="rect">
            <a:avLst/>
          </a:prstGeom>
          <a:solidFill>
            <a:srgbClr val="B85042"/>
          </a:solidFill>
          <a:ln/>
        </p:spPr>
      </p:sp>
      <p:sp>
        <p:nvSpPr>
          <p:cNvPr id="16" name="Text 14"/>
          <p:cNvSpPr/>
          <p:nvPr/>
        </p:nvSpPr>
        <p:spPr>
          <a:xfrm>
            <a:off x="6309360" y="201168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Attraction vs. Promotion</a:t>
            </a:r>
            <a:endParaRPr lang="en-US" sz="1300" dirty="0"/>
          </a:p>
        </p:txBody>
      </p:sp>
      <p:sp>
        <p:nvSpPr>
          <p:cNvPr id="17" name="Text 15"/>
          <p:cNvSpPr/>
          <p:nvPr/>
        </p:nvSpPr>
        <p:spPr>
          <a:xfrm>
            <a:off x="6309360" y="228600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What's the difference between 'attraction' and 'hiding'?</a:t>
            </a:r>
            <a:endParaRPr lang="en-US" sz="1100" dirty="0"/>
          </a:p>
        </p:txBody>
      </p:sp>
      <p:sp>
        <p:nvSpPr>
          <p:cNvPr id="18" name="Shape 16"/>
          <p:cNvSpPr/>
          <p:nvPr/>
        </p:nvSpPr>
        <p:spPr>
          <a:xfrm>
            <a:off x="457200" y="301752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3017520"/>
            <a:ext cx="54864" cy="914400"/>
          </a:xfrm>
          <a:prstGeom prst="rect">
            <a:avLst/>
          </a:prstGeom>
          <a:solidFill>
            <a:srgbClr val="D4A84B"/>
          </a:solidFill>
          <a:ln/>
        </p:spPr>
      </p:sp>
      <p:sp>
        <p:nvSpPr>
          <p:cNvPr id="20" name="Text 18"/>
          <p:cNvSpPr/>
          <p:nvPr/>
        </p:nvSpPr>
        <p:spPr>
          <a:xfrm>
            <a:off x="64008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Principles Before Personalities</a:t>
            </a:r>
            <a:endParaRPr lang="en-US" sz="1300" dirty="0"/>
          </a:p>
        </p:txBody>
      </p:sp>
      <p:sp>
        <p:nvSpPr>
          <p:cNvPr id="21" name="Text 19"/>
          <p:cNvSpPr/>
          <p:nvPr/>
        </p:nvSpPr>
        <p:spPr>
          <a:xfrm>
            <a:off x="640080" y="338328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Can you share when your group had to place principles first?</a:t>
            </a:r>
            <a:endParaRPr lang="en-US" sz="1100" dirty="0"/>
          </a:p>
        </p:txBody>
      </p:sp>
      <p:sp>
        <p:nvSpPr>
          <p:cNvPr id="22" name="Shape 20"/>
          <p:cNvSpPr/>
          <p:nvPr/>
        </p:nvSpPr>
        <p:spPr>
          <a:xfrm>
            <a:off x="3291840" y="301752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3" name="Shape 21"/>
          <p:cNvSpPr/>
          <p:nvPr/>
        </p:nvSpPr>
        <p:spPr>
          <a:xfrm>
            <a:off x="3291840" y="3017520"/>
            <a:ext cx="54864" cy="914400"/>
          </a:xfrm>
          <a:prstGeom prst="rect">
            <a:avLst/>
          </a:prstGeom>
          <a:solidFill>
            <a:srgbClr val="2C5F8A"/>
          </a:solidFill>
          <a:ln/>
        </p:spPr>
      </p:sp>
      <p:sp>
        <p:nvSpPr>
          <p:cNvPr id="24" name="Text 22"/>
          <p:cNvSpPr/>
          <p:nvPr/>
        </p:nvSpPr>
        <p:spPr>
          <a:xfrm>
            <a:off x="347472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Confidentiality in Practice</a:t>
            </a:r>
            <a:endParaRPr lang="en-US" sz="1300" dirty="0"/>
          </a:p>
        </p:txBody>
      </p:sp>
      <p:sp>
        <p:nvSpPr>
          <p:cNvPr id="25" name="Text 23"/>
          <p:cNvSpPr/>
          <p:nvPr/>
        </p:nvSpPr>
        <p:spPr>
          <a:xfrm>
            <a:off x="3474720" y="338328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What do you do when you see a fellow member 'in the wild'?</a:t>
            </a:r>
            <a:endParaRPr lang="en-US" sz="1100" dirty="0"/>
          </a:p>
        </p:txBody>
      </p:sp>
      <p:sp>
        <p:nvSpPr>
          <p:cNvPr id="26" name="Shape 24"/>
          <p:cNvSpPr/>
          <p:nvPr/>
        </p:nvSpPr>
        <p:spPr>
          <a:xfrm>
            <a:off x="6126480" y="3017520"/>
            <a:ext cx="2560320" cy="914400"/>
          </a:xfrm>
          <a:prstGeom prst="rect">
            <a:avLst/>
          </a:prstGeom>
          <a:solidFill>
            <a:srgbClr val="1B3A52"/>
          </a:solidFill>
          <a:ln/>
          <a:effectLst>
            <a:outerShdw sx="100000" sy="100000" kx="0" ky="0" algn="bl" rotWithShape="0" blurRad="76200" dist="25400" dir="8100000">
              <a:srgbClr val="000000">
                <a:alpha val="20000"/>
              </a:srgbClr>
            </a:outerShdw>
          </a:effectLst>
        </p:spPr>
      </p:sp>
      <p:sp>
        <p:nvSpPr>
          <p:cNvPr id="27" name="Shape 25"/>
          <p:cNvSpPr/>
          <p:nvPr/>
        </p:nvSpPr>
        <p:spPr>
          <a:xfrm>
            <a:off x="6126480" y="3017520"/>
            <a:ext cx="54864" cy="914400"/>
          </a:xfrm>
          <a:prstGeom prst="rect">
            <a:avLst/>
          </a:prstGeom>
          <a:solidFill>
            <a:srgbClr val="B85042"/>
          </a:solidFill>
          <a:ln/>
        </p:spPr>
      </p:sp>
      <p:sp>
        <p:nvSpPr>
          <p:cNvPr id="28" name="Text 26"/>
          <p:cNvSpPr/>
          <p:nvPr/>
        </p:nvSpPr>
        <p:spPr>
          <a:xfrm>
            <a:off x="6309360" y="3108960"/>
            <a:ext cx="2240280" cy="274320"/>
          </a:xfrm>
          <a:prstGeom prst="rect">
            <a:avLst/>
          </a:prstGeom>
          <a:noFill/>
          <a:ln/>
        </p:spPr>
        <p:txBody>
          <a:bodyPr wrap="square" lIns="0" tIns="0" rIns="0" bIns="0" rtlCol="0" anchor="ctr"/>
          <a:lstStyle/>
          <a:p>
            <a:pPr indent="0" marL="0">
              <a:buNone/>
            </a:pPr>
            <a:r>
              <a:rPr lang="en-US" sz="1300" b="1" dirty="0">
                <a:solidFill>
                  <a:srgbClr val="D4A84B"/>
                </a:solidFill>
                <a:latin typeface="Calibri" pitchFamily="34" charset="0"/>
                <a:ea typeface="Calibri" pitchFamily="34" charset="-122"/>
                <a:cs typeface="Calibri" pitchFamily="34" charset="-120"/>
              </a:rPr>
              <a:t>Home Group Practices</a:t>
            </a:r>
            <a:endParaRPr lang="en-US" sz="1300" dirty="0"/>
          </a:p>
        </p:txBody>
      </p:sp>
      <p:sp>
        <p:nvSpPr>
          <p:cNvPr id="29" name="Text 27"/>
          <p:cNvSpPr/>
          <p:nvPr/>
        </p:nvSpPr>
        <p:spPr>
          <a:xfrm>
            <a:off x="6309360" y="3383280"/>
            <a:ext cx="2240280" cy="457200"/>
          </a:xfrm>
          <a:prstGeom prst="rect">
            <a:avLst/>
          </a:prstGeom>
          <a:noFill/>
          <a:ln/>
        </p:spPr>
        <p:txBody>
          <a:bodyPr wrap="square" lIns="0" tIns="0" rIns="0" bIns="0" rtlCol="0" anchor="ctr"/>
          <a:lstStyle/>
          <a:p>
            <a:pPr indent="0" marL="0">
              <a:buNone/>
            </a:pPr>
            <a:r>
              <a:rPr lang="en-US" sz="1100" dirty="0">
                <a:solidFill>
                  <a:srgbClr val="E8E8E8"/>
                </a:solidFill>
                <a:latin typeface="Calibri" pitchFamily="34" charset="0"/>
                <a:ea typeface="Calibri" pitchFamily="34" charset="-122"/>
                <a:cs typeface="Calibri" pitchFamily="34" charset="-120"/>
              </a:rPr>
              <a:t>Does your group have a technology/social media policy?</a:t>
            </a:r>
            <a:endParaRPr lang="en-US" sz="1100" dirty="0"/>
          </a:p>
        </p:txBody>
      </p:sp>
    </p:spTree>
  </p:cSld>
  <p:clrMapOvr>
    <a:masterClrMapping/>
  </p:clrMapOvr>
  <p:transition spd="med" advClick="1">
    <p:fade thruBlk="1"/>
  </p:transition>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274320"/>
            <a:ext cx="2075688" cy="320040"/>
          </a:xfrm>
          <a:prstGeom prst="roundRect">
            <a:avLst>
              <a:gd name="adj" fmla="val 14286"/>
            </a:avLst>
          </a:prstGeom>
          <a:solidFill>
            <a:srgbClr val="D4A84B"/>
          </a:solidFill>
          <a:ln/>
        </p:spPr>
      </p:sp>
      <p:sp>
        <p:nvSpPr>
          <p:cNvPr id="3" name="Text 1"/>
          <p:cNvSpPr/>
          <p:nvPr/>
        </p:nvSpPr>
        <p:spPr>
          <a:xfrm>
            <a:off x="457200" y="274320"/>
            <a:ext cx="2075688" cy="320040"/>
          </a:xfrm>
          <a:prstGeom prst="rect">
            <a:avLst/>
          </a:prstGeom>
          <a:noFill/>
          <a:ln/>
        </p:spPr>
        <p:txBody>
          <a:bodyPr wrap="square" lIns="0" tIns="0" rIns="0" bIns="0" rtlCol="0" anchor="ctr"/>
          <a:lstStyle/>
          <a:p>
            <a:pPr algn="ctr" indent="0" marL="0">
              <a:buNone/>
            </a:pPr>
            <a:r>
              <a:rPr lang="en-US" sz="1000" b="1" dirty="0">
                <a:solidFill>
                  <a:srgbClr val="0D1B2A"/>
                </a:solidFill>
                <a:latin typeface="Calibri" pitchFamily="34" charset="0"/>
                <a:ea typeface="Calibri" pitchFamily="34" charset="-122"/>
                <a:cs typeface="Calibri" pitchFamily="34" charset="-120"/>
              </a:rPr>
              <a:t>ANONYMITY CLOSING</a:t>
            </a:r>
            <a:endParaRPr lang="en-US" sz="1000" dirty="0"/>
          </a:p>
        </p:txBody>
      </p:sp>
      <p:sp>
        <p:nvSpPr>
          <p:cNvPr id="4" name="Text 2"/>
          <p:cNvSpPr/>
          <p:nvPr/>
        </p:nvSpPr>
        <p:spPr>
          <a:xfrm>
            <a:off x="457200" y="457200"/>
            <a:ext cx="8229600" cy="640080"/>
          </a:xfrm>
          <a:prstGeom prst="rect">
            <a:avLst/>
          </a:prstGeom>
          <a:noFill/>
          <a:ln/>
        </p:spPr>
        <p:txBody>
          <a:bodyPr wrap="square" lIns="0" tIns="0" rIns="0" bIns="0" rtlCol="0" anchor="ctr"/>
          <a:lstStyle/>
          <a:p>
            <a:pPr indent="0" marL="0">
              <a:buNone/>
            </a:pPr>
            <a:r>
              <a:rPr lang="en-US" sz="2800" b="1" dirty="0">
                <a:solidFill>
                  <a:srgbClr val="F0C96E"/>
                </a:solidFill>
                <a:latin typeface="Georgia" pitchFamily="34" charset="0"/>
                <a:ea typeface="Georgia" pitchFamily="34" charset="-122"/>
                <a:cs typeface="Georgia" pitchFamily="34" charset="-120"/>
              </a:rPr>
              <a:t>Anonymity: The Spiritual</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Foundation That Holds It</a:t>
            </a:r>
            <a:endParaRPr lang="en-US" sz="2800" dirty="0"/>
          </a:p>
          <a:p>
            <a:pPr indent="0" marL="0">
              <a:buNone/>
            </a:pPr>
            <a:r>
              <a:rPr lang="en-US" sz="2800" b="1" dirty="0">
                <a:solidFill>
                  <a:srgbClr val="F0C96E"/>
                </a:solidFill>
                <a:latin typeface="Georgia" pitchFamily="34" charset="0"/>
                <a:ea typeface="Georgia" pitchFamily="34" charset="-122"/>
                <a:cs typeface="Georgia" pitchFamily="34" charset="-120"/>
              </a:rPr>
              <a:t>All Together</a:t>
            </a:r>
            <a:endParaRPr lang="en-US" sz="2800" dirty="0"/>
          </a:p>
        </p:txBody>
      </p:sp>
      <p:sp>
        <p:nvSpPr>
          <p:cNvPr id="5" name="Shape 3"/>
          <p:cNvSpPr/>
          <p:nvPr/>
        </p:nvSpPr>
        <p:spPr>
          <a:xfrm>
            <a:off x="457200" y="1645920"/>
            <a:ext cx="8229600" cy="91440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6" name="Shape 4"/>
          <p:cNvSpPr/>
          <p:nvPr/>
        </p:nvSpPr>
        <p:spPr>
          <a:xfrm>
            <a:off x="457200" y="1645920"/>
            <a:ext cx="54864" cy="914400"/>
          </a:xfrm>
          <a:prstGeom prst="rect">
            <a:avLst/>
          </a:prstGeom>
          <a:solidFill>
            <a:srgbClr val="D4A84B"/>
          </a:solidFill>
          <a:ln/>
        </p:spPr>
      </p:sp>
      <p:sp>
        <p:nvSpPr>
          <p:cNvPr id="7" name="Text 5"/>
          <p:cNvSpPr/>
          <p:nvPr/>
        </p:nvSpPr>
        <p:spPr>
          <a:xfrm>
            <a:off x="640080" y="1737360"/>
            <a:ext cx="7909560" cy="73152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"Anonymity is real humility at work. It is an all-pervading spiritual quality which today keynotes A.A. life everywhere. Moved by the spirit of anonymity, we try to give up our natural desires for personal distinction... each of us takes part in the weaving of a protective mantle which covers our whole Society."</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Bill W., 12&amp;12, p. 184</a:t>
            </a:r>
            <a:endParaRPr lang="en-US" sz="1100" dirty="0"/>
          </a:p>
        </p:txBody>
      </p:sp>
      <p:sp>
        <p:nvSpPr>
          <p:cNvPr id="8" name="Text 6"/>
          <p:cNvSpPr/>
          <p:nvPr/>
        </p:nvSpPr>
        <p:spPr>
          <a:xfrm>
            <a:off x="457200" y="2743200"/>
            <a:ext cx="8229600" cy="1371600"/>
          </a:xfrm>
          <a:prstGeom prst="rect">
            <a:avLst/>
          </a:prstGeom>
          <a:noFill/>
          <a:ln/>
        </p:spPr>
        <p:txBody>
          <a:bodyPr wrap="square" rtlCol="0" anchor="ctr"/>
          <a:lstStyle/>
          <a:p>
            <a:pPr indent="0" marL="0">
              <a:buNone/>
            </a:pPr>
            <a:r>
              <a:rPr lang="en-US" sz="1200" b="1" dirty="0">
                <a:solidFill>
                  <a:srgbClr val="D4A84B"/>
                </a:solidFill>
              </a:rPr>
              <a:t>Essential Literature on Anonymity:</a:t>
            </a:r>
            <a:endParaRPr lang="en-US" sz="1200" dirty="0"/>
          </a:p>
          <a:p>
            <a:pPr marL="342900" indent="-342900">
              <a:buSzPct val="100000"/>
              <a:buChar char="•"/>
            </a:pPr>
            <a:r>
              <a:rPr lang="en-US" sz="1000" dirty="0">
                <a:solidFill>
                  <a:srgbClr val="E8E8E8"/>
                </a:solidFill>
              </a:rPr>
              <a:t>12&amp;12: Traditions 11 (pp. 180-183) &amp; 12 (pp. 184-187)</a:t>
            </a:r>
            <a:endParaRPr lang="en-US" sz="1200" dirty="0"/>
          </a:p>
          <a:p>
            <a:pPr marL="342900" indent="-342900">
              <a:buSzPct val="100000"/>
              <a:buChar char="•"/>
            </a:pPr>
            <a:r>
              <a:rPr lang="en-US" sz="1000" dirty="0">
                <a:solidFill>
                  <a:srgbClr val="E8E8E8"/>
                </a:solidFill>
              </a:rPr>
              <a:t>Big Book: Foreword, "Working With Others" (pp. 89-103)</a:t>
            </a:r>
            <a:endParaRPr lang="en-US" sz="1200" dirty="0"/>
          </a:p>
          <a:p>
            <a:pPr marL="342900" indent="-342900">
              <a:buSzPct val="100000"/>
              <a:buChar char="•"/>
            </a:pPr>
            <a:r>
              <a:rPr lang="en-US" sz="1000" dirty="0">
                <a:solidFill>
                  <a:srgbClr val="E8E8E8"/>
                </a:solidFill>
              </a:rPr>
              <a:t>"Understanding Anonymity" Pamphlet (22 pages)</a:t>
            </a:r>
            <a:endParaRPr lang="en-US" sz="1200" dirty="0"/>
          </a:p>
          <a:p>
            <a:pPr marL="342900" indent="-342900">
              <a:buSzPct val="100000"/>
              <a:buChar char="•"/>
            </a:pPr>
            <a:r>
              <a:rPr lang="en-US" sz="1000" dirty="0">
                <a:solidFill>
                  <a:srgbClr val="E8E8E8"/>
                </a:solidFill>
              </a:rPr>
              <a:t>AA Comes of Age: Anonymity chapter (pp. 135-141)</a:t>
            </a:r>
            <a:endParaRPr lang="en-US" sz="1200" dirty="0"/>
          </a:p>
          <a:p>
            <a:pPr marL="342900" indent="-342900">
              <a:buSzPct val="100000"/>
              <a:buChar char="•"/>
            </a:pPr>
            <a:r>
              <a:rPr lang="en-US" sz="1000" dirty="0">
                <a:solidFill>
                  <a:srgbClr val="E8E8E8"/>
                </a:solidFill>
              </a:rPr>
              <a:t>"Anonymity Online" GSO Bulletin (available at aa.org)</a:t>
            </a:r>
            <a:endParaRPr lang="en-US" sz="1200" dirty="0"/>
          </a:p>
        </p:txBody>
      </p:sp>
      <p:sp>
        <p:nvSpPr>
          <p:cNvPr id="9" name="Shape 7"/>
          <p:cNvSpPr/>
          <p:nvPr/>
        </p:nvSpPr>
        <p:spPr>
          <a:xfrm>
            <a:off x="457200" y="4114800"/>
            <a:ext cx="8229600" cy="502920"/>
          </a:xfrm>
          <a:prstGeom prst="rect">
            <a:avLst/>
          </a:prstGeom>
          <a:solidFill>
            <a:srgbClr val="0D1B2A"/>
          </a:solidFill>
          <a:ln w="6350">
            <a:solidFill>
              <a:srgbClr val="D4A84B"/>
            </a:solidFill>
            <a:prstDash val="solid"/>
          </a:ln>
          <a:effectLst>
            <a:outerShdw sx="100000" sy="100000" kx="0" ky="0" algn="bl" rotWithShape="0" blurRad="76200" dist="25400" dir="8100000">
              <a:srgbClr val="000000">
                <a:alpha val="20000"/>
              </a:srgbClr>
            </a:outerShdw>
          </a:effectLst>
        </p:spPr>
      </p:sp>
      <p:sp>
        <p:nvSpPr>
          <p:cNvPr id="10" name="Shape 8"/>
          <p:cNvSpPr/>
          <p:nvPr/>
        </p:nvSpPr>
        <p:spPr>
          <a:xfrm>
            <a:off x="457200" y="4114800"/>
            <a:ext cx="54864" cy="502920"/>
          </a:xfrm>
          <a:prstGeom prst="rect">
            <a:avLst/>
          </a:prstGeom>
          <a:solidFill>
            <a:srgbClr val="D4A84B"/>
          </a:solidFill>
          <a:ln/>
        </p:spPr>
      </p:sp>
      <p:sp>
        <p:nvSpPr>
          <p:cNvPr id="11" name="Text 9"/>
          <p:cNvSpPr/>
          <p:nvPr/>
        </p:nvSpPr>
        <p:spPr>
          <a:xfrm>
            <a:off x="640080" y="4206240"/>
            <a:ext cx="7909560" cy="320040"/>
          </a:xfrm>
          <a:prstGeom prst="rect">
            <a:avLst/>
          </a:prstGeom>
          <a:noFill/>
          <a:ln/>
        </p:spPr>
        <p:txBody>
          <a:bodyPr wrap="square" rtlCol="0" anchor="ctr"/>
          <a:lstStyle/>
          <a:p>
            <a:pPr indent="0" marL="0">
              <a:buNone/>
            </a:pPr>
            <a:r>
              <a:rPr lang="en-US" sz="1100" i="1" dirty="0">
                <a:solidFill>
                  <a:srgbClr val="F5E6C8"/>
                </a:solidFill>
                <a:latin typeface="Calibri" pitchFamily="34" charset="0"/>
                <a:ea typeface="Calibri" pitchFamily="34" charset="-122"/>
                <a:cs typeface="Calibri" pitchFamily="34" charset="-120"/>
              </a:rPr>
              <a:t>"God grant me the serenity to accept the things I cannot change, the courage to change the things I can, and the wisdom to know the difference."</a:t>
            </a:r>
            <a:endParaRPr lang="en-US" sz="1100" dirty="0"/>
          </a:p>
          <a:p>
            <a:pPr indent="0" marL="0">
              <a:buNone/>
            </a:pPr>
            <a:r>
              <a:rPr lang="en-US" sz="900" dirty="0">
                <a:solidFill>
                  <a:srgbClr val="99AABB"/>
                </a:solidFill>
                <a:latin typeface="Calibri" pitchFamily="34" charset="0"/>
                <a:ea typeface="Calibri" pitchFamily="34" charset="-122"/>
                <a:cs typeface="Calibri" pitchFamily="34" charset="-120"/>
              </a:rPr>
              <a:t>— The Serenity Prayer</a:t>
            </a:r>
            <a:endParaRPr lang="en-US" sz="1100" dirty="0"/>
          </a:p>
        </p:txBody>
      </p:sp>
      <p:sp>
        <p:nvSpPr>
          <p:cNvPr id="12" name="TextBox 11"/>
          <p:cNvSpPr txBox="1"/>
          <p:nvPr/>
        </p:nvSpPr>
        <p:spPr>
          <a:xfrm>
            <a:off x="274320" y="2743200"/>
            <a:ext cx="4114800" cy="1828800"/>
          </a:xfrm>
          <a:prstGeom prst="rect">
            <a:avLst/>
          </a:prstGeom>
          <a:noFill/>
        </p:spPr>
        <p:txBody>
          <a:bodyPr wrap="square">
            <a:spAutoFit/>
          </a:bodyPr>
          <a:lstStyle/>
          <a:p>
            <a:pPr algn="l"/>
            <a:r>
              <a:rPr sz="850" b="0" i="0">
                <a:solidFill>
                  <a:srgbClr val="99AABB"/>
                </a:solidFill>
                <a:latin typeface="Calibri"/>
              </a:rPr>
              <a:t>ESSENTIAL LITERATURE ON ANONYMITY:
• 12&amp;12: Traditions 11 (pp. 180-183) &amp; 12 (pp. 184-187)
• Big Book: Foreword, 'Working With Others' (pp. 89-103)
• 'Understanding Anonymity' Pamphlet (22 pages)
• AA Comes of Age: Anonymity chapter (pp. 135-141)
• 'Anonymity Online' GSO Bulletin (available at aa.org)
• The Language of the Heart: pp. 67-72
• Pass It On: pp. 282-283, 335-337</a:t>
            </a:r>
          </a:p>
        </p:txBody>
      </p:sp>
      <p:sp>
        <p:nvSpPr>
          <p:cNvPr id="13" name="TextBox 12"/>
          <p:cNvSpPr txBox="1"/>
          <p:nvPr/>
        </p:nvSpPr>
        <p:spPr>
          <a:xfrm>
            <a:off x="4572000" y="2743200"/>
            <a:ext cx="4297680" cy="2286000"/>
          </a:xfrm>
          <a:prstGeom prst="rect">
            <a:avLst/>
          </a:prstGeom>
          <a:noFill/>
        </p:spPr>
        <p:txBody>
          <a:bodyPr wrap="square">
            <a:spAutoFit/>
          </a:bodyPr>
          <a:lstStyle/>
          <a:p>
            <a:pPr algn="l"/>
            <a:r>
              <a:rPr sz="850" b="0" i="0">
                <a:solidFill>
                  <a:srgbClr val="99AABB"/>
                </a:solidFill>
                <a:latin typeface="Calibri"/>
              </a:rPr>
              <a:t>ACTION ITEMS — Bring It Back:
This Week:
• Review your social media for potential breaks
• Read Traditions 11 &amp; 12
• Discuss anonymity with your sponsor
This Month:
• Propose Traditions meeting on anonymity
• Suggest technology policy if your group lacks one
• Volunteer for PI committee
This Year:
• Serve without seeking credit
• Place principles before personalities
• Model anonymity for those you sponsor</a:t>
            </a:r>
          </a:p>
        </p:txBody>
      </p:sp>
    </p:spTree>
  </p:cSld>
  <p:clrMapOvr>
    <a:masterClrMapping/>
  </p:clrMapOvr>
  <p:transition spd="med" advClick="1">
    <p:fade thruBlk="1"/>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 Heritage, Humility</dc:title>
  <dc:subject>PptxGenJS Presentation</dc:subject>
  <dc:creator>District 22 NETA Area 65</dc:creator>
  <cp:lastModifiedBy>District 22 NETA Area 65</cp:lastModifiedBy>
  <cp:revision>1</cp:revision>
  <dcterms:created xsi:type="dcterms:W3CDTF">2026-02-10T20:11:11Z</dcterms:created>
  <dcterms:modified xsi:type="dcterms:W3CDTF">2026-02-10T20:11:11Z</dcterms:modified>
</cp:coreProperties>
</file>